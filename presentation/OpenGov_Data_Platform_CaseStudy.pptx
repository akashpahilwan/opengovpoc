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thesis: I build the factory — the governed foundation that lets every domain team ship analytics and AI on top, safely and fast. Today I'll walk foundation -&gt; pipelines -&gt; self-service -&gt; trust &amp; governance, then close with a forward-looking bet on making the platform AI-ready.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role: a platform engineer's customer is other engineers/analysts. The job is to make the right thing the easy thing. Stress federation with guardrails — central team owns the paved path, domains own their data products. These four principles recur on every later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anchor diagram — walk it left to right. Sources land via Fivetran (connectorized SaaS) or a custom Python path on AWS (S3 + Lambda) for telemetry and bespoke APIs. Everything lands in Snowflake RAW, then dbt promotes RAW→STAGING→MARTS, with SANDBOX for exploration. Consumers are BI, AI/ML + LLM/RAG, and reverse ETL. The navy band is the cross-cutting foundation that every layer sits on: IaC, RBAC+masking, observability, CI/CD. Invite the 'why Fivetran here, Lambda there' question — next slide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rule: buy vs build on control, cost curve, and whether a reliable connector exists. Fivetran wins for SaaS — someone else maintains the connector and absorbs API changes. Telemetry is the opposite: huge volume, simple shape, cost at Fivetran's per-row pricing would be brutal, and we want near-real-time via S3 events → Lambda. So we own that path. Be ready to defend the cost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directly answers 'we deploy objects via CI/CD — how does drift fit?'. Separate the two schemas. The SOURCE shape is uncontrolled and can change any time; OUR objects are code and change only via a reviewed, tested PR. RAW uses a VARIANT column so upstream additions need no DDL and never break a load — CI/CD does not run on every upstream change. Drift is detected against a contract and surfaced (additive) or quarantined + alerted (breaking), but never auto-alters a deployed table. To make a new field real, an engineer adds one typed column in dbt via a PR; contracts + tests run in CI as the tripwire. Fivetran is the contrast: it is schema-on-WRITE — it types columns and ALTERs its own RAW tables when the source drifts — so the read-time boundary moves one layer down: dbt sources select only the columns we depend on, and the source contract + tests fail CI before bad data flows downstream. Crisp framing if pushed: schema-on-read is a property of the RAW layer. In the custom path we own RAW, so we land VARIANT and type late; in the Fivetran path Fivetran owns and evolves RAW, so our read-time contract is the dbt source. Either way, a new field enters the deployed model only through a reviewed PR. Use CREATE OR ALTER / additive, idempotent migrations so redeploys are safe on half-failures.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RAW is the system of record — never mutate it. Partition for replay and cheap pruning. The quarantine + load-log pattern gives operability: you can always answer 'did the 09:00 file land, and how many rows did we reject?' This maps one-to-one to the PAGE_VIEWS ingestion I build in Part 2, including the intentional null user_id record that gets quarantined.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Database-per-layer (vs schema-per-layer) gives cleaner grants and isolation, and scales to many domains: RAW holds source schemas, MARTS holds domain schemas. Separate warehouses stop a heavy dbt run from starving BI, and make cost attributable. Prod is only ever changed through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1-to-10-domains question lives here. Answer: don't grow one monolith — split by domain with clear ownership, and use dbt Mesh contracts as the interface between domains. Public models are the API; internals can refactor freely. Incremental vs full-refresh is a volume/cost decision. Mention mart_revops__pipeline (Part 2) would be exposed as a PUBLIC contracted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'factory' payoff and a differentiator vs teams that hand-craft each domain. A single opinionated Terraform module encodes all standards, so every new domain is born compliant. Teams self-serve via PR; the platform team reviews the module, not every request. This is how RBAC actually scales to 10 domains — it's generated, not hand-written.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Snowflake's recommended two-tier model: access roles hold object privileges; functional roles (job-based) inherit access roles; users get functional roles. Why it scales: access roles are reusable primitives, so a 10th domain is a generated set of roles — no bespoke grant spaghetti. Service accounts get their own functional roles (dbt vs human analyst). Row-access policies enforce tenant/region isolation on shared tables. This exact model is what I build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REWRITTEN to what we actually built, not generic SLA talk. Concrete artifacts: the PAGE_VIEWS_LOAD_LOG row-per-run + quarantine table give load observability and a reject rate; dbt tests gate every CI build; COPY_HISTORY / ACCESS_HISTORY / POLICY_REFERENCES are the native audit surfaces (ACCESS_HISTORY answers the ARR probe); per-role warehouses make cost attributable. Full published SLAs (freshness targets, alerting to Slack/on-call) are the honest next step on top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my point of view. The trap everyone is walking into: pointing LLMs at raw warehouses. Without a semantic layer, the model guesses join logic and metric definitions — confidently wrong. Solution: a governed metrics/semantic layer as the single interface for humans AND AI, plus data contracts enforced in CI so definitions can't silently drift. Crucially, Snowflake's masking/row policies apply to the LLM's service account — governance isn't bypassed by AI. This is how OpenGov gets trustworthy AI, not just more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 the panel: this is the same architecture, now real. Each bullet is a deliverable I can open live. Emphasize config-driven + CI-deployed — no click-ops.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layer: ingestion roles are scoped to exactly their landing schema (Fivetran owns its DDL; the ADLS loader is DML-only against a platform-owned contract). Shared STAGING/MARTS are written ONLY by REVOPS_DEVELOPER through the dbt CI job — no human holds that role. Readers read all; analysts read marts; a domain analyst is scoped to that domain's marts (FINANCE_ANALYST in the appendix).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Demo-able: query ACCOUNT.ARR as REVOPS_READER (NULL) vs the mart as REVOPS_ANALYST (real). Stress the tag→policy re-bind is the one non-declarative step, and CI owns it. Audit via ACCESS_HISTORY answers 'who read ARR, when'.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brief's ingestion task, 1:1 — only S3 became ADLS (owner decision, boto3 pattern ported to the Azure Blob SDK). The null-user_id record from the sample payload is exactly what the quarantine catches. Partial-batch: good rows commit, bad rows quarantine, never fail the whole file. Lambda-on-arrival and a second event type (config-driven) are the extension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dbt on Snowflake: the repo runs as a DBT PROJECT object, executed in-account as REVOPS_DEVELOPER — the CI runner never builds models. Incremental vs full-refresh is the volume decision (appendix). mart_revops__pipeline is the mesh public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env story: DEV database hosts BOTH the per-developer sandboxes (target dev) and the QA/preprod integration schemas (target preprod, built on merge to dev). PROD is a separate database, built on merge to main behind a protected GitHub Environment. Auth is key-pair from secrets; secrets are only available post-merge, so a malicious PR can't reach them. A manual full-refresh workflow handles incremental logic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'paved path' for a person. The composite role is the key design: read everything, write only your sandbox, one role active — no secondary-role ambiguity. Onboarding is a two-line PR (demonstrated live with AKASHPAHILWAN, SOURABH_SHINDE, ANUJKUMAR).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thesis: platform-as-product, governed by default, self-service, running end-to-end. Invite deep-dive questions — the appendix has the internals.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answer to 'how does this scale to 10 domains + how do you handle service vs human + audit'. The FINANCE_ANALYST demo is the concrete proof of domain-scoped least privilege — built and verified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'incremental vs full-refresh' probe. The non-obvious operational point: an incremental logic fix requires a full-refresh, which is why there's a dedicated workflow with all/modified scope. Grounded in a real bug we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Hits every CI/CD probe: OIDC/key-pair, protecting secrets from fork PRs, idempotency + half-failure safety, linting/naming. The drift check + sync_config validation are our 'linting'; remote state + post-merge-only secrets are the security spine.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only if the panel digs into VARIANT performance. Key message: VARIANT is not a JSON string column. On write, Snowflake examines paths that occur consistently across rows in a micro-partition and stores each as its own typed, compressed sub-column with min/max metadata — so path projection and partition pruning behave like native columns. It degrades only when keys are wildly inconsistent row-to-row; the fix is promoting hot keys (event_id) to real columns, which we do anyway for dedup. Drift behavior: missing key reads as NULL (never an error), new keys are invisible until a PR selects them, and TRY_CAST + dbt tests turn type drift into a quarantine signal instead of a failed job. 16 MB/value limit is ~4 orders of magnitude above a telemetry event. One-breath close: 'stable RAW DDL, columnarized paths, type once in incremental staging — downstream never touches JSON.'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if asked about bucket layout, hourly cadence, or 'why not Snowpipe'. Hive-style dt=/hr= prefixes sort lexicographically by time, so the watermark is just the last processed prefix; re-scan a trailing 24-48h window so late-arriving files in an old hour still load (COPY's file history dedups the overlap for free). Append-only stance: never 'replace with latest' — RAW keeps every loaded row; dedup and current-state are computed in staging (QUALIFY on event_id). Snowpipe question: for the case-study deliverable I keep a scheduled Python job + COPY, because the assessed logic — schema validation, quarantine, _LOAD_LOG summary — lives in that code, and hourly batch on an XS warehouse is cheap. In production, with files landing continuously, I'd flip to Snowpipe: S3 event notification -&gt; per-file auto-ingest, exactly-once per file, ~1-minute latency, no scheduler or watermark logic at all; validation then moves to a post-load stream/task. Same table, same append-only contract — only the trigger changes. 64-day detail: COPY's per-file load history EXPIRES after 64 days. A backfill touching older files is silently SKIPPED by default (status unknown -&gt; skip, no error — a silent gap, not duplicates). Deliberate old backfill: set LOAD_UNCERTAIN_FILES=TRUE (staging's event_id dedup absorbs any repeats) or FORCE=TRUE into a fresh table + SWAP. This expiry is exactly why the design has three layers — COPY history expires, a watermark can miss late files, so event_id dedup in staging is the backstop that never expires.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BONUS / HIDDEN — pull up for 'can we see what COPY loaded?' or the 64-day follow-up. Three observable layers: (1) COPY INTO itself returns a result set — one row per file with status, rows_parsed, rows_loaded, errors_seen, first_error — and the Part 2 Python job captures exactly this into _LOAD_LOG, which is the brief's load-summary requirement and lives forever. (2) COPY_HISTORY / LOAD_HISTORY: INFORMATION_SCHEMA table functions keep 14 days per table; SNOWFLAKE.ACCOUNT_USAGE views keep 365 days account-wide with up to ~90 min latency — these are audit/observability surfaces. (3) Distinct from both: the internal per-file dedup metadata COPY consults to skip already-loaded files — 64-day lifetime, not directly queryable. Beyond 64 days the load status is 'unknown' and COPY silently SKIPS the file by default (gap, not duplicates); deliberate backfills set LOAD_UNCERTAIN_FILES=TRUE and let staging's event_id dedup absorb repeats, or rebuild with FORCE=TRUE + SWAP. Close with the three-layer line: history expires, watermarks miss late files, staging dedup never expires.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5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1531620"/>
            <a:ext cx="1234440" cy="1234440"/>
          </a:xfrm>
          <a:prstGeom prst="ellipse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154680"/>
            <a:ext cx="9875520" cy="2377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Segoe UI"/>
              </a:rPr>
              <a:t>OpenGov Data Platform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A79FFF"/>
                </a:solidFill>
                <a:latin typeface="Segoe UI"/>
              </a:rPr>
              <a:t>Architecture &amp; Data Foundation  ·  Hands-On Build (RevOps)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C7D3E0"/>
                </a:solidFill>
                <a:latin typeface="Segoe UI"/>
              </a:rPr>
              <a:t>Case Study — Viewpoint</a:t>
            </a:r>
          </a:p>
          <a:p>
            <a:r>
              <a:rPr sz="1500" b="1">
                <a:solidFill>
                  <a:srgbClr val="FFFFFF"/>
                </a:solidFill>
                <a:latin typeface="Segoe UI"/>
              </a:rPr>
              <a:t>Akash Pahilwan  ·  Senior Data Platform Engineer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The platform is a product — I build the factory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The mandate:   </a:t>
            </a:r>
            <a:r>
              <a:rPr sz="1900">
                <a:solidFill>
                  <a:srgbClr val="1B1B33"/>
                </a:solidFill>
                <a:latin typeface="Segoe UI"/>
              </a:rPr>
              <a:t>one governed foundation powering analytics and AI across GTM, Finance, Product, and HR/People.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Federated, not centralized:   </a:t>
            </a:r>
            <a:r>
              <a:rPr sz="1900">
                <a:solidFill>
                  <a:srgbClr val="1B1B33"/>
                </a:solidFill>
                <a:latin typeface="Segoe UI"/>
              </a:rPr>
              <a:t>domain teams build on a paved path with guardrails — self-service, not a ticket queue.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9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900">
                <a:solidFill>
                  <a:srgbClr val="1B1B33"/>
                </a:solidFill>
                <a:latin typeface="Segoe UI"/>
              </a:rPr>
              <a:t>Four principles guide every decision: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Governed by default   </a:t>
            </a:r>
            <a:r>
              <a:rPr sz="1600">
                <a:solidFill>
                  <a:srgbClr val="3E3D5C"/>
                </a:solidFill>
                <a:latin typeface="Segoe UI"/>
              </a:rPr>
              <a:t>— RBAC, masking, and lineage are built in, not bolted on.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Self-service paved path   </a:t>
            </a:r>
            <a:r>
              <a:rPr sz="1600">
                <a:solidFill>
                  <a:srgbClr val="3E3D5C"/>
                </a:solidFill>
                <a:latin typeface="Segoe UI"/>
              </a:rPr>
              <a:t>— golden templates + IaC modules; onboard a domain in a PR.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Observable &amp; SLA-driven   </a:t>
            </a:r>
            <a:r>
              <a:rPr sz="1600">
                <a:solidFill>
                  <a:srgbClr val="3E3D5C"/>
                </a:solidFill>
                <a:latin typeface="Segoe UI"/>
              </a:rPr>
              <a:t>— freshness, quality, and cost measured from day one.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6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600">
                <a:solidFill>
                  <a:srgbClr val="1B1B33"/>
                </a:solidFill>
                <a:latin typeface="Segoe UI"/>
              </a:rPr>
              <a:t>IaC-first &amp; reproducible   </a:t>
            </a:r>
            <a:r>
              <a:rPr sz="1600">
                <a:solidFill>
                  <a:srgbClr val="3E3D5C"/>
                </a:solidFill>
                <a:latin typeface="Segoe UI"/>
              </a:rPr>
              <a:t>— everything is code, tested in CI, rebuildable in any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Trust and speed are not a trade-off — the right guardrails deliver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Target-state architecture: source → dashboard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307592"/>
            <a:ext cx="2057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Salesforce  (GTM)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58568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Marketo  (GTM)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16936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NetSuite  (Finance)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75304"/>
            <a:ext cx="2057400" cy="530352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Telemetry  (Product)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33672"/>
            <a:ext cx="205740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Workday  (HR)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07592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INGESTION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1737360"/>
            <a:ext cx="2286000" cy="960120"/>
          </a:xfrm>
          <a:prstGeom prst="roundRect">
            <a:avLst/>
          </a:prstGeom>
          <a:solidFill>
            <a:srgbClr val="E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Fivetran
managed connectors (SaaS)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3017520"/>
            <a:ext cx="2286000" cy="123444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Custom Python
AWS S3 + Lambda
(telemetry &amp; APIs)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307592"/>
            <a:ext cx="3337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SNOWFLAKE  +  DBT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1600200"/>
            <a:ext cx="3337560" cy="3246120"/>
          </a:xfrm>
          <a:prstGeom prst="roundRect">
            <a:avLst/>
          </a:prstGeom>
          <a:solidFill>
            <a:srgbClr val="ECEBFB"/>
          </a:solidFill>
          <a:ln w="12700">
            <a:solidFill>
              <a:srgbClr val="3B3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42432" y="1819656"/>
            <a:ext cx="2926080" cy="530352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RAW  — source-system schemas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478024"/>
            <a:ext cx="292608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STAGING — cleaned / conformed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42432" y="3136391"/>
            <a:ext cx="2926080" cy="530352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MARTS — domain, business-ready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42432" y="3794760"/>
            <a:ext cx="2926080" cy="530352"/>
          </a:xfrm>
          <a:prstGeom prst="roundRect">
            <a:avLst/>
          </a:prstGeom>
          <a:solidFill>
            <a:srgbClr val="5C5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SANDBOX — analyst scratch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2432" y="4361688"/>
            <a:ext cx="29260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i="1">
                <a:solidFill>
                  <a:srgbClr val="3B34B8"/>
                </a:solidFill>
                <a:latin typeface="Segoe UI"/>
              </a:rPr>
              <a:t>dbt transforms &amp; tests RAW→STAGING→MARTS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07592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CONSUMERS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920240"/>
            <a:ext cx="2468880" cy="65836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BI &amp; Dashboards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788920"/>
            <a:ext cx="2468880" cy="658368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AI / ML  ·  LLM + RAG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9720" y="3657600"/>
            <a:ext cx="2468880" cy="65836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0">
                <a:solidFill>
                  <a:srgbClr val="FFFFFF"/>
                </a:solidFill>
                <a:latin typeface="Segoe UI"/>
              </a:rPr>
              <a:t>Reverse ETL → apps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58775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519379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8897112" y="2880360"/>
            <a:ext cx="320040" cy="274320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5074920"/>
            <a:ext cx="11137392" cy="566928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FOUNDATION   ·   Terraform (IaC)   ·   RBAC + Dynamic Masking   ·   Observability &amp; Data SLAs   ·   CI/CD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Ingestion: buy vs. build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858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782312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Dimension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Fivetran  (buy)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Custom Python on AWS  (build)</a:t>
                      </a:r>
                    </a:p>
                  </a:txBody>
                  <a:tcPr anchor="ctr" marL="109728" marR="73152">
                    <a:solidFill>
                      <a:srgbClr val="1915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Best for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Connectorized SaaS sources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High-volume / bespoke sources, no connector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Examples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Salesforce, NetSuite, Workday, Marketo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Product telemetry, operational APIs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Schema drift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Schema-on-write — auto-evolves its tables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Schema-on-read — VARIANT + contracts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Scheduled batch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Near-real-time — S3 event → Lambda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Low (fully managed)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Full — custom logic &amp; cost tuning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3B34B8"/>
                          </a:solidFill>
                          <a:latin typeface="Segoe UI"/>
                        </a:rPr>
                        <a:t>Cost model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08A2B"/>
                          </a:solidFill>
                          <a:latin typeface="Segoe UI"/>
                        </a:rPr>
                        <a:t>Per-MAR (rows synced)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EA074"/>
                          </a:solidFill>
                          <a:latin typeface="Segoe UI"/>
                        </a:rPr>
                        <a:t>Compute — S3 / Lambda / warehouse</a:t>
                      </a:r>
                    </a:p>
                  </a:txBody>
                  <a:tcPr anchor="ctr" marL="109728" marR="73152">
                    <a:solidFill>
                      <a:srgbClr val="F5F5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Buy the commodity (SaaS connectors), build the differentiator (telemetry scale, cost, custom logic).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Schema drift when objects ship via CI/CD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Two schemas, two rules:   </a:t>
            </a:r>
            <a:r>
              <a:rPr sz="1650">
                <a:solidFill>
                  <a:srgbClr val="1B1B33"/>
                </a:solidFill>
                <a:latin typeface="Segoe UI"/>
              </a:rPr>
              <a:t>the upstream source shape is uncontrolled; our deployed objects change only through reviewed PRs.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Custom path — schema-on-read:   </a:t>
            </a:r>
            <a:r>
              <a:rPr sz="1650">
                <a:solidFill>
                  <a:srgbClr val="1B1B33"/>
                </a:solidFill>
                <a:latin typeface="Segoe UI"/>
              </a:rPr>
              <a:t>RAW lands each record as a VARIANT; a new source field needs zero DDL, zero deploy — typed at read time in dbt.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Detect, don't auto-alter:   </a:t>
            </a:r>
            <a:r>
              <a:rPr sz="1650">
                <a:solidFill>
                  <a:srgbClr val="1B1B33"/>
                </a:solidFill>
                <a:latin typeface="Segoe UI"/>
              </a:rPr>
              <a:t>compare the payload to a registered contract — additive → log + surface; breaking → alert + quarantine. CI/CD never mutates a live table from drift.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Promote a field = a pull request:   </a:t>
            </a:r>
            <a:r>
              <a:rPr sz="1650">
                <a:solidFill>
                  <a:srgbClr val="1B1B33"/>
                </a:solidFill>
                <a:latin typeface="Segoe UI"/>
              </a:rPr>
              <a:t>expose it by adding one typed column in dbt; CI runs contracts + tests; review + merge deploys it.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Fivetran — schema-on-write:   </a:t>
            </a:r>
            <a:r>
              <a:rPr sz="1650">
                <a:solidFill>
                  <a:srgbClr val="1B1B33"/>
                </a:solidFill>
                <a:latin typeface="Segoe UI"/>
              </a:rPr>
              <a:t>it types columns and ALTERs its own RAW tables on drift; the dbt source contract + tests are our CI tripwire one layer down.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drift: land loose, type in a PR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RAW - schema-on-read (stable DDL)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CREATE OR ALTER TABLE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raw.product_events.page_views 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event_id  STRING,   </a:t>
            </a:r>
            <a:r>
              <a:rPr sz="1000">
                <a:solidFill>
                  <a:srgbClr val="8ED6B0"/>
                </a:solidFill>
                <a:latin typeface="Consolas"/>
              </a:rPr>
              <a:t>-- promoted key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loaded_at TIMESTAMP_NTZ,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_filename STRING,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payload   VARIANT   </a:t>
            </a:r>
            <a:r>
              <a:rPr sz="1000">
                <a:solidFill>
                  <a:srgbClr val="8ED6B0"/>
                </a:solidFill>
                <a:latin typeface="Consolas"/>
              </a:rPr>
              <a:t>-- new fields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);                    </a:t>
            </a:r>
            <a:r>
              <a:rPr sz="1000">
                <a:solidFill>
                  <a:srgbClr val="8ED6B0"/>
                </a:solidFill>
                <a:latin typeface="Consolas"/>
              </a:rPr>
              <a:t>-- land here, no PR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STAGING (dbt) - type late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payload:event_id::string  AS event_id,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payload:properties.duration_ms::int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                  AS 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{{ source('product_events',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      'page_views') }}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expose a field = one line, via PR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Upstream drift lands safely in VARIANT; the deployed schema changes only through a reviewed, tested PR — drift is a blocking CI signal, not silent breakage.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Reliable landing in Snowflake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023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Partitioned landing zone:   </a:t>
            </a:r>
            <a:r>
              <a:rPr sz="1800">
                <a:solidFill>
                  <a:srgbClr val="1B1B33"/>
                </a:solidFill>
                <a:latin typeface="Segoe UI"/>
              </a:rPr>
              <a:t>S3 keys as source/table/ingest_date=… — immutable, append-only, replayable.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File formats:   </a:t>
            </a:r>
            <a:r>
              <a:rPr sz="1800">
                <a:solidFill>
                  <a:srgbClr val="1B1B33"/>
                </a:solidFill>
                <a:latin typeface="Segoe UI"/>
              </a:rPr>
              <a:t>JSON → VARIANT for semi-structured; Parquet for large columnar; compressed; bounded file sizes.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Load path:   </a:t>
            </a:r>
            <a:r>
              <a:rPr sz="1800">
                <a:solidFill>
                  <a:srgbClr val="1B1B33"/>
                </a:solidFill>
                <a:latin typeface="Segoe UI"/>
              </a:rPr>
              <a:t>external stage + COPY INTO, or Snowpipe on arrival; capture METADATA$FILENAME for lineage.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Quality gates at load:   </a:t>
            </a:r>
            <a:r>
              <a:rPr sz="1800">
                <a:solidFill>
                  <a:srgbClr val="1B1B33"/>
                </a:solidFill>
                <a:latin typeface="Segoe UI"/>
              </a:rPr>
              <a:t>validate required fields; bad rows → _QUARANTINE table; never fail the whole batch on one row.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Observability:   </a:t>
            </a:r>
            <a:r>
              <a:rPr sz="1800">
                <a:solidFill>
                  <a:srgbClr val="1B1B33"/>
                </a:solidFill>
                <a:latin typeface="Segoe UI"/>
              </a:rPr>
              <a:t>a _LOAD_LOG row per file — records processed, quarantined, load timestamp.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Idempotent:   </a:t>
            </a:r>
            <a:r>
              <a:rPr sz="1800">
                <a:solidFill>
                  <a:srgbClr val="1B1B33"/>
                </a:solidFill>
                <a:latin typeface="Segoe UI"/>
              </a:rPr>
              <a:t>dedup on natural key so re-loading a file is a no-op.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RAW is immutable truth — validate and quarantine at the door, log every 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FOUNDATION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Snowflake layer model &amp; environment strategy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Database-per-layer:   </a:t>
            </a:r>
            <a:r>
              <a:rPr sz="1800">
                <a:solidFill>
                  <a:srgbClr val="1B1B33"/>
                </a:solidFill>
                <a:latin typeface="Segoe UI"/>
              </a:rPr>
              <a:t>RAW → STAGING → MARTS → SANDBOX; clear ownership and blast-radius per layer.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RAW   </a:t>
            </a:r>
            <a:r>
              <a:rPr sz="1500">
                <a:solidFill>
                  <a:srgbClr val="3E3D5C"/>
                </a:solidFill>
                <a:latin typeface="Segoe UI"/>
              </a:rPr>
              <a:t>— loader-owned, immutable, source-system schemas, no business logic.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STAGING   </a:t>
            </a:r>
            <a:r>
              <a:rPr sz="1500">
                <a:solidFill>
                  <a:srgbClr val="3E3D5C"/>
                </a:solidFill>
                <a:latin typeface="Segoe UI"/>
              </a:rPr>
              <a:t>— dbt-owned; typed, renamed, conformed; light transforms.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MARTS   </a:t>
            </a:r>
            <a:r>
              <a:rPr sz="1500">
                <a:solidFill>
                  <a:srgbClr val="3E3D5C"/>
                </a:solidFill>
                <a:latin typeface="Segoe UI"/>
              </a:rPr>
              <a:t>— dbt-owned; business-ready, domain schemas, tested &amp; documented.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SANDBOX   </a:t>
            </a:r>
            <a:r>
              <a:rPr sz="1500">
                <a:solidFill>
                  <a:srgbClr val="3E3D5C"/>
                </a:solidFill>
                <a:latin typeface="Segoe UI"/>
              </a:rPr>
              <a:t>— analyst scratch; safe to break, no downstream dependencies.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Warehouse strategy:   </a:t>
            </a:r>
            <a:r>
              <a:rPr sz="1800">
                <a:solidFill>
                  <a:srgbClr val="1B1B33"/>
                </a:solidFill>
                <a:latin typeface="Segoe UI"/>
              </a:rPr>
              <a:t>separate ingest / transform / BI warehouses; right-sized; auto-suspend for cost.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Environments:   </a:t>
            </a:r>
            <a:r>
              <a:rPr sz="1800">
                <a:solidFill>
                  <a:srgbClr val="1B1B33"/>
                </a:solidFill>
                <a:latin typeface="Segoe UI"/>
              </a:rPr>
              <a:t>dev and prod isolated; promotion through CI, never manual edits in prod.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Layers give ownership and blast-radius control; warehouses give workload &amp; cost isolation.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PIPELINES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dbt for many domains — without a monolith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17320"/>
            <a:ext cx="10972800" cy="4114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Layered models:   </a:t>
            </a:r>
            <a:r>
              <a:rPr sz="1800">
                <a:solidFill>
                  <a:srgbClr val="1B1B33"/>
                </a:solidFill>
                <a:latin typeface="Segoe UI"/>
              </a:rPr>
              <a:t>staging (1:1 with source) → intermediate → marts (by domain).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Organize by domain, not by one giant project:   </a:t>
            </a:r>
            <a:r>
              <a:rPr sz="1800">
                <a:solidFill>
                  <a:srgbClr val="1B1B33"/>
                </a:solidFill>
                <a:latin typeface="Segoe UI"/>
              </a:rPr>
              <a:t>folders + CODEOWNERS per domain (revops, finance, product, hr).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dbt Mesh:   </a:t>
            </a:r>
            <a:r>
              <a:rPr sz="1800">
                <a:solidFill>
                  <a:srgbClr val="1B1B33"/>
                </a:solidFill>
                <a:latin typeface="Segoe UI"/>
              </a:rPr>
              <a:t>each domain exposes PUBLIC models via contracts; consumers depend on stable interfaces, not internals.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Quality is code:   </a:t>
            </a:r>
            <a:r>
              <a:rPr sz="1800">
                <a:solidFill>
                  <a:srgbClr val="1B1B33"/>
                </a:solidFill>
                <a:latin typeface="Segoe UI"/>
              </a:rPr>
              <a:t>generic + singular tests, model contracts, source freshness, exposures for BI/AI lineage.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Incremental vs full-refresh:   </a:t>
            </a:r>
            <a:r>
              <a:rPr sz="1800">
                <a:solidFill>
                  <a:srgbClr val="1B1B33"/>
                </a:solidFill>
                <a:latin typeface="Segoe UI"/>
              </a:rPr>
              <a:t>incremental for high-volume events (telemetry); full-refresh for small dimensions.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Fast CI:   </a:t>
            </a:r>
            <a:r>
              <a:rPr sz="1800">
                <a:solidFill>
                  <a:srgbClr val="1B1B33"/>
                </a:solidFill>
                <a:latin typeface="Segoe UI"/>
              </a:rPr>
              <a:t>slim CI builds only state:modified+ — seconds, not full rebuilds.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Contracts + dbt Mesh let domains move independently while consumers stay safe.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SELF-SERVICE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Self-service: onboard a domain in a pull request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One Terraform module — domain_workspace:   </a:t>
            </a:r>
            <a:r>
              <a:rPr sz="1800">
                <a:solidFill>
                  <a:srgbClr val="1B1B33"/>
                </a:solidFill>
                <a:latin typeface="Segoe UI"/>
              </a:rPr>
              <a:t>input a domain name, get a full, governed workspace.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Provisions   </a:t>
            </a:r>
            <a:r>
              <a:rPr sz="1500">
                <a:solidFill>
                  <a:srgbClr val="3E3D5C"/>
                </a:solidFill>
                <a:latin typeface="Segoe UI"/>
              </a:rPr>
              <a:t>schemas (staging / marts / sandbox), functional + access roles, service accounts, a warehouse.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50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500">
                <a:solidFill>
                  <a:srgbClr val="1B1B33"/>
                </a:solidFill>
                <a:latin typeface="Segoe UI"/>
              </a:rPr>
              <a:t>Applies   </a:t>
            </a:r>
            <a:r>
              <a:rPr sz="1500">
                <a:solidFill>
                  <a:srgbClr val="3E3D5C"/>
                </a:solidFill>
                <a:latin typeface="Segoe UI"/>
              </a:rPr>
              <a:t>default grants, PII tags, cost limits, and naming standards automatically.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Golden-path templates:   </a:t>
            </a:r>
            <a:r>
              <a:rPr sz="1800">
                <a:solidFill>
                  <a:srgbClr val="1B1B33"/>
                </a:solidFill>
                <a:latin typeface="Segoe UI"/>
              </a:rPr>
              <a:t>starter dbt project, connector config, and CI workflow scaffolded for the team.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PR-driven:   </a:t>
            </a:r>
            <a:r>
              <a:rPr sz="1800">
                <a:solidFill>
                  <a:srgbClr val="1B1B33"/>
                </a:solidFill>
                <a:latin typeface="Segoe UI"/>
              </a:rPr>
              <a:t>a domain is onboarded by opening a PR — reviewed, planned, applied by CI. No tickets.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8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800">
                <a:solidFill>
                  <a:srgbClr val="1B1B33"/>
                </a:solidFill>
                <a:latin typeface="Segoe UI"/>
              </a:rPr>
              <a:t>Outcome:   </a:t>
            </a:r>
            <a:r>
              <a:rPr sz="1800">
                <a:solidFill>
                  <a:srgbClr val="1B1B33"/>
                </a:solidFill>
                <a:latin typeface="Segoe UI"/>
              </a:rPr>
              <a:t>consistent and governed by construction; hours, not weeks; the platform team doesn't become the bottleneck.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paved path makes the governed way the easiest way — self-service without losing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RBAC at scale: functional + access roles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463040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37744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OPENGOV_ANALYST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2377440" cy="54864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OPENGOV_DBT_SVC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2377440" cy="548640"/>
          </a:xfrm>
          <a:prstGeom prst="roundRect">
            <a:avLst/>
          </a:prstGeom>
          <a:solidFill>
            <a:srgbClr val="5C5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human  vs 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46304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FUNCTIONAL ROLES (JOB)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65176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REVOPS_ANALYST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60320"/>
            <a:ext cx="2651760" cy="54864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REVOPS_DEVELOPER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291839"/>
            <a:ext cx="2651760" cy="54864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REVOPS_ADMIN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46304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ACCESS ROLES (GRANTS)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82880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AR_MARTS_R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246888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AR_STAGING_R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108960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AR_RAW_RW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749039"/>
            <a:ext cx="2468880" cy="50292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AR_SANDBOX_RW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4630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OBJECTS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82880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MARTS schema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46888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STAGING schema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3108960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RAW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3749039"/>
            <a:ext cx="2103120" cy="50292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SANDBOX schema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1752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17220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9189720" y="2788920"/>
            <a:ext cx="292608" cy="256032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1100" i="1">
                <a:solidFill>
                  <a:srgbClr val="5C5B77"/>
                </a:solidFill>
                <a:latin typeface="Segoe UI"/>
              </a:rPr>
              <a:t>granted to  ►  users     |     inherit  ►  access roles     |     hold privileges on  ►  objects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Access roles are reused building blocks; add a domain = generate a new set — grants never sprawl.  Row-access policies handle multi-tenant isolation.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TRUST &amp;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Observability — what we built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00">
                <a:solidFill>
                  <a:srgbClr val="1B1B33"/>
                </a:solidFill>
                <a:latin typeface="Segoe UI"/>
              </a:rPr>
              <a:t>Load observability — PAGE_VIEWS_LOAD_LOG:   </a:t>
            </a:r>
            <a:r>
              <a:rPr sz="1600">
                <a:solidFill>
                  <a:srgbClr val="1B1B33"/>
                </a:solidFill>
                <a:latin typeface="Segoe UI"/>
              </a:rPr>
              <a:t>one row per ingestion run (file, records loaded, quarantined, timestamp) — an audit trail that outlives COPY's 64-day history.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00">
                <a:solidFill>
                  <a:srgbClr val="1B1B33"/>
                </a:solidFill>
                <a:latin typeface="Segoe UI"/>
              </a:rPr>
              <a:t>Quarantine as a signal:   </a:t>
            </a:r>
            <a:r>
              <a:rPr sz="1600">
                <a:solidFill>
                  <a:srgbClr val="1B1B33"/>
                </a:solidFill>
                <a:latin typeface="Segoe UI"/>
              </a:rPr>
              <a:t>bad rows land in PAGE_VIEWS_QUARANTINE, countable per run (PROD: 9 loaded / 5 quarantined) — a reject-rate you can alert on.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00">
                <a:solidFill>
                  <a:srgbClr val="1B1B33"/>
                </a:solidFill>
                <a:latin typeface="Segoe UI"/>
              </a:rPr>
              <a:t>Quality as code, gated in CI:   </a:t>
            </a:r>
            <a:r>
              <a:rPr sz="1600">
                <a:solidFill>
                  <a:srgbClr val="1B1B33"/>
                </a:solidFill>
                <a:latin typeface="Segoe UI"/>
              </a:rPr>
              <a:t>dbt not_null / unique / accepted_values / relationships run on every preprod &amp; prod build — a red test blocks the deploy.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00">
                <a:solidFill>
                  <a:srgbClr val="1B1B33"/>
                </a:solidFill>
                <a:latin typeface="Segoe UI"/>
              </a:rPr>
              <a:t>Native audit surfaces:   </a:t>
            </a:r>
            <a:r>
              <a:rPr sz="1600">
                <a:solidFill>
                  <a:srgbClr val="1B1B33"/>
                </a:solidFill>
                <a:latin typeface="Segoe UI"/>
              </a:rPr>
              <a:t>COPY_HISTORY (14d) for loads, ACCESS_HISTORY (365d) for 'who read ACCOUNT.ARR, when', POLICY_REFERENCES to prove the mask was attached.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00">
                <a:solidFill>
                  <a:srgbClr val="1B1B33"/>
                </a:solidFill>
                <a:latin typeface="Segoe UI"/>
              </a:rPr>
              <a:t>Cost attribution:   </a:t>
            </a:r>
            <a:r>
              <a:rPr sz="1600">
                <a:solidFill>
                  <a:srgbClr val="1B1B33"/>
                </a:solidFill>
                <a:latin typeface="Segoe UI"/>
              </a:rPr>
              <a:t>per-role warehouses (OG_&lt;ENV&gt;_&lt;ROLE&gt;_WH) + auto-suspend — spend is attributable to reader / analyst / dbt / ingestion, not one shared blob.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00">
                <a:solidFill>
                  <a:srgbClr val="1B1B33"/>
                </a:solidFill>
                <a:latin typeface="Segoe UI"/>
              </a:rPr>
              <a:t>Next step:   </a:t>
            </a:r>
            <a:r>
              <a:rPr sz="1600">
                <a:solidFill>
                  <a:srgbClr val="1B1B33"/>
                </a:solidFill>
                <a:latin typeface="Segoe UI"/>
              </a:rPr>
              <a:t>dbt source freshness + a monitoring model over _LOAD_LOG turn these into published freshness/quality SLAs.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We built the observable primitives — a per-file load log, a quarantine table, CI-gated tests, and native audit views — so 'did the load run and was it clean?' is a query, not a guess.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DIFFERENTIATING PERSPECTIVE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Beyond the brief: making the platform AI-ready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The risk:   </a:t>
            </a:r>
            <a:r>
              <a:rPr sz="1700">
                <a:solidFill>
                  <a:srgbClr val="1B1B33"/>
                </a:solidFill>
                <a:latin typeface="Segoe UI"/>
              </a:rPr>
              <a:t>AI/LLM consumers will happily query ungoverned data and return confident, wrong answers.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Governed semantic / metrics layer:   </a:t>
            </a:r>
            <a:r>
              <a:rPr sz="1700">
                <a:solidFill>
                  <a:srgbClr val="1B1B33"/>
                </a:solidFill>
                <a:latin typeface="Segoe UI"/>
              </a:rPr>
              <a:t>define metrics once (revenue, pipeline, churn) → one source of truth for BI, notebooks, and LLMs.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Data contracts:   </a:t>
            </a:r>
            <a:r>
              <a:rPr sz="1700">
                <a:solidFill>
                  <a:srgbClr val="1B1B33"/>
                </a:solidFill>
                <a:latin typeface="Segoe UI"/>
              </a:rPr>
              <a:t>producers commit to schema + semantics; breaking changes are blocked in CI — trust shifts left.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AI consumes products, not raw:   </a:t>
            </a:r>
            <a:r>
              <a:rPr sz="1700">
                <a:solidFill>
                  <a:srgbClr val="1B1B33"/>
                </a:solidFill>
                <a:latin typeface="Segoe UI"/>
              </a:rPr>
              <a:t>RAG and agents read documented, contracted marts + the semantic layer — never RAW.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Governance already travels — true in this build:   </a:t>
            </a:r>
            <a:r>
              <a:rPr sz="1700">
                <a:solidFill>
                  <a:srgbClr val="1B1B33"/>
                </a:solidFill>
                <a:latin typeface="Segoe UI"/>
              </a:rPr>
              <a:t>our tag-masking + RBAC bind to the SESSION, not the tool. An LLM service account holding REVOPS_READER gets NULL for ARR today, exactly like a human reader — there is no AI bypass to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Trustworthy AI and trustworthy analytics come from the same governed foundation — the semantic layer is the interface.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5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94360"/>
            <a:ext cx="640080" cy="640080"/>
          </a:xfrm>
          <a:prstGeom prst="ellipse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468880"/>
            <a:ext cx="10241280" cy="2194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Part 2 — Hands-On Build: RevOps, built &amp; running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A79FFF"/>
                </a:solidFill>
                <a:latin typeface="Segoe UI"/>
              </a:rPr>
              <a:t>The paved path, made real: RBAC + masking · ADLS ingestion · dbt marts · CI/CD — all live in Snowflake.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RevOps onboarded — the four deliverables, live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RBAC &amp; security:   </a:t>
            </a:r>
            <a:r>
              <a:rPr sz="1700">
                <a:solidFill>
                  <a:srgbClr val="1B1B33"/>
                </a:solidFill>
                <a:latin typeface="Segoe UI"/>
              </a:rPr>
              <a:t>6 functional + per-schema access roles, per-developer composite roles, tag-based ARR/amount masking — Terraform, config-driven.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Ingestion:   </a:t>
            </a:r>
            <a:r>
              <a:rPr sz="1700">
                <a:solidFill>
                  <a:srgbClr val="1B1B33"/>
                </a:solidFill>
                <a:latin typeface="Segoe UI"/>
              </a:rPr>
              <a:t>ingest_page_views.py — ADLS → RAW with validate / quarantine / load-log / idempotency / backfill (the intentional null user_id is quarantined).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dbt:   </a:t>
            </a:r>
            <a:r>
              <a:rPr sz="1700">
                <a:solidFill>
                  <a:srgbClr val="1B1B33"/>
                </a:solidFill>
                <a:latin typeface="Segoe UI"/>
              </a:rPr>
              <a:t>incremental+deduped staging → RevOps pipeline mart; tests, clean_string macro, mesh public model — native dbt on Snowflake.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CI/CD:   </a:t>
            </a:r>
            <a:r>
              <a:rPr sz="1700">
                <a:solidFill>
                  <a:srgbClr val="1B1B33"/>
                </a:solidFill>
                <a:latin typeface="Segoe UI"/>
              </a:rPr>
              <a:t>infra (Terraform, remote state) and dbt both deploy through GitHub Actions to DEV &amp; PROD — nothing applied by hand.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Two live databases:   </a:t>
            </a:r>
            <a:r>
              <a:rPr sz="1700">
                <a:solidFill>
                  <a:srgbClr val="1B1B33"/>
                </a:solidFill>
                <a:latin typeface="Segoe UI"/>
              </a:rPr>
              <a:t>OG_DEV_DB (dev sandboxes + preprod) and OG_PROD_DB — both seeded, governed, and built end-to-end.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Everything in Part 1's architecture is running in the demo account — provisioned and promoted entirely through code.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RBAC as built — who can touch each layer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261872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LAYER / SCHEMA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834640" cy="566928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SALESFORCE_RAW_FIVETRAN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2834640" cy="566928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PRODUCT_EVENTS_RAW_ADLS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2834640" cy="56692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STAGING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77639"/>
            <a:ext cx="2834640" cy="566928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MARTS_REVOPS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2834640" cy="566928"/>
          </a:xfrm>
          <a:prstGeom prst="roundRect">
            <a:avLst/>
          </a:prstGeom>
          <a:solidFill>
            <a:srgbClr val="5C5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>
                <a:solidFill>
                  <a:srgbClr val="FFFFFF"/>
                </a:solidFill>
                <a:latin typeface="Segoe UI"/>
              </a:rPr>
              <a:t>MARTS_&lt;domain&gt;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261872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WRITE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1645920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REVOPS_INGESTION_FIVETRAN  (owns DDL)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2423160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REVOPS_INGESTION_ADLS  (DML only — contract is deployer-owned)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3200400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REVOPS_DEVELOPER  (dbt CI, all envs)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3977639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REVOPS_DEVELOPER  (dbt CI, all envs)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4754880"/>
            <a:ext cx="3931920" cy="566928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FFFFFF"/>
                </a:solidFill>
                <a:latin typeface="Segoe UI"/>
              </a:rPr>
              <a:t>domain developer role (dbt 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261872"/>
            <a:ext cx="3429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3B34B8"/>
                </a:solidFill>
                <a:latin typeface="Segoe UI"/>
              </a:rPr>
              <a:t>READ ACCESS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645920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REVOPS_READER · ADMIN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423160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REVOPS_READER · ADMIN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00400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REVOPS_READER · DEVELOPER · 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77639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REVOPS_ANALYST · READER · ADMIN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4754880"/>
            <a:ext cx="3429000" cy="566928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B1B33"/>
                </a:solidFill>
                <a:latin typeface="Segoe UI"/>
              </a:rPr>
              <a:t>domain analyst (that domain's marts only)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Access roles hold object grants; functional roles compose them; humans hold a composite/functional role — writes to shared+PROD happen only via the dbt CI service role.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ARR / amount masking — who sees what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Tag-based:   </a:t>
            </a:r>
            <a:r>
              <a:rPr sz="1650">
                <a:solidFill>
                  <a:srgbClr val="1B1B33"/>
                </a:solidFill>
                <a:latin typeface="Segoe UI"/>
              </a:rPr>
              <a:t>GOVERNANCE.PII_FINANCIAL tag → MASK_PII_FINANCIAL_NUMBER policy; classify ACCOUNT.ARR + OPPORTUNITY.AMOUNT once, protection follows the tag.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Exempt (see real values):   </a:t>
            </a:r>
            <a:r>
              <a:rPr sz="1650">
                <a:solidFill>
                  <a:srgbClr val="1B1B33"/>
                </a:solidFill>
                <a:latin typeface="Segoe UI"/>
              </a:rPr>
              <a:t>REVOPS_ADMIN, REVOPS_DEVELOPER, REVOPS_ANALYST — NOT REVOPS_READER.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So, in practice: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35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350">
                <a:solidFill>
                  <a:srgbClr val="1B1B33"/>
                </a:solidFill>
                <a:latin typeface="Segoe UI"/>
              </a:rPr>
              <a:t>Analyst   </a:t>
            </a:r>
            <a:r>
              <a:rPr sz="1350">
                <a:solidFill>
                  <a:srgbClr val="3E3D5C"/>
                </a:solidFill>
                <a:latin typeface="Segoe UI"/>
              </a:rPr>
              <a:t>— sees amount in the MART (exempt); financials are the point of their job.</a:t>
            </a:r>
          </a:p>
          <a:p>
            <a:pPr>
              <a:lnSpc>
                <a:spcPct val="107000"/>
              </a:lnSpc>
              <a:spcAft>
                <a:spcPts val="300"/>
              </a:spcAft>
            </a:pPr>
            <a:r>
              <a:rPr sz="1350">
                <a:solidFill>
                  <a:srgbClr val="5C5B77"/>
                </a:solidFill>
                <a:latin typeface="Segoe UI"/>
              </a:rPr>
              <a:t>        –  </a:t>
            </a:r>
            <a:r>
              <a:rPr b="1" sz="1350">
                <a:solidFill>
                  <a:srgbClr val="1B1B33"/>
                </a:solidFill>
                <a:latin typeface="Segoe UI"/>
              </a:rPr>
              <a:t>Reader / a developer in their dev sandbox   </a:t>
            </a:r>
            <a:r>
              <a:rPr sz="1350">
                <a:solidFill>
                  <a:srgbClr val="3E3D5C"/>
                </a:solidFill>
                <a:latin typeface="Segoe UI"/>
              </a:rPr>
              <a:t>— sees NULL in RAW/STAGING (readers aren't exempt).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operational gotcha:   </a:t>
            </a:r>
            <a:r>
              <a:rPr sz="1650">
                <a:solidFill>
                  <a:srgbClr val="1B1B33"/>
                </a:solidFill>
                <a:latin typeface="Segoe UI"/>
              </a:rPr>
              <a:t>the tag→policy binding is not a Terraform resource — every apply drops it, so apply_pii_tags.py re-binds it right after apply (automated in CI).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Classify a column, not a table — masking scales to every domain through tags, and CI re-establishes the binding on every deploy.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Telemetry ingestion — ADLS → RAW, built to the brief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Source:   </a:t>
            </a:r>
            <a:r>
              <a:rPr sz="1650">
                <a:solidFill>
                  <a:srgbClr val="1B1B33"/>
                </a:solidFill>
                <a:latin typeface="Segoe UI"/>
              </a:rPr>
              <a:t>hourly JSON in ADLS (og-telemetry/&lt;env&gt;/product_events/page_views/dt=/hr=/) — read via a keyless external stage (storage integration, no secrets).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Validate &amp; quarantine:   </a:t>
            </a:r>
            <a:r>
              <a:rPr sz="1650">
                <a:solidFill>
                  <a:srgbClr val="1B1B33"/>
                </a:solidFill>
                <a:latin typeface="Segoe UI"/>
              </a:rPr>
              <a:t>rows missing event_id / account_id / event_timestamp → PAGE_VIEWS_QUARANTINE; the good rows land in append-only RAW.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Load log:   </a:t>
            </a:r>
            <a:r>
              <a:rPr sz="1650">
                <a:solidFill>
                  <a:srgbClr val="1B1B33"/>
                </a:solidFill>
                <a:latin typeface="Segoe UI"/>
              </a:rPr>
              <a:t>one PAGE_VIEWS_LOAD_LOG row per file — file, records loaded, quarantined, timestamp — an audit trail that outlives COPY history.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Idempotent + backfillable:   </a:t>
            </a:r>
            <a:r>
              <a:rPr sz="1650">
                <a:solidFill>
                  <a:srgbClr val="1B1B33"/>
                </a:solidFill>
                <a:latin typeface="Segoe UI"/>
              </a:rPr>
              <a:t>per-file dedup on re-run; --path/--backfill for a folder or the full set; event_id dedup deferred to dbt staging.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As run:   </a:t>
            </a:r>
            <a:r>
              <a:rPr sz="1650">
                <a:solidFill>
                  <a:srgbClr val="1B1B33"/>
                </a:solidFill>
                <a:latin typeface="Segoe UI"/>
              </a:rPr>
              <a:t>PROD load = 9 rows loaded, 5 quarantined; staging dedup collapsed to 5 unique 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RAW is immutable truth: validate at the door, quarantine the bad, log every load — and make re-runs safe.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dbt — staging → RevOps mart, native on Snowflake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Staging (incremental, merge):   </a:t>
            </a:r>
            <a:r>
              <a:rPr sz="1650">
                <a:solidFill>
                  <a:srgbClr val="1B1B33"/>
                </a:solidFill>
                <a:latin typeface="Segoe UI"/>
              </a:rPr>
              <a:t>typed + snake_case; CDC (_fivetran_synced / _loaded_at); latest-per-PK via QUALIFY; clean_string on stage_name; soft-deletes dropped.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Mart — mart_revops__pipeline:   </a:t>
            </a:r>
            <a:r>
              <a:rPr sz="1650">
                <a:solidFill>
                  <a:srgbClr val="1B1B33"/>
                </a:solidFill>
                <a:latin typeface="Segoe UI"/>
              </a:rPr>
              <a:t>opportunities × accounts + days_to_close, pipeline_stage_bucket, weighted_amount. Public mesh model a spoke consumes.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Tests &amp; contracts:   </a:t>
            </a:r>
            <a:r>
              <a:rPr sz="1650">
                <a:solidFill>
                  <a:srgbClr val="1B1B33"/>
                </a:solidFill>
                <a:latin typeface="Segoe UI"/>
              </a:rPr>
              <a:t>not_null + unique PKs, accepted_values on stage_name, relationships opp→account, sources.yml — all green.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Three targets:   </a:t>
            </a:r>
            <a:r>
              <a:rPr sz="1650">
                <a:solidFill>
                  <a:srgbClr val="1B1B33"/>
                </a:solidFill>
                <a:latin typeface="Segoe UI"/>
              </a:rPr>
              <a:t>dev → your sandbox (schema__model) · preprod → OG_DEV_DB real schemas · prod → OG_PROD_DB (alias naming).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Governance travels:   </a:t>
            </a:r>
            <a:r>
              <a:rPr sz="1650">
                <a:solidFill>
                  <a:srgbClr val="1B1B33"/>
                </a:solidFill>
                <a:latin typeface="Segoe UI"/>
              </a:rPr>
              <a:t>an apply_column_tags post-hook carries the PII_FINANCIAL tag onto built columns in preprod/prod.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One project, layered + contracted — incremental where volume demands it, mesh-public where consumers depend on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CI/CD — how code becomes DEV, QA &amp; PROD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32588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4A3FFF"/>
                </a:solidFill>
                <a:latin typeface="Segoe UI"/>
              </a:rPr>
              <a:t>DBT (MODELS)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331720" cy="86868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feature/&lt;you&gt;
→ target dev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26080" y="196596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91840" y="1645920"/>
            <a:ext cx="2743200" cy="868680"/>
          </a:xfrm>
          <a:prstGeom prst="roundRect">
            <a:avLst/>
          </a:prstGeom>
          <a:solidFill>
            <a:srgbClr val="2EA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your SANDBOX
REVOPS_DEV_&lt;NAME&gt;
(OG_DEV_DB)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26480" y="196596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1645920"/>
            <a:ext cx="2377440" cy="86868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push dev
→ target preprod
(OG_DEV_DB real schemas)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61120" y="196596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26880" y="1645920"/>
            <a:ext cx="2331720" cy="86868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push main
→ target prod
(OG_PROD_DB)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80360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4A3FFF"/>
                </a:solidFill>
                <a:latin typeface="Segoe UI"/>
              </a:rPr>
              <a:t>INFRA (RBAC/GOV)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00400"/>
            <a:ext cx="2743200" cy="868680"/>
          </a:xfrm>
          <a:prstGeom prst="roundRect">
            <a:avLst/>
          </a:prstGeom>
          <a:solidFill>
            <a:srgbClr val="2A2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PR to main
→ plan + drift check
(posted as PR comment)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37560" y="352044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03320" y="3200400"/>
            <a:ext cx="3108960" cy="868680"/>
          </a:xfrm>
          <a:prstGeom prst="roundRect">
            <a:avLst/>
          </a:prstGeom>
          <a:solidFill>
            <a:srgbClr val="3B3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merge main
→ terraform apply
+ apply_pii_tags (per env)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903720" y="3520440"/>
            <a:ext cx="274320" cy="219456"/>
          </a:xfrm>
          <a:prstGeom prst="rightArrow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69480" y="3200400"/>
            <a:ext cx="4389120" cy="86868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Snowflake OG_DEV_DB + OG_PROD_DB
roles · grants · masking · stages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6280"/>
            <a:ext cx="11155680" cy="9144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1078992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5000"/>
              </a:lnSpc>
            </a:pPr>
            <a:r>
              <a:rPr b="1" sz="1100">
                <a:solidFill>
                  <a:srgbClr val="3B34B8"/>
                </a:solidFill>
                <a:latin typeface="Segoe UI"/>
              </a:rPr>
              <a:t>DEV:  </a:t>
            </a:r>
            <a:r>
              <a:rPr sz="1100">
                <a:solidFill>
                  <a:srgbClr val="1B1B33"/>
                </a:solidFill>
                <a:latin typeface="Segoe UI"/>
              </a:rPr>
              <a:t>per-developer sandboxes in OG_DEV_DB — build &amp; iterate freely</a:t>
            </a:r>
          </a:p>
          <a:p>
            <a:pPr>
              <a:lnSpc>
                <a:spcPct val="105000"/>
              </a:lnSpc>
            </a:pPr>
            <a:r>
              <a:rPr b="1" sz="1100">
                <a:solidFill>
                  <a:srgbClr val="3B34B8"/>
                </a:solidFill>
                <a:latin typeface="Segoe UI"/>
              </a:rPr>
              <a:t>QA / preprod:  </a:t>
            </a:r>
            <a:r>
              <a:rPr sz="1100">
                <a:solidFill>
                  <a:srgbClr val="1B1B33"/>
                </a:solidFill>
                <a:latin typeface="Segoe UI"/>
              </a:rPr>
              <a:t>real STAGING/MARTS in OG_DEV_DB — integration build on merge to dev</a:t>
            </a:r>
          </a:p>
          <a:p>
            <a:pPr>
              <a:lnSpc>
                <a:spcPct val="105000"/>
              </a:lnSpc>
            </a:pPr>
            <a:r>
              <a:rPr b="1" sz="1100">
                <a:solidFill>
                  <a:srgbClr val="3B34B8"/>
                </a:solidFill>
                <a:latin typeface="Segoe UI"/>
              </a:rPr>
              <a:t>PROD:  </a:t>
            </a:r>
            <a:r>
              <a:rPr sz="1100">
                <a:solidFill>
                  <a:srgbClr val="1B1B33"/>
                </a:solidFill>
                <a:latin typeface="Segoe UI"/>
              </a:rPr>
              <a:t>OG_PROD_DB — build on merge to main; protected environment +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HANDS-ON BUILD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Developer self-service, safely isolated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One composite role per developer:   </a:t>
            </a:r>
            <a:r>
              <a:rPr sz="1650">
                <a:solidFill>
                  <a:srgbClr val="1B1B33"/>
                </a:solidFill>
                <a:latin typeface="Segoe UI"/>
              </a:rPr>
              <a:t>DEV_&lt;NAME&gt; = REVOPS_READER (read all) + write to only their own sandbox REVOPS_DEV_&lt;NAME&gt;.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Single active role:   </a:t>
            </a:r>
            <a:r>
              <a:rPr sz="1650">
                <a:solidFill>
                  <a:srgbClr val="1B1B33"/>
                </a:solidFill>
                <a:latin typeface="Segoe UI"/>
              </a:rPr>
              <a:t>it's their default role and secondary roles are OFF — every session is exactly one role, so masking checks are unambiguous.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Two developers never collide:   </a:t>
            </a:r>
            <a:r>
              <a:rPr sz="1650">
                <a:solidFill>
                  <a:srgbClr val="1B1B33"/>
                </a:solidFill>
                <a:latin typeface="Segoe UI"/>
              </a:rPr>
              <a:t>separate sandboxes, &lt;schema&gt;__&lt;model&gt; naming; can't touch shared STAGING/MARTS or anything in PROD.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Local or Snowsight:   </a:t>
            </a:r>
            <a:r>
              <a:rPr sz="1650">
                <a:solidFill>
                  <a:srgbClr val="1B1B33"/>
                </a:solidFill>
                <a:latin typeface="Segoe UI"/>
              </a:rPr>
              <a:t>dbt-core locally (username+password, build --target dev) or a Snowsight Workspace on a feature branch.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Onboard = two CSV rows:   </a:t>
            </a:r>
            <a:r>
              <a:rPr sz="1650">
                <a:solidFill>
                  <a:srgbClr val="1B1B33"/>
                </a:solidFill>
                <a:latin typeface="Segoe UI"/>
              </a:rPr>
              <a:t>add to environments.csv developers + human_users.csv → composite role + sandbox generated by Terraform in a PR.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Developers move fast in their own sandbox; the platform guarantees they can't break shared or production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WRAP-UP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Close: one governed foundation, analytics &amp; AI on top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Foundation → pipelines → self-service → trust:   </a:t>
            </a:r>
            <a:r>
              <a:rPr sz="1700">
                <a:solidFill>
                  <a:srgbClr val="1B1B33"/>
                </a:solidFill>
                <a:latin typeface="Segoe UI"/>
              </a:rPr>
              <a:t>one IaC-first, governed platform — and it's running, not just drawn.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Buy the commodity, build the differentiator:   </a:t>
            </a:r>
            <a:r>
              <a:rPr sz="1700">
                <a:solidFill>
                  <a:srgbClr val="1B1B33"/>
                </a:solidFill>
                <a:latin typeface="Segoe UI"/>
              </a:rPr>
              <a:t>Fivetran for SaaS; custom Python for telemetry; native dbt for transforms.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Guardrails as paved paths:   </a:t>
            </a:r>
            <a:r>
              <a:rPr sz="1700">
                <a:solidFill>
                  <a:srgbClr val="1B1B33"/>
                </a:solidFill>
                <a:latin typeface="Segoe UI"/>
              </a:rPr>
              <a:t>config-driven RBAC + tag masking, per-developer sandboxes, CI/CD to DEV &amp; PROD.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Tradeoffs I'll defend:   </a:t>
            </a:r>
            <a:r>
              <a:rPr sz="1700">
                <a:solidFill>
                  <a:srgbClr val="1B1B33"/>
                </a:solidFill>
                <a:latin typeface="Segoe UI"/>
              </a:rPr>
              <a:t>buy vs build · incremental vs full-refresh · centralized vs federated (dbt Mesh) · key-pair/OIDC secrets.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700">
                <a:solidFill>
                  <a:srgbClr val="4A3FFF"/>
                </a:solidFill>
                <a:latin typeface="Segoe UI"/>
              </a:rPr>
              <a:t>▸  </a:t>
            </a:r>
            <a:r>
              <a:rPr b="1" sz="1700">
                <a:solidFill>
                  <a:srgbClr val="1B1B33"/>
                </a:solidFill>
                <a:latin typeface="Segoe UI"/>
              </a:rPr>
              <a:t>Scales by construction:   </a:t>
            </a:r>
            <a:r>
              <a:rPr sz="1700">
                <a:solidFill>
                  <a:srgbClr val="1B1B33"/>
                </a:solidFill>
                <a:latin typeface="Segoe UI"/>
              </a:rPr>
              <a:t>a 10th domain is the same CSV rows + module — roles, masking, and CI all generated.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measure of the platform: how fast a federated team ships something trustworthy on top of it — safely, and on their 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5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94360"/>
            <a:ext cx="640080" cy="640080"/>
          </a:xfrm>
          <a:prstGeom prst="ellipse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468880"/>
            <a:ext cx="10241280" cy="2194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Technical Appendix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A79FFF"/>
                </a:solidFill>
                <a:latin typeface="Segoe UI"/>
              </a:rPr>
              <a:t>Deep dives for the panel's probes — pull these up on demand.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GOVERNANCE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Scaling RBAC to 10 domains — least privilege by construction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Access roles are reusable primitives:   </a:t>
            </a:r>
            <a:r>
              <a:rPr sz="1650">
                <a:solidFill>
                  <a:srgbClr val="1B1B33"/>
                </a:solidFill>
                <a:latin typeface="Segoe UI"/>
              </a:rPr>
              <a:t>AR_&lt;ENV&gt;_&lt;SCHEMA&gt;_R/W hold the grants; a new domain = a generated set, never bespoke grant spaghetti.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Domain-scoped analysts:   </a:t>
            </a:r>
            <a:r>
              <a:rPr sz="1650">
                <a:solidFill>
                  <a:srgbClr val="1B1B33"/>
                </a:solidFill>
                <a:latin typeface="Segoe UI"/>
              </a:rPr>
              <a:t>REVOPS_ANALYST reads MARTS_* (all marts); FINANCE_ANALYST reads MARTS_FINANCE ONLY — an exact-schema grant, not the wildcard.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Proven live:   </a:t>
            </a:r>
            <a:r>
              <a:rPr sz="1650">
                <a:solidFill>
                  <a:srgbClr val="1B1B33"/>
                </a:solidFill>
                <a:latin typeface="Segoe UI"/>
              </a:rPr>
              <a:t>FINANCE_ANALYST sees only MARTS_FINANCE and is DENIED MARTS_REVOPS; the RevOps analyst still sees both.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Service vs human:   </a:t>
            </a:r>
            <a:r>
              <a:rPr sz="1650">
                <a:solidFill>
                  <a:srgbClr val="1B1B33"/>
                </a:solidFill>
                <a:latin typeface="Segoe UI"/>
              </a:rPr>
              <a:t>REVOPS_DEVELOPER (write, incl PROD) is service-only — sync_config.py rejects granting it to a human; humans get read + their own sandbox.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Audit:   </a:t>
            </a:r>
            <a:r>
              <a:rPr sz="1650">
                <a:solidFill>
                  <a:srgbClr val="1B1B33"/>
                </a:solidFill>
                <a:latin typeface="Segoe UI"/>
              </a:rPr>
              <a:t>ACCESS_HISTORY answers 'who read ACCOUNT.ARR and when'; POLICY_REFERENCES proves the mask was attached at read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Least privilege scales because it's generated from config — each domain analyst is confined to that domain's marts by an exact grant.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DBT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Incremental vs full-refresh — and fixing incrementals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Incremental (merge):   </a:t>
            </a:r>
            <a:r>
              <a:rPr sz="1650">
                <a:solidFill>
                  <a:srgbClr val="1B1B33"/>
                </a:solidFill>
                <a:latin typeface="Segoe UI"/>
              </a:rPr>
              <a:t>high-volume/append sources (telemetry, CDC tables) — build only rows since the last watermark; cheap, fast.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Full-refresh:   </a:t>
            </a:r>
            <a:r>
              <a:rPr sz="1650">
                <a:solidFill>
                  <a:srgbClr val="1B1B33"/>
                </a:solidFill>
                <a:latin typeface="Segoe UI"/>
              </a:rPr>
              <a:t>small dimensions, or after a logic change — rebuild from scratch.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trap:   </a:t>
            </a:r>
            <a:r>
              <a:rPr sz="1650">
                <a:solidFill>
                  <a:srgbClr val="1B1B33"/>
                </a:solidFill>
                <a:latin typeface="Segoe UI"/>
              </a:rPr>
              <a:t>a normal build only merges NEW rows, so a logic fix to an incremental model never re-cleans already-materialized rows.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fix, as a button:   </a:t>
            </a:r>
            <a:r>
              <a:rPr sz="1650">
                <a:solidFill>
                  <a:srgbClr val="1B1B33"/>
                </a:solidFill>
                <a:latin typeface="Segoe UI"/>
              </a:rPr>
              <a:t>a manual full-refresh workflow — branch (dev→preprod / main→prod) × scope (all | only models changed in the last commit).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Real example:   </a:t>
            </a:r>
            <a:r>
              <a:rPr sz="1650">
                <a:solidFill>
                  <a:srgbClr val="1B1B33"/>
                </a:solidFill>
                <a:latin typeface="Segoe UI"/>
              </a:rPr>
              <a:t>the page_views user_id VARIANT-null fix needed a full-refresh to purge 2 historical bad rows from PROD.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Pick incremental for volume, full-refresh for correctness — and make the full-refresh a one-click, scoped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DELIVERY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CI/CD security, idempotency &amp; standards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No static secrets:   </a:t>
            </a:r>
            <a:r>
              <a:rPr sz="1650">
                <a:solidFill>
                  <a:srgbClr val="1B1B33"/>
                </a:solidFill>
                <a:latin typeface="Segoe UI"/>
              </a:rPr>
              <a:t>key-pair (JWT) for Snowflake, storage key for the TF backend — all GitHub secrets; the private key touches only a temp file in the job.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Malicious-PR safe:   </a:t>
            </a:r>
            <a:r>
              <a:rPr sz="1650">
                <a:solidFill>
                  <a:srgbClr val="1B1B33"/>
                </a:solidFill>
                <a:latin typeface="Segoe UI"/>
              </a:rPr>
              <a:t>secrets are exposed only to post-merge apply jobs; PR-triggered plan never sees them; PROD gated by a protected Environment + approval.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Remote state:   </a:t>
            </a:r>
            <a:r>
              <a:rPr sz="1650">
                <a:solidFill>
                  <a:srgbClr val="1B1B33"/>
                </a:solidFill>
                <a:latin typeface="Segoe UI"/>
              </a:rPr>
              <a:t>Terraform state in an azurerm backend (ADLS), so CI and local share one source of truth — no drift, no local state to lose.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Idempotent &amp; half-failure safe:   </a:t>
            </a:r>
            <a:r>
              <a:rPr sz="1650">
                <a:solidFill>
                  <a:srgbClr val="1B1B33"/>
                </a:solidFill>
                <a:latin typeface="Segoe UI"/>
              </a:rPr>
              <a:t>config→JSON→for_each reruns cleanly; a drift check fails the PR if CSVs and generated JSON disagree; apply_pii_tags skips absent objects.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Standards enforced:   </a:t>
            </a:r>
            <a:r>
              <a:rPr sz="1650">
                <a:solidFill>
                  <a:srgbClr val="1B1B33"/>
                </a:solidFill>
                <a:latin typeface="Segoe UI"/>
              </a:rPr>
              <a:t>sync_config.py validates every reference (unknown role/schema/env) and rejects a service-only role reaching a human — the linter is the reviewer.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The pipeline is the control plane: reviewed, idempotent, secret-safe, and standards-enforcing — provisioning you can trust.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INTERNALS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Why VARIANT stays fast at scale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Not a text blob:   </a:t>
            </a:r>
            <a:r>
              <a:rPr sz="1650">
                <a:solidFill>
                  <a:srgbClr val="1B1B33"/>
                </a:solidFill>
                <a:latin typeface="Segoe UI"/>
              </a:rPr>
              <a:t>each micro-partition shreds consistent JSON paths into typed, compressed sub-columns with min/max stats — native-column treatment.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Projection works:   </a:t>
            </a:r>
            <a:r>
              <a:rPr sz="1650">
                <a:solidFill>
                  <a:srgbClr val="1B1B33"/>
                </a:solidFill>
                <a:latin typeface="Segoe UI"/>
              </a:rPr>
              <a:t>selecting payload:properties.duration_ms reads only that sub-column off disk — never the whole document.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Pruning works:   </a:t>
            </a:r>
            <a:r>
              <a:rPr sz="1650">
                <a:solidFill>
                  <a:srgbClr val="1B1B33"/>
                </a:solidFill>
                <a:latin typeface="Segoe UI"/>
              </a:rPr>
              <a:t>filters on extracted paths skip whole micro-partitions via metadata — scan cost tracks the answer, not the table.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When it degrades:   </a:t>
            </a:r>
            <a:r>
              <a:rPr sz="1650">
                <a:solidFill>
                  <a:srgbClr val="1B1B33"/>
                </a:solidFill>
                <a:latin typeface="Segoe UI"/>
              </a:rPr>
              <a:t>wildly heterogeneous keys defeat sub-columnarization — promote hot filter / dedup keys to real columns (event_id).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Discipline &amp; limits:   </a:t>
            </a:r>
            <a:r>
              <a:rPr sz="1650">
                <a:solidFill>
                  <a:srgbClr val="1B1B33"/>
                </a:solidFill>
                <a:latin typeface="Segoe UI"/>
              </a:rPr>
              <a:t>16 MB per value (events are KBs); missing key → NULL, never an error; TRY_CAST + tests absorb type drift; marts never read payload.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VARIANT internals — sketch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inside one micro-partition,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payload VARIANT is stored as: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:event_id           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:account_id         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:properties.duration_ms -&gt; sub-col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...each with min/max stats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projection: reads ONE sub-column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payload:properties.duration_ms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raw.product_events.page_views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pruning: skips micro-partitions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WHERE payload:event_timestamp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::timestamp_ntz &gt;= '2026-07-01'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drift-safe typing in staging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TRY_CAST(payload:properties.duration_ms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  AS INT)  </a:t>
            </a:r>
            <a:r>
              <a:rPr sz="1000">
                <a:solidFill>
                  <a:srgbClr val="8ED6B0"/>
                </a:solidFill>
                <a:latin typeface="Consolas"/>
              </a:rPr>
              <a:t>-- bad value -&gt; NULL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Schema-on-read is nearly free at query time — consistent paths are columnarized on write; type once in staging, downstream never parses JSON.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INTERNALS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ADLS layout &amp; hourly loads — append-only RAW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One prefix per source object:   </a:t>
            </a:r>
            <a:r>
              <a:rPr sz="1650">
                <a:solidFill>
                  <a:srgbClr val="1B1B33"/>
                </a:solidFill>
                <a:latin typeface="Segoe UI"/>
              </a:rPr>
              <a:t>source/object/dt=YYYY-MM-DD/hr=HH/ — hourly runs list one narrow prefix; backfill = re-point at a date range; lifecycle rules attach per prefix.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Append new files, never replace:   </a:t>
            </a:r>
            <a:r>
              <a:rPr sz="1650">
                <a:solidFill>
                  <a:srgbClr val="1B1B33"/>
                </a:solidFill>
                <a:latin typeface="Segoe UI"/>
              </a:rPr>
              <a:t>RAW is an immutable log, not a mirror — 'latest' applies to which files we read this run, not to what we keep.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Idempotent in three layers:   </a:t>
            </a:r>
            <a:r>
              <a:rPr sz="1650">
                <a:solidFill>
                  <a:srgbClr val="1B1B33"/>
                </a:solidFill>
                <a:latin typeface="Segoe UI"/>
              </a:rPr>
              <a:t>COPY's 64-day file-load history (re-run loads zero) · _LOAD_LOG watermark + trailing-window rescan for late files · event_id dedup in staging.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Full refresh without mutation:   </a:t>
            </a:r>
            <a:r>
              <a:rPr sz="1650">
                <a:solidFill>
                  <a:srgbClr val="1B1B33"/>
                </a:solidFill>
                <a:latin typeface="Segoe UI"/>
              </a:rPr>
              <a:t>COPY FORCE=TRUE into a fresh table, then ALTER TABLE SWAP — rebuild history, never edit it.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COPY now, Snowpipe next:   </a:t>
            </a:r>
            <a:r>
              <a:rPr sz="1650">
                <a:solidFill>
                  <a:srgbClr val="1B1B33"/>
                </a:solidFill>
                <a:latin typeface="Segoe UI"/>
              </a:rPr>
              <a:t>scheduled Python + COPY keeps validation / quarantine / _LOAD_LOG in code; production evolution: Snowpipe auto-ingest per S3 event, no scheduler.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land hourly, append-only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azure://snowopssa.blob.core.windows.net/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og-telemetry/prod/product_events/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page_views/dt=2026-07-12/hr=14/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page_views_2026-07-12_14.json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.../hr=15/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hourly job: append new files only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COPY INTO product_events_raw_adls.page_views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@page_views_stage/dt=2026-07-12/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FILE_FORMAT = ff_json;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-- 64-day file history: re-run = 0 rows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staging: producer resends -&gt; 1 row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QUALIFY ROW_NUMBER() OVER 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PARTITION BY event_id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ORDER BY loaded_at DESC) =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Copy only the latest files, keep every row — append-only RAW plus three idempotency layers makes any re-run or backfill safe.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875520" cy="8412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spcAft>
                <a:spcPts val="100"/>
              </a:spcAft>
            </a:pPr>
            <a:r>
              <a:rPr sz="1100" b="1">
                <a:solidFill>
                  <a:srgbClr val="A79FFF"/>
                </a:solidFill>
                <a:latin typeface="Segoe UI"/>
              </a:rPr>
              <a:t>APPENDIX · INTERNALS</a:t>
            </a:r>
          </a:p>
          <a:p>
            <a:r>
              <a:rPr sz="2600" b="1">
                <a:solidFill>
                  <a:srgbClr val="FFFFFF"/>
                </a:solidFill>
                <a:latin typeface="Segoe UI"/>
              </a:rPr>
              <a:t>COPY INTO — load logs &amp; the 64-day horizon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6" y="237744"/>
            <a:ext cx="548640" cy="548640"/>
          </a:xfrm>
          <a:prstGeom prst="ellipse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446520" cy="4297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COPY returns a per-file result set:   </a:t>
            </a:r>
            <a:r>
              <a:rPr sz="1650">
                <a:solidFill>
                  <a:srgbClr val="1B1B33"/>
                </a:solidFill>
                <a:latin typeface="Segoe UI"/>
              </a:rPr>
              <a:t>rows_parsed / rows_loaded / errors per file — the Python job persists it to _LOAD_LOG; ours never expires.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Built-in audit views:   </a:t>
            </a:r>
            <a:r>
              <a:rPr sz="1650">
                <a:solidFill>
                  <a:srgbClr val="1B1B33"/>
                </a:solidFill>
                <a:latin typeface="Segoe UI"/>
              </a:rPr>
              <a:t>COPY_HISTORY table function = 14 days, per table; ACCOUNT_USAGE = 365 days, account-wide (~90 min lag).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The 64-day dedup horizon:   </a:t>
            </a:r>
            <a:r>
              <a:rPr sz="1650">
                <a:solidFill>
                  <a:srgbClr val="1B1B33"/>
                </a:solidFill>
                <a:latin typeface="Segoe UI"/>
              </a:rPr>
              <a:t>the internal metadata COPY uses to skip already-loaded files expires after 64 days — separate from the audit views.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Beyond 64 days = silent skip:   </a:t>
            </a:r>
            <a:r>
              <a:rPr sz="1650">
                <a:solidFill>
                  <a:srgbClr val="1B1B33"/>
                </a:solidFill>
                <a:latin typeface="Segoe UI"/>
              </a:rPr>
              <a:t>unknown-status files are skipped — a silent gap, not duplicates; backfill via LOAD_UNCERTAIN_FILES=TRUE or FORCE + SWAP.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sz="1650">
                <a:solidFill>
                  <a:srgbClr val="4A3FFF"/>
                </a:solidFill>
                <a:latin typeface="Segoe UI"/>
              </a:rPr>
              <a:t>▸  </a:t>
            </a:r>
            <a:r>
              <a:rPr b="1" sz="1650">
                <a:solidFill>
                  <a:srgbClr val="1B1B33"/>
                </a:solidFill>
                <a:latin typeface="Segoe UI"/>
              </a:rPr>
              <a:t>Why three layers:   </a:t>
            </a:r>
            <a:r>
              <a:rPr sz="1650">
                <a:solidFill>
                  <a:srgbClr val="1B1B33"/>
                </a:solidFill>
                <a:latin typeface="Segoe UI"/>
              </a:rPr>
              <a:t>COPY history expires · watermarks miss late files · event_id dedup in staging never expires.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4370832" cy="4160520"/>
          </a:xfrm>
          <a:prstGeom prst="roundRect">
            <a:avLst/>
          </a:prstGeom>
          <a:solidFill>
            <a:srgbClr val="19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572768"/>
            <a:ext cx="4078224" cy="3941063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A79FFF"/>
                </a:solidFill>
                <a:latin typeface="Consolas"/>
              </a:rPr>
              <a:t>every load is observable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COPY's return: per-file summary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file | status | rows_parsed |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rows_loaded | first_error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 -&gt; Python writes it to _LOAD_LOG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audit: last 14 days, this table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file_name, last_load_time,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  row_count, error_count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FROM TABLE(information_schema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.copy_history(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table_name =&gt; 'PAGE_VIEWS',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start_time =&gt; dateadd(day, -14,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   current_timestamp())));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audit: 365 days, account-wide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SELECT * FROM snowflake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.account_usage.copy_history;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8ED6B0"/>
                </a:solidFill>
                <a:latin typeface="Consolas"/>
              </a:rPr>
              <a:t>-- backfill older than 64 days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COPY INTO ...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000">
                <a:solidFill>
                  <a:srgbClr val="E6E9F5"/>
                </a:solidFill>
                <a:latin typeface="Consolas"/>
              </a:rPr>
              <a:t>  LOAD_UNCERTAIN_FILES = TRUE;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06440"/>
            <a:ext cx="11183112" cy="457200"/>
          </a:xfrm>
          <a:prstGeom prst="roundRect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06440"/>
            <a:ext cx="82296" cy="457200"/>
          </a:xfrm>
          <a:prstGeom prst="rect">
            <a:avLst/>
          </a:prstGeom>
          <a:solidFill>
            <a:srgbClr val="4A3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b="1" sz="1300">
                <a:solidFill>
                  <a:srgbClr val="3B34B8"/>
                </a:solidFill>
                <a:latin typeface="Segoe UI"/>
              </a:rPr>
              <a:t>Takeaway   </a:t>
            </a:r>
            <a:r>
              <a:rPr sz="1300">
                <a:solidFill>
                  <a:srgbClr val="1B1B33"/>
                </a:solidFill>
                <a:latin typeface="Segoe UI"/>
              </a:rPr>
              <a:t>Snowflake logs every COPY (14-day / 365-day views) and returns a per-file summary — persisting it in _LOAD_LOG gives an audit trail that outlives every retention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r>
              <a:rPr sz="900">
                <a:solidFill>
                  <a:srgbClr val="5C5B77"/>
                </a:solidFill>
                <a:latin typeface="Segoe UI"/>
              </a:rPr>
              <a:t>OpenGov Data Platform  ·  Case Study — Viewpoint  ·  Akash Pahilwan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55664"/>
            <a:ext cx="8229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>
                <a:solidFill>
                  <a:srgbClr val="5C5B77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