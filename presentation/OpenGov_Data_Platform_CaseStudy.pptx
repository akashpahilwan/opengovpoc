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thesis: I build the factory — the governed foundation that lets every domain team ship analytics and AI on top, safely and fast. Today I'll walk foundation -&gt; pipelines -&gt; self-service -&gt; trust &amp; governance, then close with a forward-looking bet on making the platform AI-ready.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role: a platform engineer's customer is other engineers/analysts. The job is to make the right thing the easy thing. Stress federation with guardrails — central team owns the paved path, domains own their data products. These four principles recur on every later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anchor diagram — walk it left to right. Sources land via Fivetran (connectorized SaaS) or a custom Python path on AWS (S3 + Lambda) for telemetry and bespoke APIs. Everything lands in Snowflake RAW, then dbt promotes RAW→STAGING→MARTS, with SANDBOX for exploration. Consumers are BI, AI/ML + LLM/RAG, and reverse ETL. The navy band is the cross-cutting foundation that every layer sits on: IaC, RBAC+masking, observability, CI/CD. Invite the 'why Fivetran here, Lambda there' question — next slide answers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rule: buy vs build on control, cost curve, and whether a reliable connector exists. Fivetran wins for SaaS — someone else maintains the connector and absorbs API changes. Telemetry is the opposite: huge volume, simple shape, cost at Fivetran's per-row pricing would be brutal, and we want near-real-time via S3 events → Lambda. So we own that path. Be ready to defend the cost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hands-on depth shows. Emphasize: never block ingestion on a schema change — land as VARIANT, evolve additively, and alert. Keyset pagination + a persisted watermark makes runs resumable. Backoff + Retry-After keeps us a good API citizen. Idempotency via natural key is what makes re-runs safe — this is the exact pattern I'll implement in the Part 2 telemetry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directly answers 'we deploy objects via CI/CD — how does drift fit?'. Separate the two schemas. The SOURCE shape is uncontrolled and can change any time; OUR objects are code and change only via a reviewed, tested PR. RAW uses a VARIANT column so upstream additions need no DDL and never break a load — CI/CD does not run on every upstream change. Drift is detected against a contract and surfaced (additive) or quarantined + alerted (breaking), but never auto-alters a deployed table. To make a new field real, an engineer adds one typed column in dbt via a PR; contracts + tests run in CI as the tripwire. Fivetran is the contrast: it is schema-on-WRITE — it types columns and ALTERs its own RAW tables when the source drifts — so the read-time boundary moves one layer down: dbt sources select only the columns we depend on, and the source contract + tests fail CI before bad data flows downstream. Crisp framing if pushed: schema-on-read is a property of the RAW layer. In the custom path we own RAW, so we land VARIANT and type late; in the Fivetran path Fivetran owns and evolves RAW, so our read-time contract is the dbt source. Either way, a new field enters the deployed model only through a reviewed PR. Use CREATE OR ALTER / additive, idempotent migrations so redeploys are safe on half-failures.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RAW is the system of record — never mutate it. Partition for replay and cheap pruning. The quarantine + load-log pattern gives operability: you can always answer 'did the 09:00 file land, and how many rows did we reject?' This maps one-to-one to the PAGE_VIEWS ingestion I build in Part 2, including the intentional null user_id record that gets quarantined.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Database-per-layer (vs schema-per-layer) gives cleaner grants and isolation, and scales to many domains: RAW holds source schemas, MARTS holds domain schemas. Separate warehouses stop a heavy dbt run from starving BI, and make cost attributable. Prod is only ever changed through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1-to-10-domains question lives here. Answer: don't grow one monolith — split by domain with clear ownership, and use dbt Mesh contracts as the interface between domains. Public models are the API; internals can refactor freely. Incremental vs full-refresh is a volume/cost decision. Mention mart_revops__pipeline (Part 2) would be exposed as a PUBLIC contracted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'factory' payoff and a differentiator vs teams that hand-craft each domain. A single opinionated Terraform module encodes all standards, so every new domain is born compliant. Teams self-serve via PR; the platform team reviews the module, not every request. This is how RBAC actually scales to 10 domains — it's generated, not hand-written.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Snowflake's recommended two-tier model: access roles hold object privileges; functional roles (job-based) inherit access roles; users get functional roles. Why it scales: access roles are reusable primitives, so a 10th domain is a generated set of roles — no bespoke grant spaghetti. Service accounts get their own functional roles (dbt vs human analyst). Row-access policies enforce tenant/region isolation on shared tables. This exact model is what I build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Enterprise edition gives us dynamic masking, row access policies, and ACCESS_HISTORY — I confirmed the account is Enterprise. The scaling trick is TAG-based masking: analysts tag columns; the policy is attached to the tag, so coverage follows the tag across every table and domain. ACCESS_HISTORY is the answer to the audit probe on ARR. In Part 2 I implement the ARR masking policy: NULL below REVOPS_ADMIN, real value for REVOPS_ADMIN.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Observability is a day-one concern, not a phase-2 add-on. The mindset: treat data products like services with SLAs. dbt tests catch quality regressions in CI before they ship. Cost observability matters because Snowflake spend is consumption-based — per-domain attribution enables chargeback and keeps the platform's economics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enforcement mechanism for everything else. Key security points the panel probes: OIDC/key-pair over passwords, and protecting secrets from malicious fork PRs (secrets aren't exposed to untrusted PRs; apply only runs post-merge). Idempotency + half-failure safety is what makes automated provisioning trustworthy. The PR-comment summary is exactly the CI deliverable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my point of view. The trap everyone is walking into: pointing LLMs at raw warehouses. Without a semantic layer, the model guesses join logic and metric definitions — confidently wrong. Solution: a governed metrics/semantic layer as the single interface for humans AND AI, plus data contracts enforced in CI so definitions can't silently drift. Crucially, Snowflake's masking/row policies apply to the LLM's service account — governance isn't bypassed by AI. This is how OpenGov gets trustworthy AI, not just more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four-part arc and restate the thesis. Signal you're ready for the hands-on deep dive and for tradeoff questions. End on the platform-as-product line — the success metric is federated teams shipping trustworthy data &amp; AI products quickly, safely, and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BONUS / HIDDEN — pull up only if the panel digs into VARIANT performance. Key message: VARIANT is not a JSON string column. On write, Snowflake examines paths that occur consistently across rows in a micro-partition and stores each as its own typed, compressed sub-column with min/max metadata — so path projection and partition pruning behave like native columns. It degrades only when keys are wildly inconsistent row-to-row; the fix is promoting hot keys (event_id) to real columns, which we do anyway for dedup. Drift behavior: missing key reads as NULL (never an error), new keys are invisible until a PR selects them, and TRY_CAST + dbt tests turn type drift into a quarantine signal instead of a failed job. 16 MB/value limit is ~4 orders of magnitude above a telemetry event. One-breath close: 'stable RAW DDL, columnarized paths, type once in incremental staging — downstream never touches JSON.'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BONUS / HIDDEN — pull up if asked about bucket layout, hourly cadence, or 'why not Snowpipe'. Hive-style dt=/hr= prefixes sort lexicographically by time, so the watermark is just the last processed prefix; re-scan a trailing 24-48h window so late-arriving files in an old hour still load (COPY's file history dedups the overlap for free). Append-only stance: never 'replace with latest' — RAW keeps every loaded row; dedup and current-state are computed in staging (QUALIFY on event_id). Snowpipe question: for the case-study deliverable I keep a scheduled Python job + COPY, because the assessed logic — schema validation, quarantine, _LOAD_LOG summary — lives in that code, and hourly batch on an XS warehouse is cheap. In production, with files landing continuously, I'd flip to Snowpipe: S3 event notification -&gt; per-file auto-ingest, exactly-once per file, ~1-minute latency, no scheduler or watermark logic at all; validation then moves to a post-load stream/task. Same table, same append-only contract — only the trigger changes. 64-day detail: COPY's per-file load history EXPIRES after 64 days. A backfill touching older files is silently SKIPPED by default (status unknown -&gt; skip, no error — a silent gap, not duplicates). Deliberate old backfill: set LOAD_UNCERTAIN_FILES=TRUE (staging's event_id dedup absorbs any repeats) or FORCE=TRUE into a fresh table + SWAP. This expiry is exactly why the design has three layers — COPY history expires, a watermark can miss late files, so event_id dedup in staging is the backstop that never expires.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BONUS / HIDDEN — pull up for 'can we see what COPY loaded?' or the 64-day follow-up. Three observable layers: (1) COPY INTO itself returns a result set — one row per file with status, rows_parsed, rows_loaded, errors_seen, first_error — and the Part 2 Python job captures exactly this into _LOAD_LOG, which is the brief's load-summary requirement and lives forever. (2) COPY_HISTORY / LOAD_HISTORY: INFORMATION_SCHEMA table functions keep 14 days per table; SNOWFLAKE.ACCOUNT_USAGE views keep 365 days account-wide with up to ~90 min latency — these are audit/observability surfaces. (3) Distinct from both: the internal per-file dedup metadata COPY consults to skip already-loaded files — 64-day lifetime, not directly queryable. Beyond 64 days the load status is 'unknown' and COPY silently SKIPS the file by default (gap, not duplicates); deliberate backfills set LOAD_UNCERTAIN_FILES=TRUE and let staging's event_id dedup absorb repeats, or rebuild with FORCE=TRUE + SWAP. Close with the three-layer line: history expires, watermarks miss late files, staging dedup never expires.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5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580" y="1531620"/>
            <a:ext cx="1234440" cy="1234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154680"/>
            <a:ext cx="9875520" cy="2377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Segoe UI"/>
              </a:rPr>
              <a:t>OpenGov Data Platform</a:t>
            </a:r>
          </a:p>
          <a:p>
            <a:pPr>
              <a:spcBef>
                <a:spcPts val="600"/>
              </a:spcBef>
            </a:pPr>
            <a:r>
              <a:rPr sz="2200">
                <a:solidFill>
                  <a:srgbClr val="A79FFF"/>
                </a:solidFill>
                <a:latin typeface="Segoe UI"/>
              </a:rPr>
              <a:t>Platform Architecture &amp; Data Foundation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C7D3E0"/>
                </a:solidFill>
                <a:latin typeface="Segoe UI"/>
              </a:rPr>
              <a:t>Case Study — Viewpoint</a:t>
            </a:r>
          </a:p>
          <a:p>
            <a:r>
              <a:rPr sz="1500" b="1">
                <a:solidFill>
                  <a:srgbClr val="FFFFFF"/>
                </a:solidFill>
                <a:latin typeface="Segoe UI"/>
              </a:rPr>
              <a:t>Akash Pahilwan  ·  Senior Data Platform Engineer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FOUNDATION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The platform is a product — I build the factory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9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900">
                <a:solidFill>
                  <a:srgbClr val="1B1B33"/>
                </a:solidFill>
                <a:latin typeface="Segoe UI"/>
              </a:rPr>
              <a:t>The mandate:   </a:t>
            </a:r>
            <a:r>
              <a:rPr sz="1900">
                <a:solidFill>
                  <a:srgbClr val="1B1B33"/>
                </a:solidFill>
                <a:latin typeface="Segoe UI"/>
              </a:rPr>
              <a:t>one governed foundation powering analytics and AI across GTM, Finance, Product, and HR/People.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9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900">
                <a:solidFill>
                  <a:srgbClr val="1B1B33"/>
                </a:solidFill>
                <a:latin typeface="Segoe UI"/>
              </a:rPr>
              <a:t>Federated, not centralized:   </a:t>
            </a:r>
            <a:r>
              <a:rPr sz="1900">
                <a:solidFill>
                  <a:srgbClr val="1B1B33"/>
                </a:solidFill>
                <a:latin typeface="Segoe UI"/>
              </a:rPr>
              <a:t>domain teams build on a paved path with guardrails — self-service, not a ticket queue.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9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900">
                <a:solidFill>
                  <a:srgbClr val="1B1B33"/>
                </a:solidFill>
                <a:latin typeface="Segoe UI"/>
              </a:rPr>
              <a:t>Four principles guide every decision: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6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600">
                <a:solidFill>
                  <a:srgbClr val="1B1B33"/>
                </a:solidFill>
                <a:latin typeface="Segoe UI"/>
              </a:rPr>
              <a:t>Governed by default   </a:t>
            </a:r>
            <a:r>
              <a:rPr sz="1600">
                <a:solidFill>
                  <a:srgbClr val="3E3D5C"/>
                </a:solidFill>
                <a:latin typeface="Segoe UI"/>
              </a:rPr>
              <a:t>— RBAC, masking, and lineage are built in, not bolted on.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6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600">
                <a:solidFill>
                  <a:srgbClr val="1B1B33"/>
                </a:solidFill>
                <a:latin typeface="Segoe UI"/>
              </a:rPr>
              <a:t>Self-service paved path   </a:t>
            </a:r>
            <a:r>
              <a:rPr sz="1600">
                <a:solidFill>
                  <a:srgbClr val="3E3D5C"/>
                </a:solidFill>
                <a:latin typeface="Segoe UI"/>
              </a:rPr>
              <a:t>— golden templates + IaC modules; onboard a domain in a PR.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6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600">
                <a:solidFill>
                  <a:srgbClr val="1B1B33"/>
                </a:solidFill>
                <a:latin typeface="Segoe UI"/>
              </a:rPr>
              <a:t>Observable &amp; SLA-driven   </a:t>
            </a:r>
            <a:r>
              <a:rPr sz="1600">
                <a:solidFill>
                  <a:srgbClr val="3E3D5C"/>
                </a:solidFill>
                <a:latin typeface="Segoe UI"/>
              </a:rPr>
              <a:t>— freshness, quality, and cost measured from day one.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6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600">
                <a:solidFill>
                  <a:srgbClr val="1B1B33"/>
                </a:solidFill>
                <a:latin typeface="Segoe UI"/>
              </a:rPr>
              <a:t>IaC-first &amp; reproducible   </a:t>
            </a:r>
            <a:r>
              <a:rPr sz="1600">
                <a:solidFill>
                  <a:srgbClr val="3E3D5C"/>
                </a:solidFill>
                <a:latin typeface="Segoe UI"/>
              </a:rPr>
              <a:t>— everything is code, tested in CI, rebuildable in any environment.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Trust and speed are not a trade-off — the right guardrails deliver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FOUNDATION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Target-state architecture: source → dashboard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307592"/>
            <a:ext cx="2057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205740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Salesforce  (GTM)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58568"/>
            <a:ext cx="205740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Marketo  (GTM)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16936"/>
            <a:ext cx="205740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NetSuite  (Finance)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575304"/>
            <a:ext cx="2057400" cy="530352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Telemetry  (Product)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33672"/>
            <a:ext cx="205740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Workday  (HR)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307592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INGESTION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1737360"/>
            <a:ext cx="2286000" cy="960120"/>
          </a:xfrm>
          <a:prstGeom prst="roundRect">
            <a:avLst/>
          </a:prstGeom>
          <a:solidFill>
            <a:srgbClr val="E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Fivetran
managed connectors (SaaS)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3017520"/>
            <a:ext cx="2286000" cy="123444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Custom Python
AWS S3 + Lambda
(telemetry &amp; APIs)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1307592"/>
            <a:ext cx="3337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SNOWFLAKE  +  DBT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32120" y="1600200"/>
            <a:ext cx="3337560" cy="3246120"/>
          </a:xfrm>
          <a:prstGeom prst="roundRect">
            <a:avLst/>
          </a:prstGeom>
          <a:solidFill>
            <a:srgbClr val="ECEBFB"/>
          </a:solidFill>
          <a:ln w="12700">
            <a:solidFill>
              <a:srgbClr val="3B3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42432" y="1819656"/>
            <a:ext cx="2926080" cy="530352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RAW  — source-system schemas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42432" y="2478024"/>
            <a:ext cx="292608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STAGING — cleaned / conformed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42432" y="3136391"/>
            <a:ext cx="292608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MARTS — domain, business-ready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42432" y="3794760"/>
            <a:ext cx="2926080" cy="530352"/>
          </a:xfrm>
          <a:prstGeom prst="roundRect">
            <a:avLst/>
          </a:prstGeom>
          <a:solidFill>
            <a:srgbClr val="5C5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SANDBOX — analyst scratch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42432" y="4361688"/>
            <a:ext cx="292608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i="1">
                <a:solidFill>
                  <a:srgbClr val="3B34B8"/>
                </a:solidFill>
                <a:latin typeface="Segoe UI"/>
              </a:rPr>
              <a:t>dbt transforms &amp; tests RAW→STAGING→MARTS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307592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CONSUMERS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1920240"/>
            <a:ext cx="2468880" cy="658368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BI &amp; Dashboards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788920"/>
            <a:ext cx="2468880" cy="658368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AI / ML  ·  LLM + RAG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89720" y="3657600"/>
            <a:ext cx="2468880" cy="658368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Reverse ETL → apps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587752" y="2880360"/>
            <a:ext cx="320040" cy="274320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5193792" y="2880360"/>
            <a:ext cx="320040" cy="274320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8897112" y="2880360"/>
            <a:ext cx="320040" cy="274320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5074920"/>
            <a:ext cx="11137392" cy="566928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FOUNDATION   ·   Terraform (IaC)   ·   RBAC + Dynamic Masking   ·   Observability &amp; Data SLAs   ·   CI/CD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PIPELINES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Ingestion: buy vs. build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3858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782312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Dimension</a:t>
                      </a:r>
                    </a:p>
                  </a:txBody>
                  <a:tcPr anchor="ctr" marL="109728" marR="73152">
                    <a:solidFill>
                      <a:srgbClr val="1915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Fivetran  (buy)</a:t>
                      </a:r>
                    </a:p>
                  </a:txBody>
                  <a:tcPr anchor="ctr" marL="109728" marR="73152">
                    <a:solidFill>
                      <a:srgbClr val="1915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Custom Python on AWS  (build)</a:t>
                      </a:r>
                    </a:p>
                  </a:txBody>
                  <a:tcPr anchor="ctr" marL="109728" marR="73152">
                    <a:solidFill>
                      <a:srgbClr val="1915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Best for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Connectorized SaaS sources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High-volume / bespoke sources, no connector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Examples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Salesforce, NetSuite, Workday, Marketo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Product telemetry, operational APIs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Schema drift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Schema-on-write — auto-evolves its tables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Schema-on-read — VARIANT + contracts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Latency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Scheduled batch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Near-real-time — S3 event → Lambda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Control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Low (fully managed)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Full — custom logic &amp; cost tuning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Cost model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Per-MAR (rows synced)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Compute — S3 / Lambda / warehouse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Buy the commodity (SaaS connectors), build the differentiator (telemetry scale, cost, custom logic).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PIPELINES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Custom connectors: the hard parts, handled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17320"/>
            <a:ext cx="10972800" cy="4023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Schema drift:   </a:t>
            </a:r>
            <a:r>
              <a:rPr sz="1800">
                <a:solidFill>
                  <a:srgbClr val="1B1B33"/>
                </a:solidFill>
                <a:latin typeface="Segoe UI"/>
              </a:rPr>
              <a:t>land raw as VARIANT/JSON — schema-on-read; explicit contract + registry; additive evolution; alert on breaking change.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Pagination:   </a:t>
            </a:r>
            <a:r>
              <a:rPr sz="1800">
                <a:solidFill>
                  <a:srgbClr val="1B1B33"/>
                </a:solidFill>
                <a:latin typeface="Segoe UI"/>
              </a:rPr>
              <a:t>cursor / keyset over offset; persist a high-water mark; fully resumable from the last checkpoint.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Rate limiting:   </a:t>
            </a:r>
            <a:r>
              <a:rPr sz="1800">
                <a:solidFill>
                  <a:srgbClr val="1B1B33"/>
                </a:solidFill>
                <a:latin typeface="Segoe UI"/>
              </a:rPr>
              <a:t>exponential backoff + jitter; honor Retry-After; token-bucket throttle; bounded concurrency.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Reliability &amp; idempotency:   </a:t>
            </a:r>
            <a:r>
              <a:rPr sz="1800">
                <a:solidFill>
                  <a:srgbClr val="1B1B33"/>
                </a:solidFill>
                <a:latin typeface="Segoe UI"/>
              </a:rPr>
              <a:t>dedup on a natural key; checkpoint per page/file; failures route to a dead-letter / quarantine.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Reusable by design:   </a:t>
            </a:r>
            <a:r>
              <a:rPr sz="1800">
                <a:solidFill>
                  <a:srgbClr val="1B1B33"/>
                </a:solidFill>
                <a:latin typeface="Segoe UI"/>
              </a:rPr>
              <a:t>one config-driven framework, many sources — add a source with config, not a copy-paste.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A connector is a distributed-systems problem — treat retries, checkpoints, and drift as first-class.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PIPELINES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Schema drift when objects ship via CI/CD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44652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Two schemas, two rules:   </a:t>
            </a:r>
            <a:r>
              <a:rPr sz="1650">
                <a:solidFill>
                  <a:srgbClr val="1B1B33"/>
                </a:solidFill>
                <a:latin typeface="Segoe UI"/>
              </a:rPr>
              <a:t>the upstream source shape is uncontrolled; our deployed objects change only through reviewed PRs.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Custom path — schema-on-read:   </a:t>
            </a:r>
            <a:r>
              <a:rPr sz="1650">
                <a:solidFill>
                  <a:srgbClr val="1B1B33"/>
                </a:solidFill>
                <a:latin typeface="Segoe UI"/>
              </a:rPr>
              <a:t>RAW lands each record as a VARIANT; a new source field needs zero DDL, zero deploy — typed at read time in dbt.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Detect, don't auto-alter:   </a:t>
            </a:r>
            <a:r>
              <a:rPr sz="1650">
                <a:solidFill>
                  <a:srgbClr val="1B1B33"/>
                </a:solidFill>
                <a:latin typeface="Segoe UI"/>
              </a:rPr>
              <a:t>compare the payload to a registered contract — additive → log + surface; breaking → alert + quarantine. CI/CD never mutates a live table from drift.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Promote a field = a pull request:   </a:t>
            </a:r>
            <a:r>
              <a:rPr sz="1650">
                <a:solidFill>
                  <a:srgbClr val="1B1B33"/>
                </a:solidFill>
                <a:latin typeface="Segoe UI"/>
              </a:rPr>
              <a:t>expose it by adding one typed column in dbt; CI runs contracts + tests; review + merge deploys it.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Fivetran — schema-on-write:   </a:t>
            </a:r>
            <a:r>
              <a:rPr sz="1650">
                <a:solidFill>
                  <a:srgbClr val="1B1B33"/>
                </a:solidFill>
                <a:latin typeface="Segoe UI"/>
              </a:rPr>
              <a:t>it types columns and ALTERs its own RAW tables on drift; the dbt source contract + tests are our CI tripwire one layer down.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4370832" cy="416052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1504" y="1572768"/>
            <a:ext cx="4078224" cy="3941063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A79FFF"/>
                </a:solidFill>
                <a:latin typeface="Consolas"/>
              </a:rPr>
              <a:t>drift: land loose, type in a PR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RAW - schema-on-read (stable DDL)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CREATE OR ALTER TABLE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raw.product_events.page_views (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event_id  STRING,   </a:t>
            </a:r>
            <a:r>
              <a:rPr sz="1000">
                <a:solidFill>
                  <a:srgbClr val="8ED6B0"/>
                </a:solidFill>
                <a:latin typeface="Consolas"/>
              </a:rPr>
              <a:t>-- promoted key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loaded_at TIMESTAMP_NTZ,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_filename STRING,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payload   VARIANT   </a:t>
            </a:r>
            <a:r>
              <a:rPr sz="1000">
                <a:solidFill>
                  <a:srgbClr val="8ED6B0"/>
                </a:solidFill>
                <a:latin typeface="Consolas"/>
              </a:rPr>
              <a:t>-- new fields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);                    </a:t>
            </a:r>
            <a:r>
              <a:rPr sz="1000">
                <a:solidFill>
                  <a:srgbClr val="8ED6B0"/>
                </a:solidFill>
                <a:latin typeface="Consolas"/>
              </a:rPr>
              <a:t>-- land here, no PR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STAGING (dbt) - type late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SELECT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payload:event_id::string  AS event_id,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payload:properties.duration_ms::int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                     AS duration_ms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FROM {{ source('product_events',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         'page_views') }}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expose a field = one line, via PR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Upstream drift lands safely in VARIANT; the deployed schema changes only through a reviewed, tested PR — drift is a blocking CI signal, not silent breakage.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PIPELINES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Reliable landing in Snowflake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17320"/>
            <a:ext cx="10972800" cy="4023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Partitioned landing zone:   </a:t>
            </a:r>
            <a:r>
              <a:rPr sz="1800">
                <a:solidFill>
                  <a:srgbClr val="1B1B33"/>
                </a:solidFill>
                <a:latin typeface="Segoe UI"/>
              </a:rPr>
              <a:t>S3 keys as source/table/ingest_date=… — immutable, append-only, replayable.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File formats:   </a:t>
            </a:r>
            <a:r>
              <a:rPr sz="1800">
                <a:solidFill>
                  <a:srgbClr val="1B1B33"/>
                </a:solidFill>
                <a:latin typeface="Segoe UI"/>
              </a:rPr>
              <a:t>JSON → VARIANT for semi-structured; Parquet for large columnar; compressed; bounded file sizes.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Load path:   </a:t>
            </a:r>
            <a:r>
              <a:rPr sz="1800">
                <a:solidFill>
                  <a:srgbClr val="1B1B33"/>
                </a:solidFill>
                <a:latin typeface="Segoe UI"/>
              </a:rPr>
              <a:t>external stage + COPY INTO, or Snowpipe on arrival; capture METADATA$FILENAME for lineage.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Quality gates at load:   </a:t>
            </a:r>
            <a:r>
              <a:rPr sz="1800">
                <a:solidFill>
                  <a:srgbClr val="1B1B33"/>
                </a:solidFill>
                <a:latin typeface="Segoe UI"/>
              </a:rPr>
              <a:t>validate required fields; bad rows → _QUARANTINE table; never fail the whole batch on one row.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Observability:   </a:t>
            </a:r>
            <a:r>
              <a:rPr sz="1800">
                <a:solidFill>
                  <a:srgbClr val="1B1B33"/>
                </a:solidFill>
                <a:latin typeface="Segoe UI"/>
              </a:rPr>
              <a:t>a _LOAD_LOG row per file — records processed, quarantined, load timestamp.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Idempotent:   </a:t>
            </a:r>
            <a:r>
              <a:rPr sz="1800">
                <a:solidFill>
                  <a:srgbClr val="1B1B33"/>
                </a:solidFill>
                <a:latin typeface="Segoe UI"/>
              </a:rPr>
              <a:t>dedup on natural key so re-loading a file is a no-op.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RAW is immutable truth — validate and quarantine at the door, log every load.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FOUNDATION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Snowflake layer model &amp; environment strategy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Database-per-layer:   </a:t>
            </a:r>
            <a:r>
              <a:rPr sz="1800">
                <a:solidFill>
                  <a:srgbClr val="1B1B33"/>
                </a:solidFill>
                <a:latin typeface="Segoe UI"/>
              </a:rPr>
              <a:t>RAW → STAGING → MARTS → SANDBOX; clear ownership and blast-radius per layer.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RAW   </a:t>
            </a:r>
            <a:r>
              <a:rPr sz="1500">
                <a:solidFill>
                  <a:srgbClr val="3E3D5C"/>
                </a:solidFill>
                <a:latin typeface="Segoe UI"/>
              </a:rPr>
              <a:t>— loader-owned, immutable, source-system schemas, no business logic.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STAGING   </a:t>
            </a:r>
            <a:r>
              <a:rPr sz="1500">
                <a:solidFill>
                  <a:srgbClr val="3E3D5C"/>
                </a:solidFill>
                <a:latin typeface="Segoe UI"/>
              </a:rPr>
              <a:t>— dbt-owned; typed, renamed, conformed; light transforms.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MARTS   </a:t>
            </a:r>
            <a:r>
              <a:rPr sz="1500">
                <a:solidFill>
                  <a:srgbClr val="3E3D5C"/>
                </a:solidFill>
                <a:latin typeface="Segoe UI"/>
              </a:rPr>
              <a:t>— dbt-owned; business-ready, domain schemas, tested &amp; documented.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SANDBOX   </a:t>
            </a:r>
            <a:r>
              <a:rPr sz="1500">
                <a:solidFill>
                  <a:srgbClr val="3E3D5C"/>
                </a:solidFill>
                <a:latin typeface="Segoe UI"/>
              </a:rPr>
              <a:t>— analyst scratch; safe to break, no downstream dependencies.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Warehouse strategy:   </a:t>
            </a:r>
            <a:r>
              <a:rPr sz="1800">
                <a:solidFill>
                  <a:srgbClr val="1B1B33"/>
                </a:solidFill>
                <a:latin typeface="Segoe UI"/>
              </a:rPr>
              <a:t>separate ingest / transform / BI warehouses; right-sized; auto-suspend for cost.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Environments:   </a:t>
            </a:r>
            <a:r>
              <a:rPr sz="1800">
                <a:solidFill>
                  <a:srgbClr val="1B1B33"/>
                </a:solidFill>
                <a:latin typeface="Segoe UI"/>
              </a:rPr>
              <a:t>dev and prod isolated; promotion through CI, never manual edits in prod.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Layers give ownership and blast-radius control; warehouses give workload &amp; cost isolation.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PIPELINES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dbt for many domains — without a monolith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17320"/>
            <a:ext cx="10972800" cy="4114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Layered models:   </a:t>
            </a:r>
            <a:r>
              <a:rPr sz="1800">
                <a:solidFill>
                  <a:srgbClr val="1B1B33"/>
                </a:solidFill>
                <a:latin typeface="Segoe UI"/>
              </a:rPr>
              <a:t>staging (1:1 with source) → intermediate → marts (by domain).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Organize by domain, not by one giant project:   </a:t>
            </a:r>
            <a:r>
              <a:rPr sz="1800">
                <a:solidFill>
                  <a:srgbClr val="1B1B33"/>
                </a:solidFill>
                <a:latin typeface="Segoe UI"/>
              </a:rPr>
              <a:t>folders + CODEOWNERS per domain (revops, finance, product, hr).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dbt Mesh:   </a:t>
            </a:r>
            <a:r>
              <a:rPr sz="1800">
                <a:solidFill>
                  <a:srgbClr val="1B1B33"/>
                </a:solidFill>
                <a:latin typeface="Segoe UI"/>
              </a:rPr>
              <a:t>each domain exposes PUBLIC models via contracts; consumers depend on stable interfaces, not internals.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Quality is code:   </a:t>
            </a:r>
            <a:r>
              <a:rPr sz="1800">
                <a:solidFill>
                  <a:srgbClr val="1B1B33"/>
                </a:solidFill>
                <a:latin typeface="Segoe UI"/>
              </a:rPr>
              <a:t>generic + singular tests, model contracts, source freshness, exposures for BI/AI lineage.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Incremental vs full-refresh:   </a:t>
            </a:r>
            <a:r>
              <a:rPr sz="1800">
                <a:solidFill>
                  <a:srgbClr val="1B1B33"/>
                </a:solidFill>
                <a:latin typeface="Segoe UI"/>
              </a:rPr>
              <a:t>incremental for high-volume events (telemetry); full-refresh for small dimensions.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Fast CI:   </a:t>
            </a:r>
            <a:r>
              <a:rPr sz="1800">
                <a:solidFill>
                  <a:srgbClr val="1B1B33"/>
                </a:solidFill>
                <a:latin typeface="Segoe UI"/>
              </a:rPr>
              <a:t>slim CI builds only state:modified+ — seconds, not full rebuilds.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Contracts + dbt Mesh let domains move independently while consumers stay safe.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SELF-SERVICE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Self-service: onboard a domain in a pull request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One Terraform module — domain_workspace:   </a:t>
            </a:r>
            <a:r>
              <a:rPr sz="1800">
                <a:solidFill>
                  <a:srgbClr val="1B1B33"/>
                </a:solidFill>
                <a:latin typeface="Segoe UI"/>
              </a:rPr>
              <a:t>input a domain name, get a full, governed workspace.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Provisions   </a:t>
            </a:r>
            <a:r>
              <a:rPr sz="1500">
                <a:solidFill>
                  <a:srgbClr val="3E3D5C"/>
                </a:solidFill>
                <a:latin typeface="Segoe UI"/>
              </a:rPr>
              <a:t>schemas (staging / marts / sandbox), functional + access roles, service accounts, a warehouse.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Applies   </a:t>
            </a:r>
            <a:r>
              <a:rPr sz="1500">
                <a:solidFill>
                  <a:srgbClr val="3E3D5C"/>
                </a:solidFill>
                <a:latin typeface="Segoe UI"/>
              </a:rPr>
              <a:t>default grants, PII tags, cost limits, and naming standards automatically.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Golden-path templates:   </a:t>
            </a:r>
            <a:r>
              <a:rPr sz="1800">
                <a:solidFill>
                  <a:srgbClr val="1B1B33"/>
                </a:solidFill>
                <a:latin typeface="Segoe UI"/>
              </a:rPr>
              <a:t>starter dbt project, connector config, and CI workflow scaffolded for the team.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PR-driven:   </a:t>
            </a:r>
            <a:r>
              <a:rPr sz="1800">
                <a:solidFill>
                  <a:srgbClr val="1B1B33"/>
                </a:solidFill>
                <a:latin typeface="Segoe UI"/>
              </a:rPr>
              <a:t>a domain is onboarded by opening a PR — reviewed, planned, applied by CI. No tickets.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Outcome:   </a:t>
            </a:r>
            <a:r>
              <a:rPr sz="1800">
                <a:solidFill>
                  <a:srgbClr val="1B1B33"/>
                </a:solidFill>
                <a:latin typeface="Segoe UI"/>
              </a:rPr>
              <a:t>consistent and governed by construction; hours, not weeks; the platform team doesn't become the bottleneck.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The paved path makes the governed way the easiest way — self-service without losing control.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TRUST &amp; GOVERNANCE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RBAC at scale: functional + access roles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463040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USERS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377440" cy="548640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OPENGOV_ANALYST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2377440" cy="54864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OPENGOV_DBT_SVC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83280"/>
            <a:ext cx="2377440" cy="548640"/>
          </a:xfrm>
          <a:prstGeom prst="roundRect">
            <a:avLst/>
          </a:prstGeom>
          <a:solidFill>
            <a:srgbClr val="5C5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human  vs 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46304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FUNCTIONAL ROLES (JOB)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828800"/>
            <a:ext cx="2651760" cy="548640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REVOPS_ANALYST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60320"/>
            <a:ext cx="2651760" cy="548640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REVOPS_DEVELOPER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291839"/>
            <a:ext cx="2651760" cy="54864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REVOPS_ADMIN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1463040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ACCESS ROLES (GRANTS)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1828800"/>
            <a:ext cx="2468880" cy="50292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AR_MARTS_R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9400" y="2468880"/>
            <a:ext cx="2468880" cy="50292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AR_STAGING_R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3108960"/>
            <a:ext cx="2468880" cy="50292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AR_RAW_RW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3749039"/>
            <a:ext cx="2468880" cy="50292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AR_SANDBOX_RW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1463040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OBJECTS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1828800"/>
            <a:ext cx="2103120" cy="50292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MARTS schema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468880"/>
            <a:ext cx="2103120" cy="50292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STAGING schema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3108960"/>
            <a:ext cx="2103120" cy="50292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RAW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3749039"/>
            <a:ext cx="2103120" cy="50292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SANDBOX schema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017520" y="2788920"/>
            <a:ext cx="292608" cy="256032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172200" y="2788920"/>
            <a:ext cx="292608" cy="256032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9189720" y="2788920"/>
            <a:ext cx="292608" cy="256032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297680"/>
            <a:ext cx="110642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100" i="1">
                <a:solidFill>
                  <a:srgbClr val="5C5B77"/>
                </a:solidFill>
                <a:latin typeface="Segoe UI"/>
              </a:rPr>
              <a:t>granted to  ►  users     |     inherit  ►  access roles     |     hold privileges on  ►  objects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Access roles are reused building blocks; add a domain = generate a new set — grants never sprawl.  Row-access policies handle multi-tenant isolation.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TRUST &amp; GOVERNANCE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PII &amp; column security for Finance / HR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17320"/>
            <a:ext cx="10972800" cy="4023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Dynamic data masking:   </a:t>
            </a:r>
            <a:r>
              <a:rPr sz="1800">
                <a:solidFill>
                  <a:srgbClr val="1B1B33"/>
                </a:solidFill>
                <a:latin typeface="Segoe UI"/>
              </a:rPr>
              <a:t>policies on sensitive columns (ARR, salary, PII) — masked/NULL unless a privileged role.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Tag-based masking:   </a:t>
            </a:r>
            <a:r>
              <a:rPr sz="1800">
                <a:solidFill>
                  <a:srgbClr val="1B1B33"/>
                </a:solidFill>
                <a:latin typeface="Segoe UI"/>
              </a:rPr>
              <a:t>tag a column once (PII, FINANCIAL) → policy applies everywhere; scales across domains automatically.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Row access policies:   </a:t>
            </a:r>
            <a:r>
              <a:rPr sz="1800">
                <a:solidFill>
                  <a:srgbClr val="1B1B33"/>
                </a:solidFill>
                <a:latin typeface="Segoe UI"/>
              </a:rPr>
              <a:t>tenant / region / business-unit isolation on shared tables — multi-tenant by design.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Auditing:   </a:t>
            </a:r>
            <a:r>
              <a:rPr sz="1800">
                <a:solidFill>
                  <a:srgbClr val="1B1B33"/>
                </a:solidFill>
                <a:latin typeface="Segoe UI"/>
              </a:rPr>
              <a:t>ACCESS_HISTORY answers 'who read ACCOUNT.ARR, and when'; ACCOUNT_USAGE for governance reporting.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Least privilege everywhere:   </a:t>
            </a:r>
            <a:r>
              <a:rPr sz="1800">
                <a:solidFill>
                  <a:srgbClr val="1B1B33"/>
                </a:solidFill>
                <a:latin typeface="Segoe UI"/>
              </a:rPr>
              <a:t>no static credentials — key-pair / OIDC only; secrets from env / secret manager.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Governance is data-driven: tag once, enforce everywhere, and prove access after the fact.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TRUST &amp; GOVERNANCE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Observability &amp; data SLAs from day one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17320"/>
            <a:ext cx="10972800" cy="4023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Monitor every source &amp; mart:   </a:t>
            </a:r>
            <a:r>
              <a:rPr sz="1800">
                <a:solidFill>
                  <a:srgbClr val="1B1B33"/>
                </a:solidFill>
                <a:latin typeface="Segoe UI"/>
              </a:rPr>
              <a:t>freshness, volume, schema, and quality checks — automated, not eyeballed.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Quality as code:   </a:t>
            </a:r>
            <a:r>
              <a:rPr sz="1800">
                <a:solidFill>
                  <a:srgbClr val="1B1B33"/>
                </a:solidFill>
                <a:latin typeface="Segoe UI"/>
              </a:rPr>
              <a:t>dbt tests + source freshness run in CI and in production; breaches alert immediately.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Published data SLAs:   </a:t>
            </a:r>
            <a:r>
              <a:rPr sz="1800">
                <a:solidFill>
                  <a:srgbClr val="1B1B33"/>
                </a:solidFill>
                <a:latin typeface="Segoe UI"/>
              </a:rPr>
              <a:t>each data product declares freshness, availability, and quality targets — and we measure them.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Pipeline observability:   </a:t>
            </a:r>
            <a:r>
              <a:rPr sz="1800">
                <a:solidFill>
                  <a:srgbClr val="1B1B33"/>
                </a:solidFill>
                <a:latin typeface="Segoe UI"/>
              </a:rPr>
              <a:t>run metadata, lineage, and failure alerting to Slack / on-call.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Cost observability:   </a:t>
            </a:r>
            <a:r>
              <a:rPr sz="1800">
                <a:solidFill>
                  <a:srgbClr val="1B1B33"/>
                </a:solidFill>
                <a:latin typeface="Segoe UI"/>
              </a:rPr>
              <a:t>per-warehouse / per-domain spend, query monitors, auto-suspend — FinOps built 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If it isn't measured, it isn't trusted — SLAs turn 'the data looks off' into an alert.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TRUST &amp; GOVERNANCE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CI/CD &amp; IaC — the delivery backbone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17320"/>
            <a:ext cx="10972800" cy="4023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Everything as code:   </a:t>
            </a:r>
            <a:r>
              <a:rPr sz="1800">
                <a:solidFill>
                  <a:srgbClr val="1B1B33"/>
                </a:solidFill>
                <a:latin typeface="Segoe UI"/>
              </a:rPr>
              <a:t>Terraform (infra + RBAC), dbt (transforms), Python (ingestion) — versioned &amp; reviewed.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PR-gated pipeline:   </a:t>
            </a:r>
            <a:r>
              <a:rPr sz="1800">
                <a:solidFill>
                  <a:srgbClr val="1B1B33"/>
                </a:solidFill>
                <a:latin typeface="Segoe UI"/>
              </a:rPr>
              <a:t>plan / lint / test on pull request → apply on merge; dev → prod environments.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Secure auth:   </a:t>
            </a:r>
            <a:r>
              <a:rPr sz="1800">
                <a:solidFill>
                  <a:srgbClr val="1B1B33"/>
                </a:solidFill>
                <a:latin typeface="Segoe UI"/>
              </a:rPr>
              <a:t>OIDC or key-pair — no static secrets; fork PRs never see production credentials.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Standards enforced:   </a:t>
            </a:r>
            <a:r>
              <a:rPr sz="1800">
                <a:solidFill>
                  <a:srgbClr val="1B1B33"/>
                </a:solidFill>
                <a:latin typeface="Segoe UI"/>
              </a:rPr>
              <a:t>sqlfluff, terraform fmt/validate, naming rules — the linter is the reviewer.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Idempotent &amp; safe:   </a:t>
            </a:r>
            <a:r>
              <a:rPr sz="1800">
                <a:solidFill>
                  <a:srgbClr val="1B1B33"/>
                </a:solidFill>
                <a:latin typeface="Segoe UI"/>
              </a:rPr>
              <a:t>scripts re-run cleanly and survive half-failures; a PR comment summarizes changes + tests.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The pipeline is the control plane — every change is reviewed, tested, and reversible.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DIFFERENTIATING PERSPECTIVE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Beyond the brief: making the platform AI-ready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114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The risk:   </a:t>
            </a:r>
            <a:r>
              <a:rPr sz="1800">
                <a:solidFill>
                  <a:srgbClr val="1B1B33"/>
                </a:solidFill>
                <a:latin typeface="Segoe UI"/>
              </a:rPr>
              <a:t>AI/LLM consumers will happily query ungoverned data and return confident, wrong answers.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Governed semantic / metrics layer:   </a:t>
            </a:r>
            <a:r>
              <a:rPr sz="1800">
                <a:solidFill>
                  <a:srgbClr val="1B1B33"/>
                </a:solidFill>
                <a:latin typeface="Segoe UI"/>
              </a:rPr>
              <a:t>define metrics once (revenue, pipeline, churn) → one source of truth for BI, notebooks, and LLMs.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Data contracts:   </a:t>
            </a:r>
            <a:r>
              <a:rPr sz="1800">
                <a:solidFill>
                  <a:srgbClr val="1B1B33"/>
                </a:solidFill>
                <a:latin typeface="Segoe UI"/>
              </a:rPr>
              <a:t>producers commit to schema + semantics; breaking changes are blocked in CI — trust shifts left.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AI consumes products, not raw:   </a:t>
            </a:r>
            <a:r>
              <a:rPr sz="1800">
                <a:solidFill>
                  <a:srgbClr val="1B1B33"/>
                </a:solidFill>
                <a:latin typeface="Segoe UI"/>
              </a:rPr>
              <a:t>RAG and agents read documented, contracted marts + the semantic layer — never RAW.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Governance travels to AI:   </a:t>
            </a:r>
            <a:r>
              <a:rPr sz="1800">
                <a:solidFill>
                  <a:srgbClr val="1B1B33"/>
                </a:solidFill>
                <a:latin typeface="Segoe UI"/>
              </a:rPr>
              <a:t>masking &amp; row-access policies apply to LLM service accounts too — a model can't leak ARR.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Trustworthy AI and trustworthy analytics come from the same governed foundation — the semantic layer is the interface.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WRAP-UP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Close: one foundation, analytics and AI on top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Foundation → pipelines → self-service → trust:   </a:t>
            </a:r>
            <a:r>
              <a:rPr sz="1800">
                <a:solidFill>
                  <a:srgbClr val="1B1B33"/>
                </a:solidFill>
                <a:latin typeface="Segoe UI"/>
              </a:rPr>
              <a:t>one governed, IaC-first platform serving every domain.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Buy the commodity, build the differentiator:   </a:t>
            </a:r>
            <a:r>
              <a:rPr sz="1800">
                <a:solidFill>
                  <a:srgbClr val="1B1B33"/>
                </a:solidFill>
                <a:latin typeface="Segoe UI"/>
              </a:rPr>
              <a:t>Fivetran for SaaS; custom Python for telemetry &amp; the semantic layer.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Guardrails as paved paths:   </a:t>
            </a:r>
            <a:r>
              <a:rPr sz="1800">
                <a:solidFill>
                  <a:srgbClr val="1B1B33"/>
                </a:solidFill>
                <a:latin typeface="Segoe UI"/>
              </a:rPr>
              <a:t>self-service onboarding, RBAC + masking, observability — built in from day one.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Key tradeoffs I'll defend:   </a:t>
            </a:r>
            <a:r>
              <a:rPr sz="1800">
                <a:solidFill>
                  <a:srgbClr val="1B1B33"/>
                </a:solidFill>
                <a:latin typeface="Segoe UI"/>
              </a:rPr>
              <a:t>Fivetran vs custom, incremental vs full-refresh, centralized vs federated (dbt Mesh).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Next — the hands-on build (RevOps):   </a:t>
            </a:r>
            <a:r>
              <a:rPr sz="1800">
                <a:solidFill>
                  <a:srgbClr val="1B1B33"/>
                </a:solidFill>
                <a:latin typeface="Segoe UI"/>
              </a:rPr>
              <a:t>RBAC + ARR masking · S3→Snowflake ingestion · dbt marts · PR-gated CI/CD.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The measure of the platform: how fast a federated team can ship something trustworthy on top of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INTERNALS · BONUS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Why VARIANT stays fast at scale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44652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Not a text blob:   </a:t>
            </a:r>
            <a:r>
              <a:rPr sz="1650">
                <a:solidFill>
                  <a:srgbClr val="1B1B33"/>
                </a:solidFill>
                <a:latin typeface="Segoe UI"/>
              </a:rPr>
              <a:t>each micro-partition shreds consistent JSON paths into typed, compressed sub-columns with min/max stats — native-column treatment.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Projection works:   </a:t>
            </a:r>
            <a:r>
              <a:rPr sz="1650">
                <a:solidFill>
                  <a:srgbClr val="1B1B33"/>
                </a:solidFill>
                <a:latin typeface="Segoe UI"/>
              </a:rPr>
              <a:t>selecting payload:properties.duration_ms reads only that sub-column off disk — never the whole document.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Pruning works:   </a:t>
            </a:r>
            <a:r>
              <a:rPr sz="1650">
                <a:solidFill>
                  <a:srgbClr val="1B1B33"/>
                </a:solidFill>
                <a:latin typeface="Segoe UI"/>
              </a:rPr>
              <a:t>filters on extracted paths skip whole micro-partitions via metadata — scan cost tracks the answer, not the table.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When it degrades:   </a:t>
            </a:r>
            <a:r>
              <a:rPr sz="1650">
                <a:solidFill>
                  <a:srgbClr val="1B1B33"/>
                </a:solidFill>
                <a:latin typeface="Segoe UI"/>
              </a:rPr>
              <a:t>wildly heterogeneous keys defeat sub-columnarization — promote hot filter / dedup keys to real columns (event_id).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Discipline &amp; limits:   </a:t>
            </a:r>
            <a:r>
              <a:rPr sz="1650">
                <a:solidFill>
                  <a:srgbClr val="1B1B33"/>
                </a:solidFill>
                <a:latin typeface="Segoe UI"/>
              </a:rPr>
              <a:t>16 MB per value (events are KBs); missing key → NULL, never an error; TRY_CAST + tests absorb type drift; marts never read payload.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4370832" cy="416052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1504" y="1572768"/>
            <a:ext cx="4078224" cy="3941063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A79FFF"/>
                </a:solidFill>
                <a:latin typeface="Consolas"/>
              </a:rPr>
              <a:t>VARIANT internals — sketch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inside one micro-partition,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payload VARIANT is stored as: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:event_id            -&gt; sub-col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:account_id          -&gt; sub-col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:properties.duration_ms -&gt; sub-col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...each with min/max stats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projection: reads ONE sub-column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SELECT payload:properties.duration_ms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FROM raw.product_events.page_views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pruning: skips micro-partitions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WHERE payload:event_timestamp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::timestamp_ntz &gt;= '2026-07-01'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drift-safe typing in staging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TRY_CAST(payload:properties.duration_ms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   AS INT)  </a:t>
            </a:r>
            <a:r>
              <a:rPr sz="1000">
                <a:solidFill>
                  <a:srgbClr val="8ED6B0"/>
                </a:solidFill>
                <a:latin typeface="Consolas"/>
              </a:rPr>
              <a:t>-- bad value -&gt; NULL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Schema-on-read is nearly free at query time — consistent paths are columnarized on write; type once in staging, downstream never parses JSON.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INTERNALS · BONUS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S3 layout &amp; hourly loads — append-only RAW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44652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One prefix per source object:   </a:t>
            </a:r>
            <a:r>
              <a:rPr sz="1650">
                <a:solidFill>
                  <a:srgbClr val="1B1B33"/>
                </a:solidFill>
                <a:latin typeface="Segoe UI"/>
              </a:rPr>
              <a:t>source/object/dt=YYYY-MM-DD/hr=HH/ — hourly runs list one narrow prefix; backfill = re-point at a date range; lifecycle rules attach per prefix.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Append new files, never replace:   </a:t>
            </a:r>
            <a:r>
              <a:rPr sz="1650">
                <a:solidFill>
                  <a:srgbClr val="1B1B33"/>
                </a:solidFill>
                <a:latin typeface="Segoe UI"/>
              </a:rPr>
              <a:t>RAW is an immutable log, not a mirror — 'latest' applies to which files we read this run, not to what we keep.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Idempotent in three layers:   </a:t>
            </a:r>
            <a:r>
              <a:rPr sz="1650">
                <a:solidFill>
                  <a:srgbClr val="1B1B33"/>
                </a:solidFill>
                <a:latin typeface="Segoe UI"/>
              </a:rPr>
              <a:t>COPY's 64-day file-load history (re-run loads zero) · _LOAD_LOG watermark + trailing-window rescan for late files · event_id dedup in staging.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Full refresh without mutation:   </a:t>
            </a:r>
            <a:r>
              <a:rPr sz="1650">
                <a:solidFill>
                  <a:srgbClr val="1B1B33"/>
                </a:solidFill>
                <a:latin typeface="Segoe UI"/>
              </a:rPr>
              <a:t>COPY FORCE=TRUE into a fresh table, then ALTER TABLE SWAP — rebuild history, never edit it.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COPY now, Snowpipe next:   </a:t>
            </a:r>
            <a:r>
              <a:rPr sz="1650">
                <a:solidFill>
                  <a:srgbClr val="1B1B33"/>
                </a:solidFill>
                <a:latin typeface="Segoe UI"/>
              </a:rPr>
              <a:t>scheduled Python + COPY keeps validation / quarantine / _LOAD_LOG in code; production evolution: Snowpipe auto-ingest per S3 event, no scheduler.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4370832" cy="416052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1504" y="1572768"/>
            <a:ext cx="4078224" cy="3941063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A79FFF"/>
                </a:solidFill>
                <a:latin typeface="Consolas"/>
              </a:rPr>
              <a:t>land hourly, append-only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s3://og-telemetry/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product_events/page_views/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dt=2026-07-12/hr=14/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page_views_1430_part001.json.gz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dt=2026-07-12/hr=15/ ...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hourly job: append new files only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COPY INTO raw.product_events.page_views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FROM @s3_stage/page_views/dt=2026-07-12/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FILE_FORMAT = (TYPE = 'JSON');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-- 64-day file history: re-run = 0 rows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staging: producer resends -&gt; 1 row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QUALIFY ROW_NUMBER() OVER (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PARTITION BY event_id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ORDER BY loaded_at DESC) =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Copy only the latest files, keep every row — append-only RAW plus three idempotency layers makes any re-run or backfill safe.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INTERNALS · BONUS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COPY INTO — load logs &amp; the 64-day horizon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44652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COPY returns a per-file result set:   </a:t>
            </a:r>
            <a:r>
              <a:rPr sz="1650">
                <a:solidFill>
                  <a:srgbClr val="1B1B33"/>
                </a:solidFill>
                <a:latin typeface="Segoe UI"/>
              </a:rPr>
              <a:t>rows_parsed / rows_loaded / errors per file — the Python job persists it to _LOAD_LOG; ours never expires.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Built-in audit views:   </a:t>
            </a:r>
            <a:r>
              <a:rPr sz="1650">
                <a:solidFill>
                  <a:srgbClr val="1B1B33"/>
                </a:solidFill>
                <a:latin typeface="Segoe UI"/>
              </a:rPr>
              <a:t>COPY_HISTORY table function = 14 days, per table; ACCOUNT_USAGE = 365 days, account-wide (~90 min lag).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The 64-day dedup horizon:   </a:t>
            </a:r>
            <a:r>
              <a:rPr sz="1650">
                <a:solidFill>
                  <a:srgbClr val="1B1B33"/>
                </a:solidFill>
                <a:latin typeface="Segoe UI"/>
              </a:rPr>
              <a:t>the internal metadata COPY uses to skip already-loaded files expires after 64 days — separate from the audit views.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Beyond 64 days = silent skip:   </a:t>
            </a:r>
            <a:r>
              <a:rPr sz="1650">
                <a:solidFill>
                  <a:srgbClr val="1B1B33"/>
                </a:solidFill>
                <a:latin typeface="Segoe UI"/>
              </a:rPr>
              <a:t>unknown-status files are skipped — a silent gap, not duplicates; backfill via LOAD_UNCERTAIN_FILES=TRUE or FORCE + SWAP.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Why three layers:   </a:t>
            </a:r>
            <a:r>
              <a:rPr sz="1650">
                <a:solidFill>
                  <a:srgbClr val="1B1B33"/>
                </a:solidFill>
                <a:latin typeface="Segoe UI"/>
              </a:rPr>
              <a:t>COPY history expires · watermarks miss late files · event_id dedup in staging never expires.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4370832" cy="416052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1504" y="1572768"/>
            <a:ext cx="4078224" cy="3941063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A79FFF"/>
                </a:solidFill>
                <a:latin typeface="Consolas"/>
              </a:rPr>
              <a:t>every load is observable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COPY's return: per-file summary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file | status | rows_parsed |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rows_loaded | first_error ...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-&gt; Python writes it to _LOAD_LOG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audit: last 14 days, this table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SELECT file_name, last_load_time,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 row_count, error_count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FROM TABLE(information_schema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.copy_history(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table_name =&gt; 'PAGE_VIEWS',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start_time =&gt; dateadd(day, -14,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current_timestamp())));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audit: 365 days, account-wide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SELECT * FROM snowflake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.account_usage.copy_history;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backfill older than 64 days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COPY INTO ...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LOAD_UNCERTAIN_FILES = TRUE;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Snowflake logs every COPY (14-day / 365-day views) and returns a per-file summary — persisting it in _LOAD_LOG gives an audit trail that outlives every retention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