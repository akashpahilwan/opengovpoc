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thesis: I build the factory, the governed foundation that lets every domain team ship analytics and AI on top, safely and fast. Today I'll walk foundation -&gt; pipelines -&gt; self-service -&gt; trust &amp; governance, then close with a forward-looking bet on making the platform AI-ready.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role: a platform engineer's customer is other engineers/analysts. The job is to make the right thing the easy thing. Stress federation with guardrails, central team owns the paved path, domains own their data products. These four principles recur on every later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anchor diagram, walk it left to right. Sources land via Fivetran (connectorized SaaS) or a custom Python path on AWS (S3 + Lambda) for telemetry and bespoke APIs. Everything lands in Snowflake RAW, then dbt promotes RAW→STAGING→MARTS, with SANDBOX for exploration. Consumers are BI, AI/ML + LLM/RAG, and reverse ETL. The navy band is the cross-cutting foundation that every layer sits on: IaC, RBAC+masking, observability, CI/CD. Invite the 'why Fivetran here, Lambda there' question, next slide answers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decision rule: buy vs build on control, cost curve, and whether a reliable connector exists. Fivetran wins for SaaS, someone else maintains the connector and absorbs API changes. Telemetry is the opposite: huge volume, simple shape, cost at Fivetran's per-row pricing would be brutal, and we want near-real-time via S3 events → Lambda. So we own that path. Be ready to defend the cost math.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directly answers 'we deploy objects via CI/CD, how does drift fit?'. Separate the two schemas. The SOURCE shape is uncontrolled and can change any time; OUR objects are code and change only via a reviewed, tested PR. RAW uses a VARIANT column so upstream additions need no DDL and never break a load, CI/CD does not run on every upstream change. Drift is detected against a contract and surfaced (additive) or quarantined + alerted (breaking), but never auto-alters a deployed table. To make a new field real, an engineer adds one typed column in dbt via a PR; contracts + tests run in CI as the tripwire. Fivetran is the contrast: it is schema-on-WRITE, it types columns and ALTERs its own RAW tables when the source drifts, so the read-time boundary moves one layer down: dbt sources select only the columns we depend on, and the source contract + tests fail CI before bad data flows downstream. Crisp framing if pushed: schema-on-read is a property of the RAW layer. In the custom path we own RAW, so we land VARIANT and type late; in the Fivetran path Fivetran owns and evolves RAW, so our read-time contract is the dbt source. Either way, a new field enters the deployed model only through a reviewed PR. Use CREATE OR ALTER / additive, idempotent migrations so redeploys are safe on half-failures.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is the system of record, never mutate it. Partition for replay and cheap pruning. The quarantine + load-log pattern gives operability: you can always answer 'did the 09:00 file land, and how many rows did we reject?' This maps one-to-one to the PAGE_VIEWS ingestion I build in Part 2, including the intentional null user_id record that gets quarantined.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Database-per-layer (vs schema-per-layer) gives cleaner grants and isolation, and scales to many domains: RAW holds source schemas, MARTS holds domain schemas. Separate warehouses stop a heavy dbt run from starving BI, and make cost attributable. Prod is only ever changed through CI.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1-to-10-domains question lives here. Answer: don't grow one monolith, split by domain with clear ownership, and use dbt Mesh contracts as the interface between domains. Public models are the API; internals can refactor freely. Incremental vs full-refresh is a volume/cost decision. Mention mart_revops__pipeline (Part 2) would be exposed as a PUBLIC contracted model.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'factory' payoff and a differentiator vs teams that hand-craft each domain. A single opinionated Terraform module encodes all standards, so every new domain is born compliant. Teams self-serve via PR; the platform team reviews the module, not every request. This is how RBAC actually scales to 10 domains, it's generated, not hand-written.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Snowflake's recommended two-tier model: access roles hold object privileges; functional roles (job-based) inherit access roles; users get functional roles. Why it scales: access roles are reusable primitives, so a 10th domain is a generated set of roles, no bespoke grant spaghetti. Service accounts get their own functional roles (dbt vs human analyst). Row-access policies enforce tenant/region isolation on shared tables. This exact model is what I build in Part 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REWRITTEN to what we actually built, not generic SLA talk. Concrete artifacts: the PAGE_VIEWS_LOAD_LOG row-per-run + quarantine table give load observability and a reject rate; dbt tests gate every CI build; COPY_HISTORY / ACCESS_HISTORY / POLICY_REFERENCES are the native audit surfaces (ACCESS_HISTORY answers the ARR probe); per-role warehouses make cost attributable. Full published SLAs (freshness targets, alerting to Slack/on-call) are the honest next step on top of these.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my point of view. The trap everyone is walking into: pointing LLMs at raw warehouses. Without a semantic layer, the model guesses join logic and metric definitions, confidently wrong. Solution: a governed metrics/semantic layer as the single interface for humans AND AI, plus data contracts enforced in CI so definitions can't silently drift. Crucially, Snowflake's masking/row policies apply to the LLM's service account, governance isn't bypassed by AI. This is how OpenGov gets trustworthy AI, not just more AI.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Orient the panel: this is the same architecture, now real. Each bullet is a deliverable I can open live. Emphasize config-driven + CI-deployed, no click-ops.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each layer: ingestion roles are scoped to exactly their landing schema (Fivetran owns its DDL; the ADLS loader is DML-only against a platform-owned contract). Shared STAGING/MARTS are written ONLY by REVOPS_DEVELOPER through the dbt CI job, no human holds that role. Readers read all; analysts read marts; a domain analyst is scoped to that domain's marts (FINANCE_ANALYST in the appendix).</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Demo-able: query ACCOUNT.ARR as REVOPS_READER (NULL) vs the mart as REVOPS_ANALYST (real). Stress the tag→policy re-bind is the one non-declarative step, and CI owns it. Audit via ACCESS_HISTORY answers 'who read ARR, when'.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brief's ingestion task, 1:1, only S3 became ADLS (owner decision, boto3 pattern ported to the Azure Blob SDK). The null-user_id record from the sample payload is exactly what the quarantine catches. Partial-batch: good rows commit, bad rows quarantine, never fail the whole file. Lambda-on-arrival and a second event type (config-driven) are the extension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Native dbt on Snowflake: the repo runs as a DBT PROJECT object, executed in-account as REVOPS_DEVELOPER, the CI runner never builds models. Incremental vs full-refresh is the volume decision (appendix). mart_revops__pipeline is the mesh public model.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env story: DEV database hosts BOTH the per-developer sandboxes (target dev) and the QA/preprod integration schemas (target preprod, built on merge to dev). PROD is a separate database, built on merge to main behind a protected GitHub Environment. Auth is key-pair from secrets; secrets are only available post-merge, so a malicious PR can't reach them. A manual full-refresh workflow handles incremental logic fixes.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'paved path' for a person. The composite role is the key design: read everything, write only your sandbox, one role active, no secondary-role ambiguity. Onboarding is a two-line PR (demonstrated live with AKASHPAHILWAN, SOURABH_SHINDE, ANUJKUMAR).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thesis: platform-as-product, governed by default, self-service, running end-to-end. Invite deep-dive questions, the appendix has the internals.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 answer to 'how does this scale to 10 domains + how do you handle service vs human + audit'. The FINANCE_ANALYST demo is the concrete proof of domain-scoped least privilege, built and verified live.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'incremental vs full-refresh' probe. The non-obvious operational point: an incremental logic fix requires a full-refresh, which is why there's a dedicated workflow with all/modified scope. Grounded in a real bug we fixed.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Hits every CI/CD probe: OIDC/key-pair, protecting secrets from fork PRs, idempotency + half-failure safety, linting/naming. The drift check + sync_config validation are our 'linting'; remote state + post-merge-only secrets are the security spine.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BONUS / HIDDEN, pull up only if the panel digs into VARIANT performance. Key message: VARIANT is not a JSON string column. On write, Snowflake examines paths that occur consistently across rows in a micro-partition and stores each as its own typed, compressed sub-column with min/max metadata, so path projection and partition pruning behave like native columns. It degrades only when keys are wildly inconsistent row-to-row; the fix is promoting hot keys (event_id) to real columns, which we do anyway for dedup. Drift behavior: missing key reads as NULL (never an error), new keys are invisible until a PR selects them, and TRY_CAST + dbt tests turn type drift into a quarantine signal instead of a failed job. 16 MB/value limit is ~4 orders of magnitude above a telemetry event. One-breath close: 'stable RAW DDL, columnarized paths, type once in incremental staging, downstream never touches JSON.'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BONUS / HIDDEN, pull up if asked about bucket layout, hourly cadence, or 'why not Snowpipe'. Hive-style dt=/hr= prefixes sort lexicographically by time, so the watermark is just the last processed prefix; re-scan a trailing 24-48h window so late-arriving files in an old hour still load (COPY's file history dedups the overlap for free). Append-only stance: never 'replace with latest', RAW keeps every loaded row; dedup and current-state are computed in staging (QUALIFY on event_id). Snowpipe question: for the case-study deliverable I keep a scheduled Python job + COPY, because the assessed logic, schema validation, quarantine, _LOAD_LOG summary, lives in that code, and hourly batch on an XS warehouse is cheap. In production, with files landing continuously, I'd flip to Snowpipe: S3 event notification -&gt; per-file auto-ingest, exactly-once per file, ~1-minute latency, no scheduler or watermark logic at all; validation then moves to a post-load stream/task. Same table, same append-only contract, only the trigger changes. 64-day detail: COPY's per-file load history EXPIRES after 64 days. A backfill touching older files is silently SKIPPED by default (status unknown -&gt; skip, no error, a silent gap, not duplicates). Deliberate old backfill: set LOAD_UNCERTAIN_FILES=TRUE (staging's event_id dedup absorbs any repeats) or FORCE=TRUE into a fresh table + SWAP. This expiry is exactly why the design has three layers, COPY history expires, a watermark can miss late files, so event_id dedup in staging is the backstop that never expires.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BONUS / HIDDEN, pull up for 'can we see what COPY loaded?' or the 64-day follow-up. Three observable layers: (1) COPY INTO itself returns a result set, one row per file with status, rows_parsed, rows_loaded, errors_seen, first_error, and the Part 2 Python job captures exactly this into _LOAD_LOG, which is the brief's load-summary requirement and lives forever. (2) COPY_HISTORY / LOAD_HISTORY: INFORMATION_SCHEMA table functions keep 14 days per table; SNOWFLAKE.ACCOUNT_USAGE views keep 365 days account-wide with up to ~90 min latency, these are audit/observability surfaces. (3) Distinct from both: the internal per-file dedup metadata COPY consults to skip already-loaded files, 64-day lifetime, not directly queryable. Beyond 64 days the load status is 'unknown' and COPY silently SKIPS the file by default (gap, not duplicates); deliberate backfills set LOAD_UNCERTAIN_FILES=TRUE and let staging's event_id dedup absorb repeats, or rebuild with FORCE=TRUE + SWAP. Close with the three-layer line: history expires, watermarks miss late files, staging dedup never expires.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91552"/>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1211580" y="1531620"/>
            <a:ext cx="1234440" cy="1234440"/>
          </a:xfrm>
          <a:prstGeom prst="ellipse">
            <a:avLst/>
          </a:prstGeom>
        </p:spPr>
      </p:pic>
      <p:sp>
        <p:nvSpPr>
          <p:cNvPr id="4" name="TextBox 3"/>
          <p:cNvSpPr txBox="1"/>
          <p:nvPr/>
        </p:nvSpPr>
        <p:spPr>
          <a:xfrm>
            <a:off x="1737360" y="3154680"/>
            <a:ext cx="9875520" cy="2377440"/>
          </a:xfrm>
          <a:prstGeom prst="rect">
            <a:avLst/>
          </a:prstGeom>
          <a:noFill/>
        </p:spPr>
        <p:txBody>
          <a:bodyPr wrap="square" lIns="36576" rIns="36576" tIns="18288" bIns="18288">
            <a:spAutoFit/>
          </a:bodyPr>
          <a:lstStyle/>
          <a:p>
            <a:r>
              <a:rPr sz="4600" b="1">
                <a:solidFill>
                  <a:srgbClr val="FFFFFF"/>
                </a:solidFill>
                <a:latin typeface="Segoe UI"/>
              </a:rPr>
              <a:t>OpenGov Data Platform</a:t>
            </a:r>
          </a:p>
          <a:p>
            <a:pPr>
              <a:spcBef>
                <a:spcPts val="600"/>
              </a:spcBef>
            </a:pPr>
            <a:r>
              <a:rPr sz="2000">
                <a:solidFill>
                  <a:srgbClr val="A79FFF"/>
                </a:solidFill>
                <a:latin typeface="Segoe UI"/>
              </a:rPr>
              <a:t>Architecture &amp; Data Foundation  ·  Hands-On Build (RevOps)</a:t>
            </a:r>
          </a:p>
          <a:p>
            <a:pPr>
              <a:spcBef>
                <a:spcPts val="1800"/>
              </a:spcBef>
            </a:pPr>
            <a:r>
              <a:rPr sz="1500">
                <a:solidFill>
                  <a:srgbClr val="C7D3E0"/>
                </a:solidFill>
                <a:latin typeface="Segoe UI"/>
              </a:rPr>
              <a:t>Case Study Presentation</a:t>
            </a:r>
          </a:p>
          <a:p>
            <a:r>
              <a:rPr sz="1500" b="1">
                <a:solidFill>
                  <a:srgbClr val="FFFFFF"/>
                </a:solidFill>
                <a:latin typeface="Segoe UI"/>
              </a:rPr>
              <a:t>Akash Pahilwan  ·  Senior Data Platform Engineer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191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292"/>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875520" cy="841248"/>
          </a:xfrm>
          <a:prstGeom prst="rect">
            <a:avLst/>
          </a:prstGeom>
          <a:noFill/>
        </p:spPr>
        <p:txBody>
          <a:bodyPr wrap="square" lIns="36576" rIns="36576" tIns="18288" bIns="18288" anchor="ctr">
            <a:spAutoFit/>
          </a:bodyPr>
          <a:lstStyle/>
          <a:p>
            <a:pPr>
              <a:spcAft>
                <a:spcPts val="100"/>
              </a:spcAft>
            </a:pPr>
            <a:r>
              <a:rPr sz="1100" b="1">
                <a:solidFill>
                  <a:srgbClr val="A79FFF"/>
                </a:solidFill>
                <a:latin typeface="Segoe UI"/>
              </a:rPr>
              <a:t>FOUNDATION</a:t>
            </a:r>
          </a:p>
          <a:p>
            <a:r>
              <a:rPr sz="2600" b="1">
                <a:solidFill>
                  <a:srgbClr val="FFFFFF"/>
                </a:solidFill>
                <a:latin typeface="Segoe UI"/>
              </a:rPr>
              <a:t>The platform is a product, I build the factory</a:t>
            </a:r>
          </a:p>
        </p:txBody>
      </p:sp>
      <p:pic>
        <p:nvPicPr>
          <p:cNvPr id="5" name="Picture 4" descr="image.png"/>
          <p:cNvPicPr>
            <a:picLocks noChangeAspect="1"/>
          </p:cNvPicPr>
          <p:nvPr/>
        </p:nvPicPr>
        <p:blipFill>
          <a:blip r:embed="rId2"/>
          <a:stretch>
            <a:fillRect/>
          </a:stretch>
        </p:blipFill>
        <p:spPr>
          <a:xfrm>
            <a:off x="11259006" y="237744"/>
            <a:ext cx="548640" cy="548640"/>
          </a:xfrm>
          <a:prstGeom prst="ellipse">
            <a:avLst/>
          </a:prstGeom>
        </p:spPr>
      </p:pic>
      <p:sp>
        <p:nvSpPr>
          <p:cNvPr id="6" name="TextBox 5"/>
          <p:cNvSpPr txBox="1"/>
          <p:nvPr/>
        </p:nvSpPr>
        <p:spPr>
          <a:xfrm>
            <a:off x="640080" y="1371600"/>
            <a:ext cx="10972800" cy="4206240"/>
          </a:xfrm>
          <a:prstGeom prst="rect">
            <a:avLst/>
          </a:prstGeom>
          <a:noFill/>
        </p:spPr>
        <p:txBody>
          <a:bodyPr wrap="square" lIns="36576" rIns="36576" tIns="18288" bIns="18288">
            <a:spAutoFit/>
          </a:bodyPr>
          <a:lstStyle/>
          <a:p>
            <a:pPr>
              <a:lnSpc>
                <a:spcPct val="107000"/>
              </a:lnSpc>
              <a:spcAft>
                <a:spcPts val="800"/>
              </a:spcAft>
            </a:pPr>
            <a:r>
              <a:rPr sz="1900">
                <a:solidFill>
                  <a:srgbClr val="4A3FFF"/>
                </a:solidFill>
                <a:latin typeface="Segoe UI"/>
              </a:rPr>
              <a:t>▸  </a:t>
            </a:r>
            <a:r>
              <a:rPr b="1" sz="1900">
                <a:solidFill>
                  <a:srgbClr val="1B1B33"/>
                </a:solidFill>
                <a:latin typeface="Segoe UI"/>
              </a:rPr>
              <a:t>The mandate:   </a:t>
            </a:r>
            <a:r>
              <a:rPr sz="1900">
                <a:solidFill>
                  <a:srgbClr val="1B1B33"/>
                </a:solidFill>
                <a:latin typeface="Segoe UI"/>
              </a:rPr>
              <a:t>One governed foundation powering analytics and AI across GTM, Finance, Product, and HR/People.</a:t>
            </a:r>
          </a:p>
          <a:p>
            <a:pPr>
              <a:lnSpc>
                <a:spcPct val="107000"/>
              </a:lnSpc>
              <a:spcAft>
                <a:spcPts val="800"/>
              </a:spcAft>
            </a:pPr>
            <a:r>
              <a:rPr sz="1900">
                <a:solidFill>
                  <a:srgbClr val="4A3FFF"/>
                </a:solidFill>
                <a:latin typeface="Segoe UI"/>
              </a:rPr>
              <a:t>▸  </a:t>
            </a:r>
            <a:r>
              <a:rPr b="1" sz="1900">
                <a:solidFill>
                  <a:srgbClr val="1B1B33"/>
                </a:solidFill>
                <a:latin typeface="Segoe UI"/>
              </a:rPr>
              <a:t>Federated, not centralized:   </a:t>
            </a:r>
            <a:r>
              <a:rPr sz="1900">
                <a:solidFill>
                  <a:srgbClr val="1B1B33"/>
                </a:solidFill>
                <a:latin typeface="Segoe UI"/>
              </a:rPr>
              <a:t>Domain teams build on a paved path with guardrails, self-service, not a ticket queue.</a:t>
            </a:r>
          </a:p>
          <a:p>
            <a:pPr>
              <a:lnSpc>
                <a:spcPct val="107000"/>
              </a:lnSpc>
              <a:spcAft>
                <a:spcPts val="800"/>
              </a:spcAft>
            </a:pPr>
            <a:r>
              <a:rPr sz="1900">
                <a:solidFill>
                  <a:srgbClr val="4A3FFF"/>
                </a:solidFill>
                <a:latin typeface="Segoe UI"/>
              </a:rPr>
              <a:t>▸  </a:t>
            </a:r>
            <a:r>
              <a:rPr b="1" sz="1900">
                <a:solidFill>
                  <a:srgbClr val="1B1B33"/>
                </a:solidFill>
                <a:latin typeface="Segoe UI"/>
              </a:rPr>
              <a:t>Four principles guide every decision:</a:t>
            </a:r>
          </a:p>
          <a:p>
            <a:pPr>
              <a:lnSpc>
                <a:spcPct val="107000"/>
              </a:lnSpc>
              <a:spcAft>
                <a:spcPts val="300"/>
              </a:spcAft>
            </a:pPr>
            <a:r>
              <a:rPr sz="1600">
                <a:solidFill>
                  <a:srgbClr val="5C5B77"/>
                </a:solidFill>
                <a:latin typeface="Segoe UI"/>
              </a:rPr>
              <a:t>        ·  </a:t>
            </a:r>
            <a:r>
              <a:rPr b="1" sz="1600">
                <a:solidFill>
                  <a:srgbClr val="1B1B33"/>
                </a:solidFill>
                <a:latin typeface="Segoe UI"/>
              </a:rPr>
              <a:t>Governed by default   </a:t>
            </a:r>
            <a:r>
              <a:rPr sz="1600">
                <a:solidFill>
                  <a:srgbClr val="3E3D5C"/>
                </a:solidFill>
                <a:latin typeface="Segoe UI"/>
              </a:rPr>
              <a:t>RBAC, masking, and lineage are built in, not bolted on.</a:t>
            </a:r>
          </a:p>
          <a:p>
            <a:pPr>
              <a:lnSpc>
                <a:spcPct val="107000"/>
              </a:lnSpc>
              <a:spcAft>
                <a:spcPts val="300"/>
              </a:spcAft>
            </a:pPr>
            <a:r>
              <a:rPr sz="1600">
                <a:solidFill>
                  <a:srgbClr val="5C5B77"/>
                </a:solidFill>
                <a:latin typeface="Segoe UI"/>
              </a:rPr>
              <a:t>        ·  </a:t>
            </a:r>
            <a:r>
              <a:rPr b="1" sz="1600">
                <a:solidFill>
                  <a:srgbClr val="1B1B33"/>
                </a:solidFill>
                <a:latin typeface="Segoe UI"/>
              </a:rPr>
              <a:t>Self-service paved path   </a:t>
            </a:r>
            <a:r>
              <a:rPr sz="1600">
                <a:solidFill>
                  <a:srgbClr val="3E3D5C"/>
                </a:solidFill>
                <a:latin typeface="Segoe UI"/>
              </a:rPr>
              <a:t>Golden templates + IaC modules; onboard a domain in a PR.</a:t>
            </a:r>
          </a:p>
          <a:p>
            <a:pPr>
              <a:lnSpc>
                <a:spcPct val="107000"/>
              </a:lnSpc>
              <a:spcAft>
                <a:spcPts val="300"/>
              </a:spcAft>
            </a:pPr>
            <a:r>
              <a:rPr sz="1600">
                <a:solidFill>
                  <a:srgbClr val="5C5B77"/>
                </a:solidFill>
                <a:latin typeface="Segoe UI"/>
              </a:rPr>
              <a:t>        ·  </a:t>
            </a:r>
            <a:r>
              <a:rPr b="1" sz="1600">
                <a:solidFill>
                  <a:srgbClr val="1B1B33"/>
                </a:solidFill>
                <a:latin typeface="Segoe UI"/>
              </a:rPr>
              <a:t>Observable &amp; SLA-driven   </a:t>
            </a:r>
            <a:r>
              <a:rPr sz="1600">
                <a:solidFill>
                  <a:srgbClr val="3E3D5C"/>
                </a:solidFill>
                <a:latin typeface="Segoe UI"/>
              </a:rPr>
              <a:t>Freshness, quality, and cost measured from day one.</a:t>
            </a:r>
          </a:p>
          <a:p>
            <a:pPr>
              <a:lnSpc>
                <a:spcPct val="107000"/>
              </a:lnSpc>
              <a:spcAft>
                <a:spcPts val="300"/>
              </a:spcAft>
            </a:pPr>
            <a:r>
              <a:rPr sz="1600">
                <a:solidFill>
                  <a:srgbClr val="5C5B77"/>
                </a:solidFill>
                <a:latin typeface="Segoe UI"/>
              </a:rPr>
              <a:t>        ·  </a:t>
            </a:r>
            <a:r>
              <a:rPr b="1" sz="1600">
                <a:solidFill>
                  <a:srgbClr val="1B1B33"/>
                </a:solidFill>
                <a:latin typeface="Segoe UI"/>
              </a:rPr>
              <a:t>IaC-first &amp; reproducible   </a:t>
            </a:r>
            <a:r>
              <a:rPr sz="1600">
                <a:solidFill>
                  <a:srgbClr val="3E3D5C"/>
                </a:solidFill>
                <a:latin typeface="Segoe UI"/>
              </a:rPr>
              <a:t>Everything is code, tested in CI, rebuildable in any environment.</a:t>
            </a:r>
          </a:p>
        </p:txBody>
      </p:sp>
      <p:sp>
        <p:nvSpPr>
          <p:cNvPr id="7" name="Rounded Rectangle 6"/>
          <p:cNvSpPr/>
          <p:nvPr/>
        </p:nvSpPr>
        <p:spPr>
          <a:xfrm>
            <a:off x="502920" y="5806440"/>
            <a:ext cx="11183112" cy="457200"/>
          </a:xfrm>
          <a:prstGeom prst="roundRect">
            <a:avLst/>
          </a:prstGeom>
          <a:solidFill>
            <a:srgbClr val="ECE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06440"/>
            <a:ext cx="82296" cy="457200"/>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806440"/>
            <a:ext cx="10789920" cy="457200"/>
          </a:xfrm>
          <a:prstGeom prst="rect">
            <a:avLst/>
          </a:prstGeom>
          <a:noFill/>
        </p:spPr>
        <p:txBody>
          <a:bodyPr wrap="square" lIns="36576" rIns="36576" tIns="18288" bIns="18288" anchor="ctr">
            <a:spAutoFit/>
          </a:bodyPr>
          <a:lstStyle/>
          <a:p>
            <a:r>
              <a:rPr b="1" sz="1300">
                <a:solidFill>
                  <a:srgbClr val="3B34B8"/>
                </a:solidFill>
                <a:latin typeface="Segoe UI"/>
              </a:rPr>
              <a:t>Takeaway   </a:t>
            </a:r>
            <a:r>
              <a:rPr sz="1300">
                <a:solidFill>
                  <a:srgbClr val="1B1B33"/>
                </a:solidFill>
                <a:latin typeface="Segoe UI"/>
              </a:rPr>
              <a:t>Trust and speed are not a trade-off, the right guardrails deliver both.</a:t>
            </a:r>
          </a:p>
        </p:txBody>
      </p:sp>
      <p:sp>
        <p:nvSpPr>
          <p:cNvPr id="10" name="TextBox 9"/>
          <p:cNvSpPr txBox="1"/>
          <p:nvPr/>
        </p:nvSpPr>
        <p:spPr>
          <a:xfrm>
            <a:off x="502920" y="6455664"/>
            <a:ext cx="7315200" cy="320040"/>
          </a:xfrm>
          <a:prstGeom prst="rect">
            <a:avLst/>
          </a:prstGeom>
          <a:noFill/>
        </p:spPr>
        <p:txBody>
          <a:bodyPr wrap="square" lIns="36576" rIns="36576" tIns="18288" bIns="18288">
            <a:spAutoFit/>
          </a:bodyPr>
          <a:lstStyle/>
          <a:p>
            <a:r>
              <a:rPr sz="900">
                <a:solidFill>
                  <a:srgbClr val="5C5B77"/>
                </a:solidFill>
                <a:latin typeface="Segoe UI"/>
              </a:rPr>
              <a:t>OpenGov Data Platform  ·  Case Study  ·  Akash Pahilwan</a:t>
            </a:r>
          </a:p>
        </p:txBody>
      </p:sp>
      <p:sp>
        <p:nvSpPr>
          <p:cNvPr id="11" name="TextBox 10"/>
          <p:cNvSpPr txBox="1"/>
          <p:nvPr/>
        </p:nvSpPr>
        <p:spPr>
          <a:xfrm>
            <a:off x="10911535" y="6455664"/>
            <a:ext cx="822960" cy="320040"/>
          </a:xfrm>
          <a:prstGeom prst="rect">
            <a:avLst/>
          </a:prstGeom>
          <a:noFill/>
        </p:spPr>
        <p:txBody>
          <a:bodyPr wrap="square" lIns="36576" rIns="36576" tIns="18288" bIns="18288">
            <a:spAutoFit/>
          </a:bodyPr>
          <a:lstStyle/>
          <a:p>
            <a:pPr algn="r"/>
            <a:r>
              <a:rPr sz="900">
                <a:solidFill>
                  <a:srgbClr val="5C5B77"/>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191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292"/>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875520" cy="841248"/>
          </a:xfrm>
          <a:prstGeom prst="rect">
            <a:avLst/>
          </a:prstGeom>
          <a:noFill/>
        </p:spPr>
        <p:txBody>
          <a:bodyPr wrap="square" lIns="36576" rIns="36576" tIns="18288" bIns="18288" anchor="ctr">
            <a:spAutoFit/>
          </a:bodyPr>
          <a:lstStyle/>
          <a:p>
            <a:pPr>
              <a:spcAft>
                <a:spcPts val="100"/>
              </a:spcAft>
            </a:pPr>
            <a:r>
              <a:rPr sz="1100" b="1">
                <a:solidFill>
                  <a:srgbClr val="A79FFF"/>
                </a:solidFill>
                <a:latin typeface="Segoe UI"/>
              </a:rPr>
              <a:t>FOUNDATION</a:t>
            </a:r>
          </a:p>
          <a:p>
            <a:r>
              <a:rPr sz="2600" b="1">
                <a:solidFill>
                  <a:srgbClr val="FFFFFF"/>
                </a:solidFill>
                <a:latin typeface="Segoe UI"/>
              </a:rPr>
              <a:t>Target-state architecture: source → dashboard</a:t>
            </a:r>
          </a:p>
        </p:txBody>
      </p:sp>
      <p:pic>
        <p:nvPicPr>
          <p:cNvPr id="5" name="Picture 4" descr="image.png"/>
          <p:cNvPicPr>
            <a:picLocks noChangeAspect="1"/>
          </p:cNvPicPr>
          <p:nvPr/>
        </p:nvPicPr>
        <p:blipFill>
          <a:blip r:embed="rId2"/>
          <a:stretch>
            <a:fillRect/>
          </a:stretch>
        </p:blipFill>
        <p:spPr>
          <a:xfrm>
            <a:off x="11259006" y="237744"/>
            <a:ext cx="548640" cy="548640"/>
          </a:xfrm>
          <a:prstGeom prst="ellipse">
            <a:avLst/>
          </a:prstGeom>
        </p:spPr>
      </p:pic>
      <p:sp>
        <p:nvSpPr>
          <p:cNvPr id="6" name="TextBox 5"/>
          <p:cNvSpPr txBox="1"/>
          <p:nvPr/>
        </p:nvSpPr>
        <p:spPr>
          <a:xfrm>
            <a:off x="502920" y="1307592"/>
            <a:ext cx="2057400" cy="274320"/>
          </a:xfrm>
          <a:prstGeom prst="rect">
            <a:avLst/>
          </a:prstGeom>
          <a:noFill/>
        </p:spPr>
        <p:txBody>
          <a:bodyPr wrap="square" lIns="36576" rIns="36576" tIns="18288" bIns="18288">
            <a:spAutoFit/>
          </a:bodyPr>
          <a:lstStyle/>
          <a:p>
            <a:pPr algn="ctr"/>
            <a:r>
              <a:rPr sz="1000" b="1">
                <a:solidFill>
                  <a:srgbClr val="3B34B8"/>
                </a:solidFill>
                <a:latin typeface="Segoe UI"/>
              </a:rPr>
              <a:t>SOURCES</a:t>
            </a:r>
          </a:p>
        </p:txBody>
      </p:sp>
      <p:sp>
        <p:nvSpPr>
          <p:cNvPr id="7" name="Rounded Rectangle 6"/>
          <p:cNvSpPr/>
          <p:nvPr/>
        </p:nvSpPr>
        <p:spPr>
          <a:xfrm>
            <a:off x="502920" y="1600200"/>
            <a:ext cx="2057400" cy="530352"/>
          </a:xfrm>
          <a:prstGeom prst="roundRect">
            <a:avLst/>
          </a:prstGeom>
          <a:solidFill>
            <a:srgbClr val="3B34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FFFFFF"/>
                </a:solidFill>
                <a:latin typeface="Segoe UI"/>
              </a:rPr>
              <a:t>Salesforce  (GTM)</a:t>
            </a:r>
          </a:p>
        </p:txBody>
      </p:sp>
      <p:sp>
        <p:nvSpPr>
          <p:cNvPr id="8" name="Rounded Rectangle 7"/>
          <p:cNvSpPr/>
          <p:nvPr/>
        </p:nvSpPr>
        <p:spPr>
          <a:xfrm>
            <a:off x="502920" y="2258568"/>
            <a:ext cx="2057400" cy="530352"/>
          </a:xfrm>
          <a:prstGeom prst="roundRect">
            <a:avLst/>
          </a:prstGeom>
          <a:solidFill>
            <a:srgbClr val="3B34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FFFFFF"/>
                </a:solidFill>
                <a:latin typeface="Segoe UI"/>
              </a:rPr>
              <a:t>Marketo  (GTM)</a:t>
            </a:r>
          </a:p>
        </p:txBody>
      </p:sp>
      <p:sp>
        <p:nvSpPr>
          <p:cNvPr id="9" name="Rounded Rectangle 8"/>
          <p:cNvSpPr/>
          <p:nvPr/>
        </p:nvSpPr>
        <p:spPr>
          <a:xfrm>
            <a:off x="502920" y="2916936"/>
            <a:ext cx="2057400" cy="530352"/>
          </a:xfrm>
          <a:prstGeom prst="roundRect">
            <a:avLst/>
          </a:prstGeom>
          <a:solidFill>
            <a:srgbClr val="3B34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FFFFFF"/>
                </a:solidFill>
                <a:latin typeface="Segoe UI"/>
              </a:rPr>
              <a:t>NetSuite  (Finance)</a:t>
            </a:r>
          </a:p>
        </p:txBody>
      </p:sp>
      <p:sp>
        <p:nvSpPr>
          <p:cNvPr id="10" name="Rounded Rectangle 9"/>
          <p:cNvSpPr/>
          <p:nvPr/>
        </p:nvSpPr>
        <p:spPr>
          <a:xfrm>
            <a:off x="502920" y="3575304"/>
            <a:ext cx="2057400" cy="530352"/>
          </a:xfrm>
          <a:prstGeom prst="roundRect">
            <a:avLst/>
          </a:prstGeom>
          <a:solidFill>
            <a:srgbClr val="2A24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FFFFFF"/>
                </a:solidFill>
                <a:latin typeface="Segoe UI"/>
              </a:rPr>
              <a:t>Telemetry  (Product)</a:t>
            </a:r>
          </a:p>
        </p:txBody>
      </p:sp>
      <p:sp>
        <p:nvSpPr>
          <p:cNvPr id="11" name="Rounded Rectangle 10"/>
          <p:cNvSpPr/>
          <p:nvPr/>
        </p:nvSpPr>
        <p:spPr>
          <a:xfrm>
            <a:off x="502920" y="4233672"/>
            <a:ext cx="2057400" cy="530352"/>
          </a:xfrm>
          <a:prstGeom prst="roundRect">
            <a:avLst/>
          </a:prstGeom>
          <a:solidFill>
            <a:srgbClr val="3B34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FFFFFF"/>
                </a:solidFill>
                <a:latin typeface="Segoe UI"/>
              </a:rPr>
              <a:t>Workday  (HR)</a:t>
            </a:r>
          </a:p>
        </p:txBody>
      </p:sp>
      <p:sp>
        <p:nvSpPr>
          <p:cNvPr id="12" name="TextBox 11"/>
          <p:cNvSpPr txBox="1"/>
          <p:nvPr/>
        </p:nvSpPr>
        <p:spPr>
          <a:xfrm>
            <a:off x="2880360" y="1307592"/>
            <a:ext cx="2286000" cy="274320"/>
          </a:xfrm>
          <a:prstGeom prst="rect">
            <a:avLst/>
          </a:prstGeom>
          <a:noFill/>
        </p:spPr>
        <p:txBody>
          <a:bodyPr wrap="square" lIns="36576" rIns="36576" tIns="18288" bIns="18288">
            <a:spAutoFit/>
          </a:bodyPr>
          <a:lstStyle/>
          <a:p>
            <a:pPr algn="ctr"/>
            <a:r>
              <a:rPr sz="1000" b="1">
                <a:solidFill>
                  <a:srgbClr val="3B34B8"/>
                </a:solidFill>
                <a:latin typeface="Segoe UI"/>
              </a:rPr>
              <a:t>INGESTION</a:t>
            </a:r>
          </a:p>
        </p:txBody>
      </p:sp>
      <p:sp>
        <p:nvSpPr>
          <p:cNvPr id="13" name="Rounded Rectangle 12"/>
          <p:cNvSpPr/>
          <p:nvPr/>
        </p:nvSpPr>
        <p:spPr>
          <a:xfrm>
            <a:off x="2880360" y="1737360"/>
            <a:ext cx="2286000" cy="960120"/>
          </a:xfrm>
          <a:prstGeom prst="roundRect">
            <a:avLst/>
          </a:prstGeom>
          <a:solidFill>
            <a:srgbClr val="E08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latin typeface="Segoe UI"/>
              </a:rPr>
              <a:t>Fivetran
managed connectors (SaaS)</a:t>
            </a:r>
          </a:p>
        </p:txBody>
      </p:sp>
      <p:sp>
        <p:nvSpPr>
          <p:cNvPr id="14" name="Rounded Rectangle 13"/>
          <p:cNvSpPr/>
          <p:nvPr/>
        </p:nvSpPr>
        <p:spPr>
          <a:xfrm>
            <a:off x="2880360" y="3017520"/>
            <a:ext cx="2286000" cy="1234440"/>
          </a:xfrm>
          <a:prstGeom prst="roundRect">
            <a:avLst/>
          </a:prstGeom>
          <a:solidFill>
            <a:srgbClr val="2EA0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latin typeface="Segoe UI"/>
              </a:rPr>
              <a:t>Custom Python
AWS S3 + Lambda
(telemetry &amp; APIs)</a:t>
            </a:r>
          </a:p>
        </p:txBody>
      </p:sp>
      <p:sp>
        <p:nvSpPr>
          <p:cNvPr id="15" name="TextBox 14"/>
          <p:cNvSpPr txBox="1"/>
          <p:nvPr/>
        </p:nvSpPr>
        <p:spPr>
          <a:xfrm>
            <a:off x="5532120" y="1307592"/>
            <a:ext cx="3337560" cy="274320"/>
          </a:xfrm>
          <a:prstGeom prst="rect">
            <a:avLst/>
          </a:prstGeom>
          <a:noFill/>
        </p:spPr>
        <p:txBody>
          <a:bodyPr wrap="square" lIns="36576" rIns="36576" tIns="18288" bIns="18288">
            <a:spAutoFit/>
          </a:bodyPr>
          <a:lstStyle/>
          <a:p>
            <a:pPr algn="ctr"/>
            <a:r>
              <a:rPr sz="1000" b="1">
                <a:solidFill>
                  <a:srgbClr val="3B34B8"/>
                </a:solidFill>
                <a:latin typeface="Segoe UI"/>
              </a:rPr>
              <a:t>SNOWFLAKE  +  DBT</a:t>
            </a:r>
          </a:p>
        </p:txBody>
      </p:sp>
      <p:sp>
        <p:nvSpPr>
          <p:cNvPr id="16" name="Rounded Rectangle 15"/>
          <p:cNvSpPr/>
          <p:nvPr/>
        </p:nvSpPr>
        <p:spPr>
          <a:xfrm>
            <a:off x="5532120" y="1600200"/>
            <a:ext cx="3337560" cy="3246120"/>
          </a:xfrm>
          <a:prstGeom prst="roundRect">
            <a:avLst/>
          </a:prstGeom>
          <a:solidFill>
            <a:srgbClr val="ECEBFB"/>
          </a:solidFill>
          <a:ln w="12700">
            <a:solidFill>
              <a:srgbClr val="3B34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742432" y="1819656"/>
            <a:ext cx="2926080" cy="530352"/>
          </a:xfrm>
          <a:prstGeom prst="roundRect">
            <a:avLst/>
          </a:prstGeom>
          <a:solidFill>
            <a:srgbClr val="1915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FFFFFF"/>
                </a:solidFill>
                <a:latin typeface="Segoe UI"/>
              </a:rPr>
              <a:t>RAW: source-system schemas</a:t>
            </a:r>
          </a:p>
        </p:txBody>
      </p:sp>
      <p:sp>
        <p:nvSpPr>
          <p:cNvPr id="18" name="Rounded Rectangle 17"/>
          <p:cNvSpPr/>
          <p:nvPr/>
        </p:nvSpPr>
        <p:spPr>
          <a:xfrm>
            <a:off x="5742432" y="2478024"/>
            <a:ext cx="2926080" cy="530352"/>
          </a:xfrm>
          <a:prstGeom prst="roundRect">
            <a:avLst/>
          </a:prstGeom>
          <a:solidFill>
            <a:srgbClr val="3B34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FFFFFF"/>
                </a:solidFill>
                <a:latin typeface="Segoe UI"/>
              </a:rPr>
              <a:t>STAGING: cleaned / conformed</a:t>
            </a:r>
          </a:p>
        </p:txBody>
      </p:sp>
      <p:sp>
        <p:nvSpPr>
          <p:cNvPr id="19" name="Rounded Rectangle 18"/>
          <p:cNvSpPr/>
          <p:nvPr/>
        </p:nvSpPr>
        <p:spPr>
          <a:xfrm>
            <a:off x="5742432" y="3136391"/>
            <a:ext cx="2926080" cy="530352"/>
          </a:xfrm>
          <a:prstGeom prst="roundRect">
            <a:avLst/>
          </a:prstGeom>
          <a:solidFill>
            <a:srgbClr val="3B34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FFFFFF"/>
                </a:solidFill>
                <a:latin typeface="Segoe UI"/>
              </a:rPr>
              <a:t>MARTS: domain, business-ready</a:t>
            </a:r>
          </a:p>
        </p:txBody>
      </p:sp>
      <p:sp>
        <p:nvSpPr>
          <p:cNvPr id="20" name="Rounded Rectangle 19"/>
          <p:cNvSpPr/>
          <p:nvPr/>
        </p:nvSpPr>
        <p:spPr>
          <a:xfrm>
            <a:off x="5742432" y="3794760"/>
            <a:ext cx="2926080" cy="530352"/>
          </a:xfrm>
          <a:prstGeom prst="roundRect">
            <a:avLst/>
          </a:prstGeom>
          <a:solidFill>
            <a:srgbClr val="5C5B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FFFFFF"/>
                </a:solidFill>
                <a:latin typeface="Segoe UI"/>
              </a:rPr>
              <a:t>SANDBOX: analyst scratch</a:t>
            </a:r>
          </a:p>
        </p:txBody>
      </p:sp>
      <p:sp>
        <p:nvSpPr>
          <p:cNvPr id="21" name="TextBox 20"/>
          <p:cNvSpPr txBox="1"/>
          <p:nvPr/>
        </p:nvSpPr>
        <p:spPr>
          <a:xfrm>
            <a:off x="5742432" y="4361688"/>
            <a:ext cx="2926080" cy="365760"/>
          </a:xfrm>
          <a:prstGeom prst="rect">
            <a:avLst/>
          </a:prstGeom>
          <a:noFill/>
        </p:spPr>
        <p:txBody>
          <a:bodyPr wrap="square" lIns="36576" rIns="36576" tIns="18288" bIns="18288">
            <a:spAutoFit/>
          </a:bodyPr>
          <a:lstStyle/>
          <a:p>
            <a:pPr algn="ctr"/>
            <a:r>
              <a:rPr sz="900" i="1">
                <a:solidFill>
                  <a:srgbClr val="3B34B8"/>
                </a:solidFill>
                <a:latin typeface="Segoe UI"/>
              </a:rPr>
              <a:t>dbt transforms &amp; tests RAW→STAGING→MARTS</a:t>
            </a:r>
          </a:p>
        </p:txBody>
      </p:sp>
      <p:sp>
        <p:nvSpPr>
          <p:cNvPr id="22" name="TextBox 21"/>
          <p:cNvSpPr txBox="1"/>
          <p:nvPr/>
        </p:nvSpPr>
        <p:spPr>
          <a:xfrm>
            <a:off x="9189720" y="1307592"/>
            <a:ext cx="2468880" cy="274320"/>
          </a:xfrm>
          <a:prstGeom prst="rect">
            <a:avLst/>
          </a:prstGeom>
          <a:noFill/>
        </p:spPr>
        <p:txBody>
          <a:bodyPr wrap="square" lIns="36576" rIns="36576" tIns="18288" bIns="18288">
            <a:spAutoFit/>
          </a:bodyPr>
          <a:lstStyle/>
          <a:p>
            <a:pPr algn="ctr"/>
            <a:r>
              <a:rPr sz="1000" b="1">
                <a:solidFill>
                  <a:srgbClr val="3B34B8"/>
                </a:solidFill>
                <a:latin typeface="Segoe UI"/>
              </a:rPr>
              <a:t>CONSUMERS</a:t>
            </a:r>
          </a:p>
        </p:txBody>
      </p:sp>
      <p:sp>
        <p:nvSpPr>
          <p:cNvPr id="23" name="Rounded Rectangle 22"/>
          <p:cNvSpPr/>
          <p:nvPr/>
        </p:nvSpPr>
        <p:spPr>
          <a:xfrm>
            <a:off x="9189720" y="1920240"/>
            <a:ext cx="2468880" cy="658368"/>
          </a:xfrm>
          <a:prstGeom prst="roundRect">
            <a:avLst/>
          </a:prstGeom>
          <a:solidFill>
            <a:srgbClr val="3B34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a:solidFill>
                  <a:srgbClr val="FFFFFF"/>
                </a:solidFill>
                <a:latin typeface="Segoe UI"/>
              </a:rPr>
              <a:t>BI &amp; Dashboards</a:t>
            </a:r>
          </a:p>
        </p:txBody>
      </p:sp>
      <p:sp>
        <p:nvSpPr>
          <p:cNvPr id="24" name="Rounded Rectangle 23"/>
          <p:cNvSpPr/>
          <p:nvPr/>
        </p:nvSpPr>
        <p:spPr>
          <a:xfrm>
            <a:off x="9189720" y="2788920"/>
            <a:ext cx="2468880" cy="658368"/>
          </a:xfrm>
          <a:prstGeom prst="roundRect">
            <a:avLst/>
          </a:prstGeom>
          <a:solidFill>
            <a:srgbClr val="2A24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latin typeface="Segoe UI"/>
              </a:rPr>
              <a:t>AI / ML  ·  LLM + RAG</a:t>
            </a:r>
          </a:p>
        </p:txBody>
      </p:sp>
      <p:sp>
        <p:nvSpPr>
          <p:cNvPr id="25" name="Rounded Rectangle 24"/>
          <p:cNvSpPr/>
          <p:nvPr/>
        </p:nvSpPr>
        <p:spPr>
          <a:xfrm>
            <a:off x="9189720" y="3657600"/>
            <a:ext cx="2468880" cy="658368"/>
          </a:xfrm>
          <a:prstGeom prst="roundRect">
            <a:avLst/>
          </a:prstGeom>
          <a:solidFill>
            <a:srgbClr val="3B34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a:solidFill>
                  <a:srgbClr val="FFFFFF"/>
                </a:solidFill>
                <a:latin typeface="Segoe UI"/>
              </a:rPr>
              <a:t>Reverse ETL → apps</a:t>
            </a:r>
          </a:p>
        </p:txBody>
      </p:sp>
      <p:sp>
        <p:nvSpPr>
          <p:cNvPr id="26" name="Right Arrow 25"/>
          <p:cNvSpPr/>
          <p:nvPr/>
        </p:nvSpPr>
        <p:spPr>
          <a:xfrm>
            <a:off x="2587752" y="2880360"/>
            <a:ext cx="320040" cy="274320"/>
          </a:xfrm>
          <a:prstGeom prst="rightArrow">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ight Arrow 26"/>
          <p:cNvSpPr/>
          <p:nvPr/>
        </p:nvSpPr>
        <p:spPr>
          <a:xfrm>
            <a:off x="5193792" y="2880360"/>
            <a:ext cx="320040" cy="274320"/>
          </a:xfrm>
          <a:prstGeom prst="rightArrow">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ight Arrow 27"/>
          <p:cNvSpPr/>
          <p:nvPr/>
        </p:nvSpPr>
        <p:spPr>
          <a:xfrm>
            <a:off x="8897112" y="2880360"/>
            <a:ext cx="320040" cy="274320"/>
          </a:xfrm>
          <a:prstGeom prst="rightArrow">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02920" y="5074920"/>
            <a:ext cx="11137392" cy="566928"/>
          </a:xfrm>
          <a:prstGeom prst="roundRect">
            <a:avLst/>
          </a:prstGeom>
          <a:solidFill>
            <a:srgbClr val="1915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latin typeface="Segoe UI"/>
              </a:rPr>
              <a:t>FOUNDATION   ·   Terraform (IaC)   ·   RBAC + Dynamic Masking   ·   Observability &amp; Data SLAs   ·   CI/CD</a:t>
            </a:r>
          </a:p>
        </p:txBody>
      </p:sp>
      <p:sp>
        <p:nvSpPr>
          <p:cNvPr id="30" name="TextBox 29"/>
          <p:cNvSpPr txBox="1"/>
          <p:nvPr/>
        </p:nvSpPr>
        <p:spPr>
          <a:xfrm>
            <a:off x="502920" y="6455664"/>
            <a:ext cx="7315200" cy="320040"/>
          </a:xfrm>
          <a:prstGeom prst="rect">
            <a:avLst/>
          </a:prstGeom>
          <a:noFill/>
        </p:spPr>
        <p:txBody>
          <a:bodyPr wrap="square" lIns="36576" rIns="36576" tIns="18288" bIns="18288">
            <a:spAutoFit/>
          </a:bodyPr>
          <a:lstStyle/>
          <a:p>
            <a:r>
              <a:rPr sz="900">
                <a:solidFill>
                  <a:srgbClr val="5C5B77"/>
                </a:solidFill>
                <a:latin typeface="Segoe UI"/>
              </a:rPr>
              <a:t>OpenGov Data Platform  ·  Case Study  ·  Akash Pahilwan</a:t>
            </a:r>
          </a:p>
        </p:txBody>
      </p:sp>
      <p:sp>
        <p:nvSpPr>
          <p:cNvPr id="31" name="TextBox 30"/>
          <p:cNvSpPr txBox="1"/>
          <p:nvPr/>
        </p:nvSpPr>
        <p:spPr>
          <a:xfrm>
            <a:off x="10911535" y="6455664"/>
            <a:ext cx="822960" cy="320040"/>
          </a:xfrm>
          <a:prstGeom prst="rect">
            <a:avLst/>
          </a:prstGeom>
          <a:noFill/>
        </p:spPr>
        <p:txBody>
          <a:bodyPr wrap="square" lIns="36576" rIns="36576" tIns="18288" bIns="18288">
            <a:spAutoFit/>
          </a:bodyPr>
          <a:lstStyle/>
          <a:p>
            <a:pPr algn="r"/>
            <a:r>
              <a:rPr sz="900">
                <a:solidFill>
                  <a:srgbClr val="5C5B77"/>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191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292"/>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875520" cy="841248"/>
          </a:xfrm>
          <a:prstGeom prst="rect">
            <a:avLst/>
          </a:prstGeom>
          <a:noFill/>
        </p:spPr>
        <p:txBody>
          <a:bodyPr wrap="square" lIns="36576" rIns="36576" tIns="18288" bIns="18288" anchor="ctr">
            <a:spAutoFit/>
          </a:bodyPr>
          <a:lstStyle/>
          <a:p>
            <a:pPr>
              <a:spcAft>
                <a:spcPts val="100"/>
              </a:spcAft>
            </a:pPr>
            <a:r>
              <a:rPr sz="1100" b="1">
                <a:solidFill>
                  <a:srgbClr val="A79FFF"/>
                </a:solidFill>
                <a:latin typeface="Segoe UI"/>
              </a:rPr>
              <a:t>PIPELINES</a:t>
            </a:r>
          </a:p>
          <a:p>
            <a:r>
              <a:rPr sz="2600" b="1">
                <a:solidFill>
                  <a:srgbClr val="FFFFFF"/>
                </a:solidFill>
                <a:latin typeface="Segoe UI"/>
              </a:rPr>
              <a:t>Ingestion: buy vs. build</a:t>
            </a:r>
          </a:p>
        </p:txBody>
      </p:sp>
      <p:pic>
        <p:nvPicPr>
          <p:cNvPr id="5" name="Picture 4" descr="image.png"/>
          <p:cNvPicPr>
            <a:picLocks noChangeAspect="1"/>
          </p:cNvPicPr>
          <p:nvPr/>
        </p:nvPicPr>
        <p:blipFill>
          <a:blip r:embed="rId2"/>
          <a:stretch>
            <a:fillRect/>
          </a:stretch>
        </p:blipFill>
        <p:spPr>
          <a:xfrm>
            <a:off x="11259006" y="237744"/>
            <a:ext cx="548640" cy="548640"/>
          </a:xfrm>
          <a:prstGeom prst="ellipse">
            <a:avLst/>
          </a:prstGeom>
        </p:spPr>
      </p:pic>
      <p:graphicFrame>
        <p:nvGraphicFramePr>
          <p:cNvPr id="6" name="Table 5"/>
          <p:cNvGraphicFramePr>
            <a:graphicFrameLocks noGrp="1"/>
          </p:cNvGraphicFramePr>
          <p:nvPr/>
        </p:nvGraphicFramePr>
        <p:xfrm>
          <a:off x="548640" y="1371600"/>
          <a:ext cx="11091672" cy="3858768"/>
        </p:xfrm>
        <a:graphic>
          <a:graphicData uri="http://schemas.openxmlformats.org/drawingml/2006/table">
            <a:tbl>
              <a:tblPr firstRow="1" bandRow="1">
                <a:tableStyleId>{5C22544A-7EE6-4342-B048-85BDC9FD1C3A}</a:tableStyleId>
              </a:tblPr>
              <a:tblGrid>
                <a:gridCol w="2103120"/>
                <a:gridCol w="4206240"/>
                <a:gridCol w="4782312"/>
              </a:tblGrid>
              <a:tr h="566928">
                <a:tc>
                  <a:txBody>
                    <a:bodyPr/>
                    <a:lstStyle/>
                    <a:p>
                      <a:r>
                        <a:rPr sz="1400" b="1">
                          <a:solidFill>
                            <a:srgbClr val="FFFFFF"/>
                          </a:solidFill>
                          <a:latin typeface="Segoe UI"/>
                        </a:rPr>
                        <a:t>Dimension</a:t>
                      </a:r>
                    </a:p>
                  </a:txBody>
                  <a:tcPr anchor="ctr" marL="109728" marR="73152">
                    <a:solidFill>
                      <a:srgbClr val="191552"/>
                    </a:solidFill>
                  </a:tcPr>
                </a:tc>
                <a:tc>
                  <a:txBody>
                    <a:bodyPr/>
                    <a:lstStyle/>
                    <a:p>
                      <a:r>
                        <a:rPr sz="1400" b="1">
                          <a:solidFill>
                            <a:srgbClr val="FFFFFF"/>
                          </a:solidFill>
                          <a:latin typeface="Segoe UI"/>
                        </a:rPr>
                        <a:t>Fivetran  (buy)</a:t>
                      </a:r>
                    </a:p>
                  </a:txBody>
                  <a:tcPr anchor="ctr" marL="109728" marR="73152">
                    <a:solidFill>
                      <a:srgbClr val="191552"/>
                    </a:solidFill>
                  </a:tcPr>
                </a:tc>
                <a:tc>
                  <a:txBody>
                    <a:bodyPr/>
                    <a:lstStyle/>
                    <a:p>
                      <a:r>
                        <a:rPr sz="1400" b="1">
                          <a:solidFill>
                            <a:srgbClr val="FFFFFF"/>
                          </a:solidFill>
                          <a:latin typeface="Segoe UI"/>
                        </a:rPr>
                        <a:t>Custom Python on AWS  (build)</a:t>
                      </a:r>
                    </a:p>
                  </a:txBody>
                  <a:tcPr anchor="ctr" marL="109728" marR="73152">
                    <a:solidFill>
                      <a:srgbClr val="191552"/>
                    </a:solidFill>
                  </a:tcPr>
                </a:tc>
              </a:tr>
              <a:tr h="548640">
                <a:tc>
                  <a:txBody>
                    <a:bodyPr/>
                    <a:lstStyle/>
                    <a:p>
                      <a:r>
                        <a:rPr sz="1250" b="1">
                          <a:solidFill>
                            <a:srgbClr val="3B34B8"/>
                          </a:solidFill>
                          <a:latin typeface="Segoe UI"/>
                        </a:rPr>
                        <a:t>Best for</a:t>
                      </a:r>
                    </a:p>
                  </a:txBody>
                  <a:tcPr anchor="ctr" marL="109728" marR="73152">
                    <a:solidFill>
                      <a:srgbClr val="FFFFFF"/>
                    </a:solidFill>
                  </a:tcPr>
                </a:tc>
                <a:tc>
                  <a:txBody>
                    <a:bodyPr/>
                    <a:lstStyle/>
                    <a:p>
                      <a:r>
                        <a:rPr sz="1250">
                          <a:solidFill>
                            <a:srgbClr val="E08A2B"/>
                          </a:solidFill>
                          <a:latin typeface="Segoe UI"/>
                        </a:rPr>
                        <a:t>Connectorized SaaS sources</a:t>
                      </a:r>
                    </a:p>
                  </a:txBody>
                  <a:tcPr anchor="ctr" marL="109728" marR="73152">
                    <a:solidFill>
                      <a:srgbClr val="FFFFFF"/>
                    </a:solidFill>
                  </a:tcPr>
                </a:tc>
                <a:tc>
                  <a:txBody>
                    <a:bodyPr/>
                    <a:lstStyle/>
                    <a:p>
                      <a:r>
                        <a:rPr sz="1250">
                          <a:solidFill>
                            <a:srgbClr val="2EA074"/>
                          </a:solidFill>
                          <a:latin typeface="Segoe UI"/>
                        </a:rPr>
                        <a:t>High-volume / bespoke sources, no connector</a:t>
                      </a:r>
                    </a:p>
                  </a:txBody>
                  <a:tcPr anchor="ctr" marL="109728" marR="73152">
                    <a:solidFill>
                      <a:srgbClr val="FFFFFF"/>
                    </a:solidFill>
                  </a:tcPr>
                </a:tc>
              </a:tr>
              <a:tr h="548640">
                <a:tc>
                  <a:txBody>
                    <a:bodyPr/>
                    <a:lstStyle/>
                    <a:p>
                      <a:r>
                        <a:rPr sz="1250" b="1">
                          <a:solidFill>
                            <a:srgbClr val="3B34B8"/>
                          </a:solidFill>
                          <a:latin typeface="Segoe UI"/>
                        </a:rPr>
                        <a:t>Examples</a:t>
                      </a:r>
                    </a:p>
                  </a:txBody>
                  <a:tcPr anchor="ctr" marL="109728" marR="73152">
                    <a:solidFill>
                      <a:srgbClr val="F5F5FC"/>
                    </a:solidFill>
                  </a:tcPr>
                </a:tc>
                <a:tc>
                  <a:txBody>
                    <a:bodyPr/>
                    <a:lstStyle/>
                    <a:p>
                      <a:r>
                        <a:rPr sz="1250">
                          <a:solidFill>
                            <a:srgbClr val="E08A2B"/>
                          </a:solidFill>
                          <a:latin typeface="Segoe UI"/>
                        </a:rPr>
                        <a:t>Salesforce, NetSuite, Workday, Marketo</a:t>
                      </a:r>
                    </a:p>
                  </a:txBody>
                  <a:tcPr anchor="ctr" marL="109728" marR="73152">
                    <a:solidFill>
                      <a:srgbClr val="F5F5FC"/>
                    </a:solidFill>
                  </a:tcPr>
                </a:tc>
                <a:tc>
                  <a:txBody>
                    <a:bodyPr/>
                    <a:lstStyle/>
                    <a:p>
                      <a:r>
                        <a:rPr sz="1250">
                          <a:solidFill>
                            <a:srgbClr val="2EA074"/>
                          </a:solidFill>
                          <a:latin typeface="Segoe UI"/>
                        </a:rPr>
                        <a:t>Product telemetry, operational APIs</a:t>
                      </a:r>
                    </a:p>
                  </a:txBody>
                  <a:tcPr anchor="ctr" marL="109728" marR="73152">
                    <a:solidFill>
                      <a:srgbClr val="F5F5FC"/>
                    </a:solidFill>
                  </a:tcPr>
                </a:tc>
              </a:tr>
              <a:tr h="548640">
                <a:tc>
                  <a:txBody>
                    <a:bodyPr/>
                    <a:lstStyle/>
                    <a:p>
                      <a:r>
                        <a:rPr sz="1250" b="1">
                          <a:solidFill>
                            <a:srgbClr val="3B34B8"/>
                          </a:solidFill>
                          <a:latin typeface="Segoe UI"/>
                        </a:rPr>
                        <a:t>Schema drift</a:t>
                      </a:r>
                    </a:p>
                  </a:txBody>
                  <a:tcPr anchor="ctr" marL="109728" marR="73152">
                    <a:solidFill>
                      <a:srgbClr val="FFFFFF"/>
                    </a:solidFill>
                  </a:tcPr>
                </a:tc>
                <a:tc>
                  <a:txBody>
                    <a:bodyPr/>
                    <a:lstStyle/>
                    <a:p>
                      <a:r>
                        <a:rPr sz="1250">
                          <a:solidFill>
                            <a:srgbClr val="E08A2B"/>
                          </a:solidFill>
                          <a:latin typeface="Segoe UI"/>
                        </a:rPr>
                        <a:t>Schema-on-write — auto-evolves its tables</a:t>
                      </a:r>
                    </a:p>
                  </a:txBody>
                  <a:tcPr anchor="ctr" marL="109728" marR="73152">
                    <a:solidFill>
                      <a:srgbClr val="FFFFFF"/>
                    </a:solidFill>
                  </a:tcPr>
                </a:tc>
                <a:tc>
                  <a:txBody>
                    <a:bodyPr/>
                    <a:lstStyle/>
                    <a:p>
                      <a:r>
                        <a:rPr sz="1250">
                          <a:solidFill>
                            <a:srgbClr val="2EA074"/>
                          </a:solidFill>
                          <a:latin typeface="Segoe UI"/>
                        </a:rPr>
                        <a:t>Schema-on-read — VARIANT + contracts</a:t>
                      </a:r>
                    </a:p>
                  </a:txBody>
                  <a:tcPr anchor="ctr" marL="109728" marR="73152">
                    <a:solidFill>
                      <a:srgbClr val="FFFFFF"/>
                    </a:solidFill>
                  </a:tcPr>
                </a:tc>
              </a:tr>
              <a:tr h="548640">
                <a:tc>
                  <a:txBody>
                    <a:bodyPr/>
                    <a:lstStyle/>
                    <a:p>
                      <a:r>
                        <a:rPr sz="1250" b="1">
                          <a:solidFill>
                            <a:srgbClr val="3B34B8"/>
                          </a:solidFill>
                          <a:latin typeface="Segoe UI"/>
                        </a:rPr>
                        <a:t>Latency</a:t>
                      </a:r>
                    </a:p>
                  </a:txBody>
                  <a:tcPr anchor="ctr" marL="109728" marR="73152">
                    <a:solidFill>
                      <a:srgbClr val="F5F5FC"/>
                    </a:solidFill>
                  </a:tcPr>
                </a:tc>
                <a:tc>
                  <a:txBody>
                    <a:bodyPr/>
                    <a:lstStyle/>
                    <a:p>
                      <a:r>
                        <a:rPr sz="1250">
                          <a:solidFill>
                            <a:srgbClr val="E08A2B"/>
                          </a:solidFill>
                          <a:latin typeface="Segoe UI"/>
                        </a:rPr>
                        <a:t>Scheduled batch</a:t>
                      </a:r>
                    </a:p>
                  </a:txBody>
                  <a:tcPr anchor="ctr" marL="109728" marR="73152">
                    <a:solidFill>
                      <a:srgbClr val="F5F5FC"/>
                    </a:solidFill>
                  </a:tcPr>
                </a:tc>
                <a:tc>
                  <a:txBody>
                    <a:bodyPr/>
                    <a:lstStyle/>
                    <a:p>
                      <a:r>
                        <a:rPr sz="1250">
                          <a:solidFill>
                            <a:srgbClr val="2EA074"/>
                          </a:solidFill>
                          <a:latin typeface="Segoe UI"/>
                        </a:rPr>
                        <a:t>Near-real-time — S3 event → Lambda</a:t>
                      </a:r>
                    </a:p>
                  </a:txBody>
                  <a:tcPr anchor="ctr" marL="109728" marR="73152">
                    <a:solidFill>
                      <a:srgbClr val="F5F5FC"/>
                    </a:solidFill>
                  </a:tcPr>
                </a:tc>
              </a:tr>
              <a:tr h="548640">
                <a:tc>
                  <a:txBody>
                    <a:bodyPr/>
                    <a:lstStyle/>
                    <a:p>
                      <a:r>
                        <a:rPr sz="1250" b="1">
                          <a:solidFill>
                            <a:srgbClr val="3B34B8"/>
                          </a:solidFill>
                          <a:latin typeface="Segoe UI"/>
                        </a:rPr>
                        <a:t>Control</a:t>
                      </a:r>
                    </a:p>
                  </a:txBody>
                  <a:tcPr anchor="ctr" marL="109728" marR="73152">
                    <a:solidFill>
                      <a:srgbClr val="FFFFFF"/>
                    </a:solidFill>
                  </a:tcPr>
                </a:tc>
                <a:tc>
                  <a:txBody>
                    <a:bodyPr/>
                    <a:lstStyle/>
                    <a:p>
                      <a:r>
                        <a:rPr sz="1250">
                          <a:solidFill>
                            <a:srgbClr val="E08A2B"/>
                          </a:solidFill>
                          <a:latin typeface="Segoe UI"/>
                        </a:rPr>
                        <a:t>Low (fully managed)</a:t>
                      </a:r>
                    </a:p>
                  </a:txBody>
                  <a:tcPr anchor="ctr" marL="109728" marR="73152">
                    <a:solidFill>
                      <a:srgbClr val="FFFFFF"/>
                    </a:solidFill>
                  </a:tcPr>
                </a:tc>
                <a:tc>
                  <a:txBody>
                    <a:bodyPr/>
                    <a:lstStyle/>
                    <a:p>
                      <a:r>
                        <a:rPr sz="1250">
                          <a:solidFill>
                            <a:srgbClr val="2EA074"/>
                          </a:solidFill>
                          <a:latin typeface="Segoe UI"/>
                        </a:rPr>
                        <a:t>Full — custom logic &amp; cost tuning</a:t>
                      </a:r>
                    </a:p>
                  </a:txBody>
                  <a:tcPr anchor="ctr" marL="109728" marR="73152">
                    <a:solidFill>
                      <a:srgbClr val="FFFFFF"/>
                    </a:solidFill>
                  </a:tcPr>
                </a:tc>
              </a:tr>
              <a:tr h="548640">
                <a:tc>
                  <a:txBody>
                    <a:bodyPr/>
                    <a:lstStyle/>
                    <a:p>
                      <a:r>
                        <a:rPr sz="1250" b="1">
                          <a:solidFill>
                            <a:srgbClr val="3B34B8"/>
                          </a:solidFill>
                          <a:latin typeface="Segoe UI"/>
                        </a:rPr>
                        <a:t>Cost model</a:t>
                      </a:r>
                    </a:p>
                  </a:txBody>
                  <a:tcPr anchor="ctr" marL="109728" marR="73152">
                    <a:solidFill>
                      <a:srgbClr val="F5F5FC"/>
                    </a:solidFill>
                  </a:tcPr>
                </a:tc>
                <a:tc>
                  <a:txBody>
                    <a:bodyPr/>
                    <a:lstStyle/>
                    <a:p>
                      <a:r>
                        <a:rPr sz="1250">
                          <a:solidFill>
                            <a:srgbClr val="E08A2B"/>
                          </a:solidFill>
                          <a:latin typeface="Segoe UI"/>
                        </a:rPr>
                        <a:t>Per-MAR (rows synced)</a:t>
                      </a:r>
                    </a:p>
                  </a:txBody>
                  <a:tcPr anchor="ctr" marL="109728" marR="73152">
                    <a:solidFill>
                      <a:srgbClr val="F5F5FC"/>
                    </a:solidFill>
                  </a:tcPr>
                </a:tc>
                <a:tc>
                  <a:txBody>
                    <a:bodyPr/>
                    <a:lstStyle/>
                    <a:p>
                      <a:r>
                        <a:rPr sz="1250">
                          <a:solidFill>
                            <a:srgbClr val="2EA074"/>
                          </a:solidFill>
                          <a:latin typeface="Segoe UI"/>
                        </a:rPr>
                        <a:t>Compute — S3 / Lambda / warehouse</a:t>
                      </a:r>
                    </a:p>
                  </a:txBody>
                  <a:tcPr anchor="ctr" marL="109728" marR="73152">
                    <a:solidFill>
                      <a:srgbClr val="F5F5FC"/>
                    </a:solidFill>
                  </a:tcPr>
                </a:tc>
              </a:tr>
            </a:tbl>
          </a:graphicData>
        </a:graphic>
      </p:graphicFrame>
      <p:sp>
        <p:nvSpPr>
          <p:cNvPr id="7" name="Rounded Rectangle 6"/>
          <p:cNvSpPr/>
          <p:nvPr/>
        </p:nvSpPr>
        <p:spPr>
          <a:xfrm>
            <a:off x="502920" y="5806440"/>
            <a:ext cx="11183112" cy="457200"/>
          </a:xfrm>
          <a:prstGeom prst="roundRect">
            <a:avLst/>
          </a:prstGeom>
          <a:solidFill>
            <a:srgbClr val="ECE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06440"/>
            <a:ext cx="82296" cy="457200"/>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806440"/>
            <a:ext cx="10789920" cy="457200"/>
          </a:xfrm>
          <a:prstGeom prst="rect">
            <a:avLst/>
          </a:prstGeom>
          <a:noFill/>
        </p:spPr>
        <p:txBody>
          <a:bodyPr wrap="square" lIns="36576" rIns="36576" tIns="18288" bIns="18288" anchor="ctr">
            <a:spAutoFit/>
          </a:bodyPr>
          <a:lstStyle/>
          <a:p>
            <a:r>
              <a:rPr b="1" sz="1300">
                <a:solidFill>
                  <a:srgbClr val="3B34B8"/>
                </a:solidFill>
                <a:latin typeface="Segoe UI"/>
              </a:rPr>
              <a:t>Takeaway   </a:t>
            </a:r>
            <a:r>
              <a:rPr sz="1300">
                <a:solidFill>
                  <a:srgbClr val="1B1B33"/>
                </a:solidFill>
                <a:latin typeface="Segoe UI"/>
              </a:rPr>
              <a:t>Buy the commodity (SaaS connectors), build the differentiator (telemetry scale, cost, custom logic).</a:t>
            </a:r>
          </a:p>
        </p:txBody>
      </p:sp>
      <p:sp>
        <p:nvSpPr>
          <p:cNvPr id="10" name="TextBox 9"/>
          <p:cNvSpPr txBox="1"/>
          <p:nvPr/>
        </p:nvSpPr>
        <p:spPr>
          <a:xfrm>
            <a:off x="502920" y="6455664"/>
            <a:ext cx="7315200" cy="320040"/>
          </a:xfrm>
          <a:prstGeom prst="rect">
            <a:avLst/>
          </a:prstGeom>
          <a:noFill/>
        </p:spPr>
        <p:txBody>
          <a:bodyPr wrap="square" lIns="36576" rIns="36576" tIns="18288" bIns="18288">
            <a:spAutoFit/>
          </a:bodyPr>
          <a:lstStyle/>
          <a:p>
            <a:r>
              <a:rPr sz="900">
                <a:solidFill>
                  <a:srgbClr val="5C5B77"/>
                </a:solidFill>
                <a:latin typeface="Segoe UI"/>
              </a:rPr>
              <a:t>OpenGov Data Platform  ·  Case Study  ·  Akash Pahilwan</a:t>
            </a:r>
          </a:p>
        </p:txBody>
      </p:sp>
      <p:sp>
        <p:nvSpPr>
          <p:cNvPr id="11" name="TextBox 10"/>
          <p:cNvSpPr txBox="1"/>
          <p:nvPr/>
        </p:nvSpPr>
        <p:spPr>
          <a:xfrm>
            <a:off x="10911535" y="6455664"/>
            <a:ext cx="822960" cy="320040"/>
          </a:xfrm>
          <a:prstGeom prst="rect">
            <a:avLst/>
          </a:prstGeom>
          <a:noFill/>
        </p:spPr>
        <p:txBody>
          <a:bodyPr wrap="square" lIns="36576" rIns="36576" tIns="18288" bIns="18288">
            <a:spAutoFit/>
          </a:bodyPr>
          <a:lstStyle/>
          <a:p>
            <a:pPr algn="r"/>
            <a:r>
              <a:rPr sz="900">
                <a:solidFill>
                  <a:srgbClr val="5C5B77"/>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191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292"/>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875520" cy="841248"/>
          </a:xfrm>
          <a:prstGeom prst="rect">
            <a:avLst/>
          </a:prstGeom>
          <a:noFill/>
        </p:spPr>
        <p:txBody>
          <a:bodyPr wrap="square" lIns="36576" rIns="36576" tIns="18288" bIns="18288" anchor="ctr">
            <a:spAutoFit/>
          </a:bodyPr>
          <a:lstStyle/>
          <a:p>
            <a:pPr>
              <a:spcAft>
                <a:spcPts val="100"/>
              </a:spcAft>
            </a:pPr>
            <a:r>
              <a:rPr sz="1100" b="1">
                <a:solidFill>
                  <a:srgbClr val="A79FFF"/>
                </a:solidFill>
                <a:latin typeface="Segoe UI"/>
              </a:rPr>
              <a:t>PIPELINES</a:t>
            </a:r>
          </a:p>
          <a:p>
            <a:r>
              <a:rPr sz="2600" b="1">
                <a:solidFill>
                  <a:srgbClr val="FFFFFF"/>
                </a:solidFill>
                <a:latin typeface="Segoe UI"/>
              </a:rPr>
              <a:t>Schema drift when objects ship via CI/CD</a:t>
            </a:r>
          </a:p>
        </p:txBody>
      </p:sp>
      <p:pic>
        <p:nvPicPr>
          <p:cNvPr id="5" name="Picture 4" descr="image.png"/>
          <p:cNvPicPr>
            <a:picLocks noChangeAspect="1"/>
          </p:cNvPicPr>
          <p:nvPr/>
        </p:nvPicPr>
        <p:blipFill>
          <a:blip r:embed="rId2"/>
          <a:stretch>
            <a:fillRect/>
          </a:stretch>
        </p:blipFill>
        <p:spPr>
          <a:xfrm>
            <a:off x="11259006" y="237744"/>
            <a:ext cx="548640" cy="548640"/>
          </a:xfrm>
          <a:prstGeom prst="ellipse">
            <a:avLst/>
          </a:prstGeom>
        </p:spPr>
      </p:pic>
      <p:sp>
        <p:nvSpPr>
          <p:cNvPr id="6" name="TextBox 5"/>
          <p:cNvSpPr txBox="1"/>
          <p:nvPr/>
        </p:nvSpPr>
        <p:spPr>
          <a:xfrm>
            <a:off x="594360" y="1371600"/>
            <a:ext cx="6446520" cy="4297680"/>
          </a:xfrm>
          <a:prstGeom prst="rect">
            <a:avLst/>
          </a:prstGeom>
          <a:noFill/>
        </p:spPr>
        <p:txBody>
          <a:bodyPr wrap="square" lIns="36576" rIns="36576" tIns="18288" bIns="18288">
            <a:spAutoFit/>
          </a:bodyPr>
          <a:lstStyle/>
          <a:p>
            <a:pPr>
              <a:lnSpc>
                <a:spcPct val="107000"/>
              </a:lnSpc>
              <a:spcAft>
                <a:spcPts val="800"/>
              </a:spcAft>
            </a:pPr>
            <a:r>
              <a:rPr sz="1650">
                <a:solidFill>
                  <a:srgbClr val="4A3FFF"/>
                </a:solidFill>
                <a:latin typeface="Segoe UI"/>
              </a:rPr>
              <a:t>▸  </a:t>
            </a:r>
            <a:r>
              <a:rPr b="1" sz="1650">
                <a:solidFill>
                  <a:srgbClr val="1B1B33"/>
                </a:solidFill>
                <a:latin typeface="Segoe UI"/>
              </a:rPr>
              <a:t>Two schemas, two rules:   </a:t>
            </a:r>
            <a:r>
              <a:rPr sz="1650">
                <a:solidFill>
                  <a:srgbClr val="1B1B33"/>
                </a:solidFill>
                <a:latin typeface="Segoe UI"/>
              </a:rPr>
              <a:t>The upstream source shape is uncontrolled; our deployed objects change only through reviewed PRs.</a:t>
            </a:r>
          </a:p>
          <a:p>
            <a:pPr>
              <a:lnSpc>
                <a:spcPct val="107000"/>
              </a:lnSpc>
              <a:spcAft>
                <a:spcPts val="800"/>
              </a:spcAft>
            </a:pPr>
            <a:r>
              <a:rPr sz="1650">
                <a:solidFill>
                  <a:srgbClr val="4A3FFF"/>
                </a:solidFill>
                <a:latin typeface="Segoe UI"/>
              </a:rPr>
              <a:t>▸  </a:t>
            </a:r>
            <a:r>
              <a:rPr b="1" sz="1650">
                <a:solidFill>
                  <a:srgbClr val="1B1B33"/>
                </a:solidFill>
                <a:latin typeface="Segoe UI"/>
              </a:rPr>
              <a:t>Custom path, schema-on-read:   </a:t>
            </a:r>
            <a:r>
              <a:rPr sz="1650">
                <a:solidFill>
                  <a:srgbClr val="1B1B33"/>
                </a:solidFill>
                <a:latin typeface="Segoe UI"/>
              </a:rPr>
              <a:t>RAW lands each record as a VARIANT; a new source field needs zero DDL, zero deploy, typed at read time in dbt.</a:t>
            </a:r>
          </a:p>
          <a:p>
            <a:pPr>
              <a:lnSpc>
                <a:spcPct val="107000"/>
              </a:lnSpc>
              <a:spcAft>
                <a:spcPts val="800"/>
              </a:spcAft>
            </a:pPr>
            <a:r>
              <a:rPr sz="1650">
                <a:solidFill>
                  <a:srgbClr val="4A3FFF"/>
                </a:solidFill>
                <a:latin typeface="Segoe UI"/>
              </a:rPr>
              <a:t>▸  </a:t>
            </a:r>
            <a:r>
              <a:rPr b="1" sz="1650">
                <a:solidFill>
                  <a:srgbClr val="1B1B33"/>
                </a:solidFill>
                <a:latin typeface="Segoe UI"/>
              </a:rPr>
              <a:t>Detect, don't auto-alter:   </a:t>
            </a:r>
            <a:r>
              <a:rPr sz="1650">
                <a:solidFill>
                  <a:srgbClr val="1B1B33"/>
                </a:solidFill>
                <a:latin typeface="Segoe UI"/>
              </a:rPr>
              <a:t>Compare the payload to a registered contract, additive → log + surface; breaking → alert + quarantine. CI/CD never mutates a live table from drift.</a:t>
            </a:r>
          </a:p>
          <a:p>
            <a:pPr>
              <a:lnSpc>
                <a:spcPct val="107000"/>
              </a:lnSpc>
              <a:spcAft>
                <a:spcPts val="800"/>
              </a:spcAft>
            </a:pPr>
            <a:r>
              <a:rPr sz="1650">
                <a:solidFill>
                  <a:srgbClr val="4A3FFF"/>
                </a:solidFill>
                <a:latin typeface="Segoe UI"/>
              </a:rPr>
              <a:t>▸  </a:t>
            </a:r>
            <a:r>
              <a:rPr b="1" sz="1650">
                <a:solidFill>
                  <a:srgbClr val="1B1B33"/>
                </a:solidFill>
                <a:latin typeface="Segoe UI"/>
              </a:rPr>
              <a:t>Promote a field = a pull request:   </a:t>
            </a:r>
            <a:r>
              <a:rPr sz="1650">
                <a:solidFill>
                  <a:srgbClr val="1B1B33"/>
                </a:solidFill>
                <a:latin typeface="Segoe UI"/>
              </a:rPr>
              <a:t>Expose it by adding one typed column in dbt; CI runs contracts + tests; review + merge deploys it.</a:t>
            </a:r>
          </a:p>
          <a:p>
            <a:pPr>
              <a:lnSpc>
                <a:spcPct val="107000"/>
              </a:lnSpc>
              <a:spcAft>
                <a:spcPts val="800"/>
              </a:spcAft>
            </a:pPr>
            <a:r>
              <a:rPr sz="1650">
                <a:solidFill>
                  <a:srgbClr val="4A3FFF"/>
                </a:solidFill>
                <a:latin typeface="Segoe UI"/>
              </a:rPr>
              <a:t>▸  </a:t>
            </a:r>
            <a:r>
              <a:rPr b="1" sz="1650">
                <a:solidFill>
                  <a:srgbClr val="1B1B33"/>
                </a:solidFill>
                <a:latin typeface="Segoe UI"/>
              </a:rPr>
              <a:t>Fivetran, schema-on-write:   </a:t>
            </a:r>
            <a:r>
              <a:rPr sz="1650">
                <a:solidFill>
                  <a:srgbClr val="1B1B33"/>
                </a:solidFill>
                <a:latin typeface="Segoe UI"/>
              </a:rPr>
              <a:t>It types columns and ALTERs its own RAW tables on drift; the dbt source contract + tests are our CI tripwire one layer down.</a:t>
            </a:r>
          </a:p>
        </p:txBody>
      </p:sp>
      <p:sp>
        <p:nvSpPr>
          <p:cNvPr id="7" name="Rounded Rectangle 6"/>
          <p:cNvSpPr/>
          <p:nvPr/>
        </p:nvSpPr>
        <p:spPr>
          <a:xfrm>
            <a:off x="7315200" y="1463040"/>
            <a:ext cx="4370832" cy="4160520"/>
          </a:xfrm>
          <a:prstGeom prst="roundRect">
            <a:avLst/>
          </a:prstGeom>
          <a:solidFill>
            <a:srgbClr val="191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61504" y="1572768"/>
            <a:ext cx="4078224" cy="3941063"/>
          </a:xfrm>
          <a:prstGeom prst="rect">
            <a:avLst/>
          </a:prstGeom>
          <a:noFill/>
        </p:spPr>
        <p:txBody>
          <a:bodyPr wrap="none" lIns="36576" rIns="36576" tIns="18288" bIns="18288" anchor="t">
            <a:spAutoFit/>
          </a:bodyPr>
          <a:lstStyle/>
          <a:p>
            <a:pPr>
              <a:spcAft>
                <a:spcPts val="600"/>
              </a:spcAft>
            </a:pPr>
            <a:r>
              <a:rPr sz="1000" b="1">
                <a:solidFill>
                  <a:srgbClr val="A79FFF"/>
                </a:solidFill>
                <a:latin typeface="Consolas"/>
              </a:rPr>
              <a:t>drift: land loose, type in a PR</a:t>
            </a:r>
          </a:p>
          <a:p>
            <a:pPr>
              <a:lnSpc>
                <a:spcPct val="100000"/>
              </a:lnSpc>
              <a:spcAft>
                <a:spcPts val="100"/>
              </a:spcAft>
            </a:pPr>
            <a:r>
              <a:rPr sz="1000">
                <a:solidFill>
                  <a:srgbClr val="8ED6B0"/>
                </a:solidFill>
                <a:latin typeface="Consolas"/>
              </a:rPr>
              <a:t>-- RAW - schema-on-read (stable DDL)</a:t>
            </a:r>
          </a:p>
          <a:p>
            <a:pPr>
              <a:lnSpc>
                <a:spcPct val="100000"/>
              </a:lnSpc>
              <a:spcAft>
                <a:spcPts val="100"/>
              </a:spcAft>
            </a:pPr>
            <a:r>
              <a:rPr sz="1000">
                <a:solidFill>
                  <a:srgbClr val="E6E9F5"/>
                </a:solidFill>
                <a:latin typeface="Consolas"/>
              </a:rPr>
              <a:t>CREATE OR ALTER TABLE</a:t>
            </a:r>
          </a:p>
          <a:p>
            <a:pPr>
              <a:lnSpc>
                <a:spcPct val="100000"/>
              </a:lnSpc>
              <a:spcAft>
                <a:spcPts val="100"/>
              </a:spcAft>
            </a:pPr>
            <a:r>
              <a:rPr sz="1000">
                <a:solidFill>
                  <a:srgbClr val="E6E9F5"/>
                </a:solidFill>
                <a:latin typeface="Consolas"/>
              </a:rPr>
              <a:t>  raw.product_events.page_views (</a:t>
            </a:r>
          </a:p>
          <a:p>
            <a:pPr>
              <a:lnSpc>
                <a:spcPct val="100000"/>
              </a:lnSpc>
              <a:spcAft>
                <a:spcPts val="100"/>
              </a:spcAft>
            </a:pPr>
            <a:r>
              <a:rPr sz="1000">
                <a:solidFill>
                  <a:srgbClr val="E6E9F5"/>
                </a:solidFill>
                <a:latin typeface="Consolas"/>
              </a:rPr>
              <a:t>  event_id  STRING,   </a:t>
            </a:r>
            <a:r>
              <a:rPr sz="1000">
                <a:solidFill>
                  <a:srgbClr val="8ED6B0"/>
                </a:solidFill>
                <a:latin typeface="Consolas"/>
              </a:rPr>
              <a:t>-- promoted key</a:t>
            </a:r>
          </a:p>
          <a:p>
            <a:pPr>
              <a:lnSpc>
                <a:spcPct val="100000"/>
              </a:lnSpc>
              <a:spcAft>
                <a:spcPts val="100"/>
              </a:spcAft>
            </a:pPr>
            <a:r>
              <a:rPr sz="1000">
                <a:solidFill>
                  <a:srgbClr val="E6E9F5"/>
                </a:solidFill>
                <a:latin typeface="Consolas"/>
              </a:rPr>
              <a:t>  loaded_at TIMESTAMP_NTZ,</a:t>
            </a:r>
          </a:p>
          <a:p>
            <a:pPr>
              <a:lnSpc>
                <a:spcPct val="100000"/>
              </a:lnSpc>
              <a:spcAft>
                <a:spcPts val="100"/>
              </a:spcAft>
            </a:pPr>
            <a:r>
              <a:rPr sz="1000">
                <a:solidFill>
                  <a:srgbClr val="E6E9F5"/>
                </a:solidFill>
                <a:latin typeface="Consolas"/>
              </a:rPr>
              <a:t>  _filename STRING,</a:t>
            </a:r>
          </a:p>
          <a:p>
            <a:pPr>
              <a:lnSpc>
                <a:spcPct val="100000"/>
              </a:lnSpc>
              <a:spcAft>
                <a:spcPts val="100"/>
              </a:spcAft>
            </a:pPr>
            <a:r>
              <a:rPr sz="1000">
                <a:solidFill>
                  <a:srgbClr val="E6E9F5"/>
                </a:solidFill>
                <a:latin typeface="Consolas"/>
              </a:rPr>
              <a:t>  payload   VARIANT   </a:t>
            </a:r>
            <a:r>
              <a:rPr sz="1000">
                <a:solidFill>
                  <a:srgbClr val="8ED6B0"/>
                </a:solidFill>
                <a:latin typeface="Consolas"/>
              </a:rPr>
              <a:t>-- new fields</a:t>
            </a:r>
          </a:p>
          <a:p>
            <a:pPr>
              <a:lnSpc>
                <a:spcPct val="100000"/>
              </a:lnSpc>
              <a:spcAft>
                <a:spcPts val="100"/>
              </a:spcAft>
            </a:pPr>
            <a:r>
              <a:rPr sz="1000">
                <a:solidFill>
                  <a:srgbClr val="E6E9F5"/>
                </a:solidFill>
                <a:latin typeface="Consolas"/>
              </a:rPr>
              <a:t>);                    </a:t>
            </a:r>
            <a:r>
              <a:rPr sz="1000">
                <a:solidFill>
                  <a:srgbClr val="8ED6B0"/>
                </a:solidFill>
                <a:latin typeface="Consolas"/>
              </a:rPr>
              <a:t>-- land here, no PR</a:t>
            </a:r>
          </a:p>
          <a:p>
            <a:pPr>
              <a:lnSpc>
                <a:spcPct val="100000"/>
              </a:lnSpc>
              <a:spcAft>
                <a:spcPts val="100"/>
              </a:spcAft>
            </a:pPr>
          </a:p>
          <a:p>
            <a:pPr>
              <a:lnSpc>
                <a:spcPct val="100000"/>
              </a:lnSpc>
              <a:spcAft>
                <a:spcPts val="100"/>
              </a:spcAft>
            </a:pPr>
            <a:r>
              <a:rPr sz="1000">
                <a:solidFill>
                  <a:srgbClr val="8ED6B0"/>
                </a:solidFill>
                <a:latin typeface="Consolas"/>
              </a:rPr>
              <a:t>-- STAGING (dbt) - type late</a:t>
            </a:r>
          </a:p>
          <a:p>
            <a:pPr>
              <a:lnSpc>
                <a:spcPct val="100000"/>
              </a:lnSpc>
              <a:spcAft>
                <a:spcPts val="100"/>
              </a:spcAft>
            </a:pPr>
            <a:r>
              <a:rPr sz="1000">
                <a:solidFill>
                  <a:srgbClr val="E6E9F5"/>
                </a:solidFill>
                <a:latin typeface="Consolas"/>
              </a:rPr>
              <a:t>SELECT</a:t>
            </a:r>
          </a:p>
          <a:p>
            <a:pPr>
              <a:lnSpc>
                <a:spcPct val="100000"/>
              </a:lnSpc>
              <a:spcAft>
                <a:spcPts val="100"/>
              </a:spcAft>
            </a:pPr>
            <a:r>
              <a:rPr sz="1000">
                <a:solidFill>
                  <a:srgbClr val="E6E9F5"/>
                </a:solidFill>
                <a:latin typeface="Consolas"/>
              </a:rPr>
              <a:t> payload:event_id::string  AS event_id,</a:t>
            </a:r>
          </a:p>
          <a:p>
            <a:pPr>
              <a:lnSpc>
                <a:spcPct val="100000"/>
              </a:lnSpc>
              <a:spcAft>
                <a:spcPts val="100"/>
              </a:spcAft>
            </a:pPr>
            <a:r>
              <a:rPr sz="1000">
                <a:solidFill>
                  <a:srgbClr val="E6E9F5"/>
                </a:solidFill>
                <a:latin typeface="Consolas"/>
              </a:rPr>
              <a:t> payload:properties.duration_ms::int</a:t>
            </a:r>
          </a:p>
          <a:p>
            <a:pPr>
              <a:lnSpc>
                <a:spcPct val="100000"/>
              </a:lnSpc>
              <a:spcAft>
                <a:spcPts val="100"/>
              </a:spcAft>
            </a:pPr>
            <a:r>
              <a:rPr sz="1000">
                <a:solidFill>
                  <a:srgbClr val="E6E9F5"/>
                </a:solidFill>
                <a:latin typeface="Consolas"/>
              </a:rPr>
              <a:t>                           AS duration_ms</a:t>
            </a:r>
          </a:p>
          <a:p>
            <a:pPr>
              <a:lnSpc>
                <a:spcPct val="100000"/>
              </a:lnSpc>
              <a:spcAft>
                <a:spcPts val="100"/>
              </a:spcAft>
            </a:pPr>
            <a:r>
              <a:rPr sz="1000">
                <a:solidFill>
                  <a:srgbClr val="E6E9F5"/>
                </a:solidFill>
                <a:latin typeface="Consolas"/>
              </a:rPr>
              <a:t>FROM {{ source('product_events',</a:t>
            </a:r>
          </a:p>
          <a:p>
            <a:pPr>
              <a:lnSpc>
                <a:spcPct val="100000"/>
              </a:lnSpc>
              <a:spcAft>
                <a:spcPts val="100"/>
              </a:spcAft>
            </a:pPr>
            <a:r>
              <a:rPr sz="1000">
                <a:solidFill>
                  <a:srgbClr val="E6E9F5"/>
                </a:solidFill>
                <a:latin typeface="Consolas"/>
              </a:rPr>
              <a:t>               'page_views') }}</a:t>
            </a:r>
          </a:p>
          <a:p>
            <a:pPr>
              <a:lnSpc>
                <a:spcPct val="100000"/>
              </a:lnSpc>
              <a:spcAft>
                <a:spcPts val="100"/>
              </a:spcAft>
            </a:pPr>
            <a:r>
              <a:rPr sz="1000">
                <a:solidFill>
                  <a:srgbClr val="8ED6B0"/>
                </a:solidFill>
                <a:latin typeface="Consolas"/>
              </a:rPr>
              <a:t>-- expose a field = one line, via PR</a:t>
            </a:r>
          </a:p>
        </p:txBody>
      </p:sp>
      <p:sp>
        <p:nvSpPr>
          <p:cNvPr id="9" name="Rounded Rectangle 8"/>
          <p:cNvSpPr/>
          <p:nvPr/>
        </p:nvSpPr>
        <p:spPr>
          <a:xfrm>
            <a:off x="502920" y="5806440"/>
            <a:ext cx="11183112" cy="457200"/>
          </a:xfrm>
          <a:prstGeom prst="roundRect">
            <a:avLst/>
          </a:prstGeom>
          <a:solidFill>
            <a:srgbClr val="ECE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806440"/>
            <a:ext cx="82296" cy="457200"/>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806440"/>
            <a:ext cx="10789920" cy="457200"/>
          </a:xfrm>
          <a:prstGeom prst="rect">
            <a:avLst/>
          </a:prstGeom>
          <a:noFill/>
        </p:spPr>
        <p:txBody>
          <a:bodyPr wrap="square" lIns="36576" rIns="36576" tIns="18288" bIns="18288" anchor="ctr">
            <a:spAutoFit/>
          </a:bodyPr>
          <a:lstStyle/>
          <a:p>
            <a:r>
              <a:rPr b="1" sz="1300">
                <a:solidFill>
                  <a:srgbClr val="3B34B8"/>
                </a:solidFill>
                <a:latin typeface="Segoe UI"/>
              </a:rPr>
              <a:t>Takeaway   </a:t>
            </a:r>
            <a:r>
              <a:rPr sz="1300">
                <a:solidFill>
                  <a:srgbClr val="1B1B33"/>
                </a:solidFill>
                <a:latin typeface="Segoe UI"/>
              </a:rPr>
              <a:t>Upstream drift lands safely in VARIANT; the deployed schema changes only through a reviewed, tested PR, drift is a blocking CI signal, not silent breakage.</a:t>
            </a:r>
          </a:p>
        </p:txBody>
      </p:sp>
      <p:sp>
        <p:nvSpPr>
          <p:cNvPr id="12" name="TextBox 11"/>
          <p:cNvSpPr txBox="1"/>
          <p:nvPr/>
        </p:nvSpPr>
        <p:spPr>
          <a:xfrm>
            <a:off x="502920" y="6455664"/>
            <a:ext cx="7315200" cy="320040"/>
          </a:xfrm>
          <a:prstGeom prst="rect">
            <a:avLst/>
          </a:prstGeom>
          <a:noFill/>
        </p:spPr>
        <p:txBody>
          <a:bodyPr wrap="square" lIns="36576" rIns="36576" tIns="18288" bIns="18288">
            <a:spAutoFit/>
          </a:bodyPr>
          <a:lstStyle/>
          <a:p>
            <a:r>
              <a:rPr sz="900">
                <a:solidFill>
                  <a:srgbClr val="5C5B77"/>
                </a:solidFill>
                <a:latin typeface="Segoe UI"/>
              </a:rPr>
              <a:t>OpenGov Data Platform  ·  Case Study  ·  Akash Pahilwan</a:t>
            </a:r>
          </a:p>
        </p:txBody>
      </p:sp>
      <p:sp>
        <p:nvSpPr>
          <p:cNvPr id="13" name="TextBox 12"/>
          <p:cNvSpPr txBox="1"/>
          <p:nvPr/>
        </p:nvSpPr>
        <p:spPr>
          <a:xfrm>
            <a:off x="10911535" y="6455664"/>
            <a:ext cx="822960" cy="320040"/>
          </a:xfrm>
          <a:prstGeom prst="rect">
            <a:avLst/>
          </a:prstGeom>
          <a:noFill/>
        </p:spPr>
        <p:txBody>
          <a:bodyPr wrap="square" lIns="36576" rIns="36576" tIns="18288" bIns="18288">
            <a:spAutoFit/>
          </a:bodyPr>
          <a:lstStyle/>
          <a:p>
            <a:pPr algn="r"/>
            <a:r>
              <a:rPr sz="900">
                <a:solidFill>
                  <a:srgbClr val="5C5B77"/>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191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292"/>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875520" cy="841248"/>
          </a:xfrm>
          <a:prstGeom prst="rect">
            <a:avLst/>
          </a:prstGeom>
          <a:noFill/>
        </p:spPr>
        <p:txBody>
          <a:bodyPr wrap="square" lIns="36576" rIns="36576" tIns="18288" bIns="18288" anchor="ctr">
            <a:spAutoFit/>
          </a:bodyPr>
          <a:lstStyle/>
          <a:p>
            <a:pPr>
              <a:spcAft>
                <a:spcPts val="100"/>
              </a:spcAft>
            </a:pPr>
            <a:r>
              <a:rPr sz="1100" b="1">
                <a:solidFill>
                  <a:srgbClr val="A79FFF"/>
                </a:solidFill>
                <a:latin typeface="Segoe UI"/>
              </a:rPr>
              <a:t>PIPELINES</a:t>
            </a:r>
          </a:p>
          <a:p>
            <a:r>
              <a:rPr sz="2600" b="1">
                <a:solidFill>
                  <a:srgbClr val="FFFFFF"/>
                </a:solidFill>
                <a:latin typeface="Segoe UI"/>
              </a:rPr>
              <a:t>Reliable landing in Snowflake</a:t>
            </a:r>
          </a:p>
        </p:txBody>
      </p:sp>
      <p:pic>
        <p:nvPicPr>
          <p:cNvPr id="5" name="Picture 4" descr="image.png"/>
          <p:cNvPicPr>
            <a:picLocks noChangeAspect="1"/>
          </p:cNvPicPr>
          <p:nvPr/>
        </p:nvPicPr>
        <p:blipFill>
          <a:blip r:embed="rId2"/>
          <a:stretch>
            <a:fillRect/>
          </a:stretch>
        </p:blipFill>
        <p:spPr>
          <a:xfrm>
            <a:off x="11259006" y="237744"/>
            <a:ext cx="548640" cy="548640"/>
          </a:xfrm>
          <a:prstGeom prst="ellipse">
            <a:avLst/>
          </a:prstGeom>
        </p:spPr>
      </p:pic>
      <p:sp>
        <p:nvSpPr>
          <p:cNvPr id="6" name="TextBox 5"/>
          <p:cNvSpPr txBox="1"/>
          <p:nvPr/>
        </p:nvSpPr>
        <p:spPr>
          <a:xfrm>
            <a:off x="640080" y="1417320"/>
            <a:ext cx="10972800" cy="4023360"/>
          </a:xfrm>
          <a:prstGeom prst="rect">
            <a:avLst/>
          </a:prstGeom>
          <a:noFill/>
        </p:spPr>
        <p:txBody>
          <a:bodyPr wrap="square" lIns="36576" rIns="36576" tIns="18288" bIns="18288">
            <a:spAutoFit/>
          </a:bodyPr>
          <a:lstStyle/>
          <a:p>
            <a:pPr>
              <a:lnSpc>
                <a:spcPct val="107000"/>
              </a:lnSpc>
              <a:spcAft>
                <a:spcPts val="800"/>
              </a:spcAft>
            </a:pPr>
            <a:r>
              <a:rPr sz="1800">
                <a:solidFill>
                  <a:srgbClr val="4A3FFF"/>
                </a:solidFill>
                <a:latin typeface="Segoe UI"/>
              </a:rPr>
              <a:t>▸  </a:t>
            </a:r>
            <a:r>
              <a:rPr b="1" sz="1800">
                <a:solidFill>
                  <a:srgbClr val="1B1B33"/>
                </a:solidFill>
                <a:latin typeface="Segoe UI"/>
              </a:rPr>
              <a:t>Partitioned landing zone:   </a:t>
            </a:r>
            <a:r>
              <a:rPr sz="1800">
                <a:solidFill>
                  <a:srgbClr val="1B1B33"/>
                </a:solidFill>
                <a:latin typeface="Segoe UI"/>
              </a:rPr>
              <a:t>S3 keys as source/table/ingest_date=…, immutable, append-only, replayable.</a:t>
            </a:r>
          </a:p>
          <a:p>
            <a:pPr>
              <a:lnSpc>
                <a:spcPct val="107000"/>
              </a:lnSpc>
              <a:spcAft>
                <a:spcPts val="800"/>
              </a:spcAft>
            </a:pPr>
            <a:r>
              <a:rPr sz="1800">
                <a:solidFill>
                  <a:srgbClr val="4A3FFF"/>
                </a:solidFill>
                <a:latin typeface="Segoe UI"/>
              </a:rPr>
              <a:t>▸  </a:t>
            </a:r>
            <a:r>
              <a:rPr b="1" sz="1800">
                <a:solidFill>
                  <a:srgbClr val="1B1B33"/>
                </a:solidFill>
                <a:latin typeface="Segoe UI"/>
              </a:rPr>
              <a:t>File formats:   </a:t>
            </a:r>
            <a:r>
              <a:rPr sz="1800">
                <a:solidFill>
                  <a:srgbClr val="1B1B33"/>
                </a:solidFill>
                <a:latin typeface="Segoe UI"/>
              </a:rPr>
              <a:t>JSON → VARIANT for semi-structured; Parquet for large columnar; compressed; bounded file sizes.</a:t>
            </a:r>
          </a:p>
          <a:p>
            <a:pPr>
              <a:lnSpc>
                <a:spcPct val="107000"/>
              </a:lnSpc>
              <a:spcAft>
                <a:spcPts val="800"/>
              </a:spcAft>
            </a:pPr>
            <a:r>
              <a:rPr sz="1800">
                <a:solidFill>
                  <a:srgbClr val="4A3FFF"/>
                </a:solidFill>
                <a:latin typeface="Segoe UI"/>
              </a:rPr>
              <a:t>▸  </a:t>
            </a:r>
            <a:r>
              <a:rPr b="1" sz="1800">
                <a:solidFill>
                  <a:srgbClr val="1B1B33"/>
                </a:solidFill>
                <a:latin typeface="Segoe UI"/>
              </a:rPr>
              <a:t>Load path:   </a:t>
            </a:r>
            <a:r>
              <a:rPr sz="1800">
                <a:solidFill>
                  <a:srgbClr val="1B1B33"/>
                </a:solidFill>
                <a:latin typeface="Segoe UI"/>
              </a:rPr>
              <a:t>External stage + COPY INTO, or Snowpipe on arrival; capture METADATA$FILENAME for lineage.</a:t>
            </a:r>
          </a:p>
          <a:p>
            <a:pPr>
              <a:lnSpc>
                <a:spcPct val="107000"/>
              </a:lnSpc>
              <a:spcAft>
                <a:spcPts val="800"/>
              </a:spcAft>
            </a:pPr>
            <a:r>
              <a:rPr sz="1800">
                <a:solidFill>
                  <a:srgbClr val="4A3FFF"/>
                </a:solidFill>
                <a:latin typeface="Segoe UI"/>
              </a:rPr>
              <a:t>▸  </a:t>
            </a:r>
            <a:r>
              <a:rPr b="1" sz="1800">
                <a:solidFill>
                  <a:srgbClr val="1B1B33"/>
                </a:solidFill>
                <a:latin typeface="Segoe UI"/>
              </a:rPr>
              <a:t>Quality gates at load:   </a:t>
            </a:r>
            <a:r>
              <a:rPr sz="1800">
                <a:solidFill>
                  <a:srgbClr val="1B1B33"/>
                </a:solidFill>
                <a:latin typeface="Segoe UI"/>
              </a:rPr>
              <a:t>Validate required fields; bad rows → _QUARANTINE table; never fail the whole batch on one row.</a:t>
            </a:r>
          </a:p>
          <a:p>
            <a:pPr>
              <a:lnSpc>
                <a:spcPct val="107000"/>
              </a:lnSpc>
              <a:spcAft>
                <a:spcPts val="800"/>
              </a:spcAft>
            </a:pPr>
            <a:r>
              <a:rPr sz="1800">
                <a:solidFill>
                  <a:srgbClr val="4A3FFF"/>
                </a:solidFill>
                <a:latin typeface="Segoe UI"/>
              </a:rPr>
              <a:t>▸  </a:t>
            </a:r>
            <a:r>
              <a:rPr b="1" sz="1800">
                <a:solidFill>
                  <a:srgbClr val="1B1B33"/>
                </a:solidFill>
                <a:latin typeface="Segoe UI"/>
              </a:rPr>
              <a:t>Observability:   </a:t>
            </a:r>
            <a:r>
              <a:rPr sz="1800">
                <a:solidFill>
                  <a:srgbClr val="1B1B33"/>
                </a:solidFill>
                <a:latin typeface="Segoe UI"/>
              </a:rPr>
              <a:t>A _LOAD_LOG row per file, records processed, quarantined, load timestamp.</a:t>
            </a:r>
          </a:p>
          <a:p>
            <a:pPr>
              <a:lnSpc>
                <a:spcPct val="107000"/>
              </a:lnSpc>
              <a:spcAft>
                <a:spcPts val="800"/>
              </a:spcAft>
            </a:pPr>
            <a:r>
              <a:rPr sz="1800">
                <a:solidFill>
                  <a:srgbClr val="4A3FFF"/>
                </a:solidFill>
                <a:latin typeface="Segoe UI"/>
              </a:rPr>
              <a:t>▸  </a:t>
            </a:r>
            <a:r>
              <a:rPr b="1" sz="1800">
                <a:solidFill>
                  <a:srgbClr val="1B1B33"/>
                </a:solidFill>
                <a:latin typeface="Segoe UI"/>
              </a:rPr>
              <a:t>Idempotent:   </a:t>
            </a:r>
            <a:r>
              <a:rPr sz="1800">
                <a:solidFill>
                  <a:srgbClr val="1B1B33"/>
                </a:solidFill>
                <a:latin typeface="Segoe UI"/>
              </a:rPr>
              <a:t>Dedup on natural key so re-loading a file is a no-op.</a:t>
            </a:r>
          </a:p>
        </p:txBody>
      </p:sp>
      <p:sp>
        <p:nvSpPr>
          <p:cNvPr id="7" name="Rounded Rectangle 6"/>
          <p:cNvSpPr/>
          <p:nvPr/>
        </p:nvSpPr>
        <p:spPr>
          <a:xfrm>
            <a:off x="502920" y="5806440"/>
            <a:ext cx="11183112" cy="457200"/>
          </a:xfrm>
          <a:prstGeom prst="roundRect">
            <a:avLst/>
          </a:prstGeom>
          <a:solidFill>
            <a:srgbClr val="ECE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06440"/>
            <a:ext cx="82296" cy="457200"/>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806440"/>
            <a:ext cx="10789920" cy="457200"/>
          </a:xfrm>
          <a:prstGeom prst="rect">
            <a:avLst/>
          </a:prstGeom>
          <a:noFill/>
        </p:spPr>
        <p:txBody>
          <a:bodyPr wrap="square" lIns="36576" rIns="36576" tIns="18288" bIns="18288" anchor="ctr">
            <a:spAutoFit/>
          </a:bodyPr>
          <a:lstStyle/>
          <a:p>
            <a:r>
              <a:rPr b="1" sz="1300">
                <a:solidFill>
                  <a:srgbClr val="3B34B8"/>
                </a:solidFill>
                <a:latin typeface="Segoe UI"/>
              </a:rPr>
              <a:t>Takeaway   </a:t>
            </a:r>
            <a:r>
              <a:rPr sz="1300">
                <a:solidFill>
                  <a:srgbClr val="1B1B33"/>
                </a:solidFill>
                <a:latin typeface="Segoe UI"/>
              </a:rPr>
              <a:t>RAW is immutable truth, validate and quarantine at the door, log every load.</a:t>
            </a:r>
          </a:p>
        </p:txBody>
      </p:sp>
      <p:sp>
        <p:nvSpPr>
          <p:cNvPr id="10" name="TextBox 9"/>
          <p:cNvSpPr txBox="1"/>
          <p:nvPr/>
        </p:nvSpPr>
        <p:spPr>
          <a:xfrm>
            <a:off x="502920" y="6455664"/>
            <a:ext cx="7315200" cy="320040"/>
          </a:xfrm>
          <a:prstGeom prst="rect">
            <a:avLst/>
          </a:prstGeom>
          <a:noFill/>
        </p:spPr>
        <p:txBody>
          <a:bodyPr wrap="square" lIns="36576" rIns="36576" tIns="18288" bIns="18288">
            <a:spAutoFit/>
          </a:bodyPr>
          <a:lstStyle/>
          <a:p>
            <a:r>
              <a:rPr sz="900">
                <a:solidFill>
                  <a:srgbClr val="5C5B77"/>
                </a:solidFill>
                <a:latin typeface="Segoe UI"/>
              </a:rPr>
              <a:t>OpenGov Data Platform  ·  Case Study  ·  Akash Pahilwan</a:t>
            </a:r>
          </a:p>
        </p:txBody>
      </p:sp>
      <p:sp>
        <p:nvSpPr>
          <p:cNvPr id="11" name="TextBox 10"/>
          <p:cNvSpPr txBox="1"/>
          <p:nvPr/>
        </p:nvSpPr>
        <p:spPr>
          <a:xfrm>
            <a:off x="10911535" y="6455664"/>
            <a:ext cx="822960" cy="320040"/>
          </a:xfrm>
          <a:prstGeom prst="rect">
            <a:avLst/>
          </a:prstGeom>
          <a:noFill/>
        </p:spPr>
        <p:txBody>
          <a:bodyPr wrap="square" lIns="36576" rIns="36576" tIns="18288" bIns="18288">
            <a:spAutoFit/>
          </a:bodyPr>
          <a:lstStyle/>
          <a:p>
            <a:pPr algn="r"/>
            <a:r>
              <a:rPr sz="900">
                <a:solidFill>
                  <a:srgbClr val="5C5B77"/>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191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292"/>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875520" cy="841248"/>
          </a:xfrm>
          <a:prstGeom prst="rect">
            <a:avLst/>
          </a:prstGeom>
          <a:noFill/>
        </p:spPr>
        <p:txBody>
          <a:bodyPr wrap="square" lIns="36576" rIns="36576" tIns="18288" bIns="18288" anchor="ctr">
            <a:spAutoFit/>
          </a:bodyPr>
          <a:lstStyle/>
          <a:p>
            <a:pPr>
              <a:spcAft>
                <a:spcPts val="100"/>
              </a:spcAft>
            </a:pPr>
            <a:r>
              <a:rPr sz="1100" b="1">
                <a:solidFill>
                  <a:srgbClr val="A79FFF"/>
                </a:solidFill>
                <a:latin typeface="Segoe UI"/>
              </a:rPr>
              <a:t>FOUNDATION</a:t>
            </a:r>
          </a:p>
          <a:p>
            <a:r>
              <a:rPr sz="2600" b="1">
                <a:solidFill>
                  <a:srgbClr val="FFFFFF"/>
                </a:solidFill>
                <a:latin typeface="Segoe UI"/>
              </a:rPr>
              <a:t>Snowflake layer model &amp; environment strategy</a:t>
            </a:r>
          </a:p>
        </p:txBody>
      </p:sp>
      <p:pic>
        <p:nvPicPr>
          <p:cNvPr id="5" name="Picture 4" descr="image.png"/>
          <p:cNvPicPr>
            <a:picLocks noChangeAspect="1"/>
          </p:cNvPicPr>
          <p:nvPr/>
        </p:nvPicPr>
        <p:blipFill>
          <a:blip r:embed="rId2"/>
          <a:stretch>
            <a:fillRect/>
          </a:stretch>
        </p:blipFill>
        <p:spPr>
          <a:xfrm>
            <a:off x="11259006" y="237744"/>
            <a:ext cx="548640" cy="548640"/>
          </a:xfrm>
          <a:prstGeom prst="ellipse">
            <a:avLst/>
          </a:prstGeom>
        </p:spPr>
      </p:pic>
      <p:sp>
        <p:nvSpPr>
          <p:cNvPr id="6" name="TextBox 5"/>
          <p:cNvSpPr txBox="1"/>
          <p:nvPr/>
        </p:nvSpPr>
        <p:spPr>
          <a:xfrm>
            <a:off x="640080" y="1371600"/>
            <a:ext cx="10972800" cy="4297680"/>
          </a:xfrm>
          <a:prstGeom prst="rect">
            <a:avLst/>
          </a:prstGeom>
          <a:noFill/>
        </p:spPr>
        <p:txBody>
          <a:bodyPr wrap="square" lIns="36576" rIns="36576" tIns="18288" bIns="18288">
            <a:spAutoFit/>
          </a:bodyPr>
          <a:lstStyle/>
          <a:p>
            <a:pPr>
              <a:lnSpc>
                <a:spcPct val="107000"/>
              </a:lnSpc>
              <a:spcAft>
                <a:spcPts val="800"/>
              </a:spcAft>
            </a:pPr>
            <a:r>
              <a:rPr sz="1800">
                <a:solidFill>
                  <a:srgbClr val="4A3FFF"/>
                </a:solidFill>
                <a:latin typeface="Segoe UI"/>
              </a:rPr>
              <a:t>▸  </a:t>
            </a:r>
            <a:r>
              <a:rPr b="1" sz="1800">
                <a:solidFill>
                  <a:srgbClr val="1B1B33"/>
                </a:solidFill>
                <a:latin typeface="Segoe UI"/>
              </a:rPr>
              <a:t>Database-per-layer:   </a:t>
            </a:r>
            <a:r>
              <a:rPr sz="1800">
                <a:solidFill>
                  <a:srgbClr val="1B1B33"/>
                </a:solidFill>
                <a:latin typeface="Segoe UI"/>
              </a:rPr>
              <a:t>RAW → STAGING → MARTS → SANDBOX; clear ownership and blast-radius per layer.</a:t>
            </a:r>
          </a:p>
          <a:p>
            <a:pPr>
              <a:lnSpc>
                <a:spcPct val="107000"/>
              </a:lnSpc>
              <a:spcAft>
                <a:spcPts val="300"/>
              </a:spcAft>
            </a:pPr>
            <a:r>
              <a:rPr sz="1500">
                <a:solidFill>
                  <a:srgbClr val="5C5B77"/>
                </a:solidFill>
                <a:latin typeface="Segoe UI"/>
              </a:rPr>
              <a:t>        ·  </a:t>
            </a:r>
            <a:r>
              <a:rPr b="1" sz="1500">
                <a:solidFill>
                  <a:srgbClr val="1B1B33"/>
                </a:solidFill>
                <a:latin typeface="Segoe UI"/>
              </a:rPr>
              <a:t>RAW   </a:t>
            </a:r>
            <a:r>
              <a:rPr sz="1500">
                <a:solidFill>
                  <a:srgbClr val="3E3D5C"/>
                </a:solidFill>
                <a:latin typeface="Segoe UI"/>
              </a:rPr>
              <a:t>Loader-owned, immutable, source-system schemas, no business logic.</a:t>
            </a:r>
          </a:p>
          <a:p>
            <a:pPr>
              <a:lnSpc>
                <a:spcPct val="107000"/>
              </a:lnSpc>
              <a:spcAft>
                <a:spcPts val="300"/>
              </a:spcAft>
            </a:pPr>
            <a:r>
              <a:rPr sz="1500">
                <a:solidFill>
                  <a:srgbClr val="5C5B77"/>
                </a:solidFill>
                <a:latin typeface="Segoe UI"/>
              </a:rPr>
              <a:t>        ·  </a:t>
            </a:r>
            <a:r>
              <a:rPr b="1" sz="1500">
                <a:solidFill>
                  <a:srgbClr val="1B1B33"/>
                </a:solidFill>
                <a:latin typeface="Segoe UI"/>
              </a:rPr>
              <a:t>STAGING   </a:t>
            </a:r>
            <a:r>
              <a:rPr sz="1500">
                <a:solidFill>
                  <a:srgbClr val="3E3D5C"/>
                </a:solidFill>
                <a:latin typeface="Segoe UI"/>
              </a:rPr>
              <a:t>dbt-owned; typed, renamed, conformed; light transforms.</a:t>
            </a:r>
          </a:p>
          <a:p>
            <a:pPr>
              <a:lnSpc>
                <a:spcPct val="107000"/>
              </a:lnSpc>
              <a:spcAft>
                <a:spcPts val="300"/>
              </a:spcAft>
            </a:pPr>
            <a:r>
              <a:rPr sz="1500">
                <a:solidFill>
                  <a:srgbClr val="5C5B77"/>
                </a:solidFill>
                <a:latin typeface="Segoe UI"/>
              </a:rPr>
              <a:t>        ·  </a:t>
            </a:r>
            <a:r>
              <a:rPr b="1" sz="1500">
                <a:solidFill>
                  <a:srgbClr val="1B1B33"/>
                </a:solidFill>
                <a:latin typeface="Segoe UI"/>
              </a:rPr>
              <a:t>MARTS   </a:t>
            </a:r>
            <a:r>
              <a:rPr sz="1500">
                <a:solidFill>
                  <a:srgbClr val="3E3D5C"/>
                </a:solidFill>
                <a:latin typeface="Segoe UI"/>
              </a:rPr>
              <a:t>dbt-owned; business-ready, domain schemas, tested &amp; documented.</a:t>
            </a:r>
          </a:p>
          <a:p>
            <a:pPr>
              <a:lnSpc>
                <a:spcPct val="107000"/>
              </a:lnSpc>
              <a:spcAft>
                <a:spcPts val="300"/>
              </a:spcAft>
            </a:pPr>
            <a:r>
              <a:rPr sz="1500">
                <a:solidFill>
                  <a:srgbClr val="5C5B77"/>
                </a:solidFill>
                <a:latin typeface="Segoe UI"/>
              </a:rPr>
              <a:t>        ·  </a:t>
            </a:r>
            <a:r>
              <a:rPr b="1" sz="1500">
                <a:solidFill>
                  <a:srgbClr val="1B1B33"/>
                </a:solidFill>
                <a:latin typeface="Segoe UI"/>
              </a:rPr>
              <a:t>SANDBOX   </a:t>
            </a:r>
            <a:r>
              <a:rPr sz="1500">
                <a:solidFill>
                  <a:srgbClr val="3E3D5C"/>
                </a:solidFill>
                <a:latin typeface="Segoe UI"/>
              </a:rPr>
              <a:t>Analyst scratch; safe to break, no downstream dependencies.</a:t>
            </a:r>
          </a:p>
          <a:p>
            <a:pPr>
              <a:lnSpc>
                <a:spcPct val="107000"/>
              </a:lnSpc>
              <a:spcAft>
                <a:spcPts val="800"/>
              </a:spcAft>
            </a:pPr>
            <a:r>
              <a:rPr sz="1800">
                <a:solidFill>
                  <a:srgbClr val="4A3FFF"/>
                </a:solidFill>
                <a:latin typeface="Segoe UI"/>
              </a:rPr>
              <a:t>▸  </a:t>
            </a:r>
            <a:r>
              <a:rPr b="1" sz="1800">
                <a:solidFill>
                  <a:srgbClr val="1B1B33"/>
                </a:solidFill>
                <a:latin typeface="Segoe UI"/>
              </a:rPr>
              <a:t>Warehouse strategy:   </a:t>
            </a:r>
            <a:r>
              <a:rPr sz="1800">
                <a:solidFill>
                  <a:srgbClr val="1B1B33"/>
                </a:solidFill>
                <a:latin typeface="Segoe UI"/>
              </a:rPr>
              <a:t>Separate ingest / transform / BI warehouses; right-sized; auto-suspend for cost.</a:t>
            </a:r>
          </a:p>
          <a:p>
            <a:pPr>
              <a:lnSpc>
                <a:spcPct val="107000"/>
              </a:lnSpc>
              <a:spcAft>
                <a:spcPts val="800"/>
              </a:spcAft>
            </a:pPr>
            <a:r>
              <a:rPr sz="1800">
                <a:solidFill>
                  <a:srgbClr val="4A3FFF"/>
                </a:solidFill>
                <a:latin typeface="Segoe UI"/>
              </a:rPr>
              <a:t>▸  </a:t>
            </a:r>
            <a:r>
              <a:rPr b="1" sz="1800">
                <a:solidFill>
                  <a:srgbClr val="1B1B33"/>
                </a:solidFill>
                <a:latin typeface="Segoe UI"/>
              </a:rPr>
              <a:t>Environments:   </a:t>
            </a:r>
            <a:r>
              <a:rPr sz="1800">
                <a:solidFill>
                  <a:srgbClr val="1B1B33"/>
                </a:solidFill>
                <a:latin typeface="Segoe UI"/>
              </a:rPr>
              <a:t>Dev and prod isolated; promotion through CI, never manual edits in prod.</a:t>
            </a:r>
          </a:p>
        </p:txBody>
      </p:sp>
      <p:sp>
        <p:nvSpPr>
          <p:cNvPr id="7" name="Rounded Rectangle 6"/>
          <p:cNvSpPr/>
          <p:nvPr/>
        </p:nvSpPr>
        <p:spPr>
          <a:xfrm>
            <a:off x="502920" y="5806440"/>
            <a:ext cx="11183112" cy="457200"/>
          </a:xfrm>
          <a:prstGeom prst="roundRect">
            <a:avLst/>
          </a:prstGeom>
          <a:solidFill>
            <a:srgbClr val="ECE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06440"/>
            <a:ext cx="82296" cy="457200"/>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806440"/>
            <a:ext cx="10789920" cy="457200"/>
          </a:xfrm>
          <a:prstGeom prst="rect">
            <a:avLst/>
          </a:prstGeom>
          <a:noFill/>
        </p:spPr>
        <p:txBody>
          <a:bodyPr wrap="square" lIns="36576" rIns="36576" tIns="18288" bIns="18288" anchor="ctr">
            <a:spAutoFit/>
          </a:bodyPr>
          <a:lstStyle/>
          <a:p>
            <a:r>
              <a:rPr b="1" sz="1300">
                <a:solidFill>
                  <a:srgbClr val="3B34B8"/>
                </a:solidFill>
                <a:latin typeface="Segoe UI"/>
              </a:rPr>
              <a:t>Takeaway   </a:t>
            </a:r>
            <a:r>
              <a:rPr sz="1300">
                <a:solidFill>
                  <a:srgbClr val="1B1B33"/>
                </a:solidFill>
                <a:latin typeface="Segoe UI"/>
              </a:rPr>
              <a:t>Layers give ownership and blast-radius control; warehouses give workload &amp; cost isolation.</a:t>
            </a:r>
          </a:p>
        </p:txBody>
      </p:sp>
      <p:sp>
        <p:nvSpPr>
          <p:cNvPr id="10" name="TextBox 9"/>
          <p:cNvSpPr txBox="1"/>
          <p:nvPr/>
        </p:nvSpPr>
        <p:spPr>
          <a:xfrm>
            <a:off x="502920" y="6455664"/>
            <a:ext cx="7315200" cy="320040"/>
          </a:xfrm>
          <a:prstGeom prst="rect">
            <a:avLst/>
          </a:prstGeom>
          <a:noFill/>
        </p:spPr>
        <p:txBody>
          <a:bodyPr wrap="square" lIns="36576" rIns="36576" tIns="18288" bIns="18288">
            <a:spAutoFit/>
          </a:bodyPr>
          <a:lstStyle/>
          <a:p>
            <a:r>
              <a:rPr sz="900">
                <a:solidFill>
                  <a:srgbClr val="5C5B77"/>
                </a:solidFill>
                <a:latin typeface="Segoe UI"/>
              </a:rPr>
              <a:t>OpenGov Data Platform  ·  Case Study  ·  Akash Pahilwan</a:t>
            </a:r>
          </a:p>
        </p:txBody>
      </p:sp>
      <p:sp>
        <p:nvSpPr>
          <p:cNvPr id="11" name="TextBox 10"/>
          <p:cNvSpPr txBox="1"/>
          <p:nvPr/>
        </p:nvSpPr>
        <p:spPr>
          <a:xfrm>
            <a:off x="10911535" y="6455664"/>
            <a:ext cx="822960" cy="320040"/>
          </a:xfrm>
          <a:prstGeom prst="rect">
            <a:avLst/>
          </a:prstGeom>
          <a:noFill/>
        </p:spPr>
        <p:txBody>
          <a:bodyPr wrap="square" lIns="36576" rIns="36576" tIns="18288" bIns="18288">
            <a:spAutoFit/>
          </a:bodyPr>
          <a:lstStyle/>
          <a:p>
            <a:pPr algn="r"/>
            <a:r>
              <a:rPr sz="900">
                <a:solidFill>
                  <a:srgbClr val="5C5B77"/>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191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292"/>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875520" cy="841248"/>
          </a:xfrm>
          <a:prstGeom prst="rect">
            <a:avLst/>
          </a:prstGeom>
          <a:noFill/>
        </p:spPr>
        <p:txBody>
          <a:bodyPr wrap="square" lIns="36576" rIns="36576" tIns="18288" bIns="18288" anchor="ctr">
            <a:spAutoFit/>
          </a:bodyPr>
          <a:lstStyle/>
          <a:p>
            <a:pPr>
              <a:spcAft>
                <a:spcPts val="100"/>
              </a:spcAft>
            </a:pPr>
            <a:r>
              <a:rPr sz="1100" b="1">
                <a:solidFill>
                  <a:srgbClr val="A79FFF"/>
                </a:solidFill>
                <a:latin typeface="Segoe UI"/>
              </a:rPr>
              <a:t>PIPELINES</a:t>
            </a:r>
          </a:p>
          <a:p>
            <a:r>
              <a:rPr sz="2600" b="1">
                <a:solidFill>
                  <a:srgbClr val="FFFFFF"/>
                </a:solidFill>
                <a:latin typeface="Segoe UI"/>
              </a:rPr>
              <a:t>dbt for many domains, without a monolith</a:t>
            </a:r>
          </a:p>
        </p:txBody>
      </p:sp>
      <p:pic>
        <p:nvPicPr>
          <p:cNvPr id="5" name="Picture 4" descr="image.png"/>
          <p:cNvPicPr>
            <a:picLocks noChangeAspect="1"/>
          </p:cNvPicPr>
          <p:nvPr/>
        </p:nvPicPr>
        <p:blipFill>
          <a:blip r:embed="rId2"/>
          <a:stretch>
            <a:fillRect/>
          </a:stretch>
        </p:blipFill>
        <p:spPr>
          <a:xfrm>
            <a:off x="11259006" y="237744"/>
            <a:ext cx="548640" cy="548640"/>
          </a:xfrm>
          <a:prstGeom prst="ellipse">
            <a:avLst/>
          </a:prstGeom>
        </p:spPr>
      </p:pic>
      <p:sp>
        <p:nvSpPr>
          <p:cNvPr id="6" name="TextBox 5"/>
          <p:cNvSpPr txBox="1"/>
          <p:nvPr/>
        </p:nvSpPr>
        <p:spPr>
          <a:xfrm>
            <a:off x="640080" y="1417320"/>
            <a:ext cx="10972800" cy="4114800"/>
          </a:xfrm>
          <a:prstGeom prst="rect">
            <a:avLst/>
          </a:prstGeom>
          <a:noFill/>
        </p:spPr>
        <p:txBody>
          <a:bodyPr wrap="square" lIns="36576" rIns="36576" tIns="18288" bIns="18288">
            <a:spAutoFit/>
          </a:bodyPr>
          <a:lstStyle/>
          <a:p>
            <a:pPr>
              <a:lnSpc>
                <a:spcPct val="107000"/>
              </a:lnSpc>
              <a:spcAft>
                <a:spcPts val="800"/>
              </a:spcAft>
            </a:pPr>
            <a:r>
              <a:rPr sz="1800">
                <a:solidFill>
                  <a:srgbClr val="4A3FFF"/>
                </a:solidFill>
                <a:latin typeface="Segoe UI"/>
              </a:rPr>
              <a:t>▸  </a:t>
            </a:r>
            <a:r>
              <a:rPr b="1" sz="1800">
                <a:solidFill>
                  <a:srgbClr val="1B1B33"/>
                </a:solidFill>
                <a:latin typeface="Segoe UI"/>
              </a:rPr>
              <a:t>Layered models:   </a:t>
            </a:r>
            <a:r>
              <a:rPr sz="1800">
                <a:solidFill>
                  <a:srgbClr val="1B1B33"/>
                </a:solidFill>
                <a:latin typeface="Segoe UI"/>
              </a:rPr>
              <a:t>Staging (1:1 with source) → intermediate → marts (by domain).</a:t>
            </a:r>
          </a:p>
          <a:p>
            <a:pPr>
              <a:lnSpc>
                <a:spcPct val="107000"/>
              </a:lnSpc>
              <a:spcAft>
                <a:spcPts val="800"/>
              </a:spcAft>
            </a:pPr>
            <a:r>
              <a:rPr sz="1800">
                <a:solidFill>
                  <a:srgbClr val="4A3FFF"/>
                </a:solidFill>
                <a:latin typeface="Segoe UI"/>
              </a:rPr>
              <a:t>▸  </a:t>
            </a:r>
            <a:r>
              <a:rPr b="1" sz="1800">
                <a:solidFill>
                  <a:srgbClr val="1B1B33"/>
                </a:solidFill>
                <a:latin typeface="Segoe UI"/>
              </a:rPr>
              <a:t>Organize by domain, not by one giant project:   </a:t>
            </a:r>
            <a:r>
              <a:rPr sz="1800">
                <a:solidFill>
                  <a:srgbClr val="1B1B33"/>
                </a:solidFill>
                <a:latin typeface="Segoe UI"/>
              </a:rPr>
              <a:t>Folders + CODEOWNERS per domain (revops, finance, product, hr).</a:t>
            </a:r>
          </a:p>
          <a:p>
            <a:pPr>
              <a:lnSpc>
                <a:spcPct val="107000"/>
              </a:lnSpc>
              <a:spcAft>
                <a:spcPts val="800"/>
              </a:spcAft>
            </a:pPr>
            <a:r>
              <a:rPr sz="1800">
                <a:solidFill>
                  <a:srgbClr val="4A3FFF"/>
                </a:solidFill>
                <a:latin typeface="Segoe UI"/>
              </a:rPr>
              <a:t>▸  </a:t>
            </a:r>
            <a:r>
              <a:rPr b="1" sz="1800">
                <a:solidFill>
                  <a:srgbClr val="1B1B33"/>
                </a:solidFill>
                <a:latin typeface="Segoe UI"/>
              </a:rPr>
              <a:t>dbt Mesh:   </a:t>
            </a:r>
            <a:r>
              <a:rPr sz="1800">
                <a:solidFill>
                  <a:srgbClr val="1B1B33"/>
                </a:solidFill>
                <a:latin typeface="Segoe UI"/>
              </a:rPr>
              <a:t>Each domain exposes PUBLIC models via contracts; consumers depend on stable interfaces, not internals.</a:t>
            </a:r>
          </a:p>
          <a:p>
            <a:pPr>
              <a:lnSpc>
                <a:spcPct val="107000"/>
              </a:lnSpc>
              <a:spcAft>
                <a:spcPts val="800"/>
              </a:spcAft>
            </a:pPr>
            <a:r>
              <a:rPr sz="1800">
                <a:solidFill>
                  <a:srgbClr val="4A3FFF"/>
                </a:solidFill>
                <a:latin typeface="Segoe UI"/>
              </a:rPr>
              <a:t>▸  </a:t>
            </a:r>
            <a:r>
              <a:rPr b="1" sz="1800">
                <a:solidFill>
                  <a:srgbClr val="1B1B33"/>
                </a:solidFill>
                <a:latin typeface="Segoe UI"/>
              </a:rPr>
              <a:t>Quality is code:   </a:t>
            </a:r>
            <a:r>
              <a:rPr sz="1800">
                <a:solidFill>
                  <a:srgbClr val="1B1B33"/>
                </a:solidFill>
                <a:latin typeface="Segoe UI"/>
              </a:rPr>
              <a:t>Generic + singular tests, model contracts, source freshness, exposures for BI/AI lineage.</a:t>
            </a:r>
          </a:p>
          <a:p>
            <a:pPr>
              <a:lnSpc>
                <a:spcPct val="107000"/>
              </a:lnSpc>
              <a:spcAft>
                <a:spcPts val="800"/>
              </a:spcAft>
            </a:pPr>
            <a:r>
              <a:rPr sz="1800">
                <a:solidFill>
                  <a:srgbClr val="4A3FFF"/>
                </a:solidFill>
                <a:latin typeface="Segoe UI"/>
              </a:rPr>
              <a:t>▸  </a:t>
            </a:r>
            <a:r>
              <a:rPr b="1" sz="1800">
                <a:solidFill>
                  <a:srgbClr val="1B1B33"/>
                </a:solidFill>
                <a:latin typeface="Segoe UI"/>
              </a:rPr>
              <a:t>Incremental vs full-refresh:   </a:t>
            </a:r>
            <a:r>
              <a:rPr sz="1800">
                <a:solidFill>
                  <a:srgbClr val="1B1B33"/>
                </a:solidFill>
                <a:latin typeface="Segoe UI"/>
              </a:rPr>
              <a:t>Incremental for high-volume events (telemetry); full-refresh for small dimensions.</a:t>
            </a:r>
          </a:p>
          <a:p>
            <a:pPr>
              <a:lnSpc>
                <a:spcPct val="107000"/>
              </a:lnSpc>
              <a:spcAft>
                <a:spcPts val="800"/>
              </a:spcAft>
            </a:pPr>
            <a:r>
              <a:rPr sz="1800">
                <a:solidFill>
                  <a:srgbClr val="4A3FFF"/>
                </a:solidFill>
                <a:latin typeface="Segoe UI"/>
              </a:rPr>
              <a:t>▸  </a:t>
            </a:r>
            <a:r>
              <a:rPr b="1" sz="1800">
                <a:solidFill>
                  <a:srgbClr val="1B1B33"/>
                </a:solidFill>
                <a:latin typeface="Segoe UI"/>
              </a:rPr>
              <a:t>Fast CI:   </a:t>
            </a:r>
            <a:r>
              <a:rPr sz="1800">
                <a:solidFill>
                  <a:srgbClr val="1B1B33"/>
                </a:solidFill>
                <a:latin typeface="Segoe UI"/>
              </a:rPr>
              <a:t>Slim CI builds only state:modified+, seconds, not full rebuilds.</a:t>
            </a:r>
          </a:p>
        </p:txBody>
      </p:sp>
      <p:sp>
        <p:nvSpPr>
          <p:cNvPr id="7" name="Rounded Rectangle 6"/>
          <p:cNvSpPr/>
          <p:nvPr/>
        </p:nvSpPr>
        <p:spPr>
          <a:xfrm>
            <a:off x="502920" y="5806440"/>
            <a:ext cx="11183112" cy="457200"/>
          </a:xfrm>
          <a:prstGeom prst="roundRect">
            <a:avLst/>
          </a:prstGeom>
          <a:solidFill>
            <a:srgbClr val="ECE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06440"/>
            <a:ext cx="82296" cy="457200"/>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806440"/>
            <a:ext cx="10789920" cy="457200"/>
          </a:xfrm>
          <a:prstGeom prst="rect">
            <a:avLst/>
          </a:prstGeom>
          <a:noFill/>
        </p:spPr>
        <p:txBody>
          <a:bodyPr wrap="square" lIns="36576" rIns="36576" tIns="18288" bIns="18288" anchor="ctr">
            <a:spAutoFit/>
          </a:bodyPr>
          <a:lstStyle/>
          <a:p>
            <a:r>
              <a:rPr b="1" sz="1300">
                <a:solidFill>
                  <a:srgbClr val="3B34B8"/>
                </a:solidFill>
                <a:latin typeface="Segoe UI"/>
              </a:rPr>
              <a:t>Takeaway   </a:t>
            </a:r>
            <a:r>
              <a:rPr sz="1300">
                <a:solidFill>
                  <a:srgbClr val="1B1B33"/>
                </a:solidFill>
                <a:latin typeface="Segoe UI"/>
              </a:rPr>
              <a:t>Contracts + dbt Mesh let domains move independently while consumers stay safe.</a:t>
            </a:r>
          </a:p>
        </p:txBody>
      </p:sp>
      <p:sp>
        <p:nvSpPr>
          <p:cNvPr id="10" name="TextBox 9"/>
          <p:cNvSpPr txBox="1"/>
          <p:nvPr/>
        </p:nvSpPr>
        <p:spPr>
          <a:xfrm>
            <a:off x="502920" y="6455664"/>
            <a:ext cx="7315200" cy="320040"/>
          </a:xfrm>
          <a:prstGeom prst="rect">
            <a:avLst/>
          </a:prstGeom>
          <a:noFill/>
        </p:spPr>
        <p:txBody>
          <a:bodyPr wrap="square" lIns="36576" rIns="36576" tIns="18288" bIns="18288">
            <a:spAutoFit/>
          </a:bodyPr>
          <a:lstStyle/>
          <a:p>
            <a:r>
              <a:rPr sz="900">
                <a:solidFill>
                  <a:srgbClr val="5C5B77"/>
                </a:solidFill>
                <a:latin typeface="Segoe UI"/>
              </a:rPr>
              <a:t>OpenGov Data Platform  ·  Case Study  ·  Akash Pahilwan</a:t>
            </a:r>
          </a:p>
        </p:txBody>
      </p:sp>
      <p:sp>
        <p:nvSpPr>
          <p:cNvPr id="11" name="TextBox 10"/>
          <p:cNvSpPr txBox="1"/>
          <p:nvPr/>
        </p:nvSpPr>
        <p:spPr>
          <a:xfrm>
            <a:off x="10911535" y="6455664"/>
            <a:ext cx="822960" cy="320040"/>
          </a:xfrm>
          <a:prstGeom prst="rect">
            <a:avLst/>
          </a:prstGeom>
          <a:noFill/>
        </p:spPr>
        <p:txBody>
          <a:bodyPr wrap="square" lIns="36576" rIns="36576" tIns="18288" bIns="18288">
            <a:spAutoFit/>
          </a:bodyPr>
          <a:lstStyle/>
          <a:p>
            <a:pPr algn="r"/>
            <a:r>
              <a:rPr sz="900">
                <a:solidFill>
                  <a:srgbClr val="5C5B77"/>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191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292"/>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875520" cy="841248"/>
          </a:xfrm>
          <a:prstGeom prst="rect">
            <a:avLst/>
          </a:prstGeom>
          <a:noFill/>
        </p:spPr>
        <p:txBody>
          <a:bodyPr wrap="square" lIns="36576" rIns="36576" tIns="18288" bIns="18288" anchor="ctr">
            <a:spAutoFit/>
          </a:bodyPr>
          <a:lstStyle/>
          <a:p>
            <a:pPr>
              <a:spcAft>
                <a:spcPts val="100"/>
              </a:spcAft>
            </a:pPr>
            <a:r>
              <a:rPr sz="1100" b="1">
                <a:solidFill>
                  <a:srgbClr val="A79FFF"/>
                </a:solidFill>
                <a:latin typeface="Segoe UI"/>
              </a:rPr>
              <a:t>SELF-SERVICE</a:t>
            </a:r>
          </a:p>
          <a:p>
            <a:r>
              <a:rPr sz="2600" b="1">
                <a:solidFill>
                  <a:srgbClr val="FFFFFF"/>
                </a:solidFill>
                <a:latin typeface="Segoe UI"/>
              </a:rPr>
              <a:t>Self-service: onboard a domain in a pull request</a:t>
            </a:r>
          </a:p>
        </p:txBody>
      </p:sp>
      <p:pic>
        <p:nvPicPr>
          <p:cNvPr id="5" name="Picture 4" descr="image.png"/>
          <p:cNvPicPr>
            <a:picLocks noChangeAspect="1"/>
          </p:cNvPicPr>
          <p:nvPr/>
        </p:nvPicPr>
        <p:blipFill>
          <a:blip r:embed="rId2"/>
          <a:stretch>
            <a:fillRect/>
          </a:stretch>
        </p:blipFill>
        <p:spPr>
          <a:xfrm>
            <a:off x="11259006" y="237744"/>
            <a:ext cx="548640" cy="548640"/>
          </a:xfrm>
          <a:prstGeom prst="ellipse">
            <a:avLst/>
          </a:prstGeom>
        </p:spPr>
      </p:pic>
      <p:sp>
        <p:nvSpPr>
          <p:cNvPr id="6" name="TextBox 5"/>
          <p:cNvSpPr txBox="1"/>
          <p:nvPr/>
        </p:nvSpPr>
        <p:spPr>
          <a:xfrm>
            <a:off x="640080" y="1371600"/>
            <a:ext cx="10972800" cy="4297680"/>
          </a:xfrm>
          <a:prstGeom prst="rect">
            <a:avLst/>
          </a:prstGeom>
          <a:noFill/>
        </p:spPr>
        <p:txBody>
          <a:bodyPr wrap="square" lIns="36576" rIns="36576" tIns="18288" bIns="18288">
            <a:spAutoFit/>
          </a:bodyPr>
          <a:lstStyle/>
          <a:p>
            <a:pPr>
              <a:lnSpc>
                <a:spcPct val="107000"/>
              </a:lnSpc>
              <a:spcAft>
                <a:spcPts val="800"/>
              </a:spcAft>
            </a:pPr>
            <a:r>
              <a:rPr sz="1800">
                <a:solidFill>
                  <a:srgbClr val="4A3FFF"/>
                </a:solidFill>
                <a:latin typeface="Segoe UI"/>
              </a:rPr>
              <a:t>▸  </a:t>
            </a:r>
            <a:r>
              <a:rPr b="1" sz="1800">
                <a:solidFill>
                  <a:srgbClr val="1B1B33"/>
                </a:solidFill>
                <a:latin typeface="Segoe UI"/>
              </a:rPr>
              <a:t>One Terraform module, domain_workspace:   </a:t>
            </a:r>
            <a:r>
              <a:rPr sz="1800">
                <a:solidFill>
                  <a:srgbClr val="1B1B33"/>
                </a:solidFill>
                <a:latin typeface="Segoe UI"/>
              </a:rPr>
              <a:t>Input a domain name, get a full, governed workspace.</a:t>
            </a:r>
          </a:p>
          <a:p>
            <a:pPr>
              <a:lnSpc>
                <a:spcPct val="107000"/>
              </a:lnSpc>
              <a:spcAft>
                <a:spcPts val="300"/>
              </a:spcAft>
            </a:pPr>
            <a:r>
              <a:rPr sz="1500">
                <a:solidFill>
                  <a:srgbClr val="5C5B77"/>
                </a:solidFill>
                <a:latin typeface="Segoe UI"/>
              </a:rPr>
              <a:t>        ·  </a:t>
            </a:r>
            <a:r>
              <a:rPr b="1" sz="1500">
                <a:solidFill>
                  <a:srgbClr val="1B1B33"/>
                </a:solidFill>
                <a:latin typeface="Segoe UI"/>
              </a:rPr>
              <a:t>Provisions   </a:t>
            </a:r>
            <a:r>
              <a:rPr sz="1500">
                <a:solidFill>
                  <a:srgbClr val="3E3D5C"/>
                </a:solidFill>
                <a:latin typeface="Segoe UI"/>
              </a:rPr>
              <a:t>Schemas (staging / marts / sandbox), functional + access roles, service accounts, a warehouse.</a:t>
            </a:r>
          </a:p>
          <a:p>
            <a:pPr>
              <a:lnSpc>
                <a:spcPct val="107000"/>
              </a:lnSpc>
              <a:spcAft>
                <a:spcPts val="300"/>
              </a:spcAft>
            </a:pPr>
            <a:r>
              <a:rPr sz="1500">
                <a:solidFill>
                  <a:srgbClr val="5C5B77"/>
                </a:solidFill>
                <a:latin typeface="Segoe UI"/>
              </a:rPr>
              <a:t>        ·  </a:t>
            </a:r>
            <a:r>
              <a:rPr b="1" sz="1500">
                <a:solidFill>
                  <a:srgbClr val="1B1B33"/>
                </a:solidFill>
                <a:latin typeface="Segoe UI"/>
              </a:rPr>
              <a:t>Applies   </a:t>
            </a:r>
            <a:r>
              <a:rPr sz="1500">
                <a:solidFill>
                  <a:srgbClr val="3E3D5C"/>
                </a:solidFill>
                <a:latin typeface="Segoe UI"/>
              </a:rPr>
              <a:t>Default grants, PII tags, cost limits, and naming standards automatically.</a:t>
            </a:r>
          </a:p>
          <a:p>
            <a:pPr>
              <a:lnSpc>
                <a:spcPct val="107000"/>
              </a:lnSpc>
              <a:spcAft>
                <a:spcPts val="800"/>
              </a:spcAft>
            </a:pPr>
            <a:r>
              <a:rPr sz="1800">
                <a:solidFill>
                  <a:srgbClr val="4A3FFF"/>
                </a:solidFill>
                <a:latin typeface="Segoe UI"/>
              </a:rPr>
              <a:t>▸  </a:t>
            </a:r>
            <a:r>
              <a:rPr b="1" sz="1800">
                <a:solidFill>
                  <a:srgbClr val="1B1B33"/>
                </a:solidFill>
                <a:latin typeface="Segoe UI"/>
              </a:rPr>
              <a:t>Golden-path templates:   </a:t>
            </a:r>
            <a:r>
              <a:rPr sz="1800">
                <a:solidFill>
                  <a:srgbClr val="1B1B33"/>
                </a:solidFill>
                <a:latin typeface="Segoe UI"/>
              </a:rPr>
              <a:t>Starter dbt project, connector config, and CI workflow scaffolded for the team.</a:t>
            </a:r>
          </a:p>
          <a:p>
            <a:pPr>
              <a:lnSpc>
                <a:spcPct val="107000"/>
              </a:lnSpc>
              <a:spcAft>
                <a:spcPts val="800"/>
              </a:spcAft>
            </a:pPr>
            <a:r>
              <a:rPr sz="1800">
                <a:solidFill>
                  <a:srgbClr val="4A3FFF"/>
                </a:solidFill>
                <a:latin typeface="Segoe UI"/>
              </a:rPr>
              <a:t>▸  </a:t>
            </a:r>
            <a:r>
              <a:rPr b="1" sz="1800">
                <a:solidFill>
                  <a:srgbClr val="1B1B33"/>
                </a:solidFill>
                <a:latin typeface="Segoe UI"/>
              </a:rPr>
              <a:t>PR-driven:   </a:t>
            </a:r>
            <a:r>
              <a:rPr sz="1800">
                <a:solidFill>
                  <a:srgbClr val="1B1B33"/>
                </a:solidFill>
                <a:latin typeface="Segoe UI"/>
              </a:rPr>
              <a:t>A domain is onboarded by opening a PR, reviewed, planned, applied by CI. No tickets.</a:t>
            </a:r>
          </a:p>
          <a:p>
            <a:pPr>
              <a:lnSpc>
                <a:spcPct val="107000"/>
              </a:lnSpc>
              <a:spcAft>
                <a:spcPts val="800"/>
              </a:spcAft>
            </a:pPr>
            <a:r>
              <a:rPr sz="1800">
                <a:solidFill>
                  <a:srgbClr val="4A3FFF"/>
                </a:solidFill>
                <a:latin typeface="Segoe UI"/>
              </a:rPr>
              <a:t>▸  </a:t>
            </a:r>
            <a:r>
              <a:rPr b="1" sz="1800">
                <a:solidFill>
                  <a:srgbClr val="1B1B33"/>
                </a:solidFill>
                <a:latin typeface="Segoe UI"/>
              </a:rPr>
              <a:t>Outcome:   </a:t>
            </a:r>
            <a:r>
              <a:rPr sz="1800">
                <a:solidFill>
                  <a:srgbClr val="1B1B33"/>
                </a:solidFill>
                <a:latin typeface="Segoe UI"/>
              </a:rPr>
              <a:t>Consistent and governed by construction; hours, not weeks; the platform team doesn't become the bottleneck.</a:t>
            </a:r>
          </a:p>
        </p:txBody>
      </p:sp>
      <p:sp>
        <p:nvSpPr>
          <p:cNvPr id="7" name="Rounded Rectangle 6"/>
          <p:cNvSpPr/>
          <p:nvPr/>
        </p:nvSpPr>
        <p:spPr>
          <a:xfrm>
            <a:off x="502920" y="5806440"/>
            <a:ext cx="11183112" cy="457200"/>
          </a:xfrm>
          <a:prstGeom prst="roundRect">
            <a:avLst/>
          </a:prstGeom>
          <a:solidFill>
            <a:srgbClr val="ECE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06440"/>
            <a:ext cx="82296" cy="457200"/>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806440"/>
            <a:ext cx="10789920" cy="457200"/>
          </a:xfrm>
          <a:prstGeom prst="rect">
            <a:avLst/>
          </a:prstGeom>
          <a:noFill/>
        </p:spPr>
        <p:txBody>
          <a:bodyPr wrap="square" lIns="36576" rIns="36576" tIns="18288" bIns="18288" anchor="ctr">
            <a:spAutoFit/>
          </a:bodyPr>
          <a:lstStyle/>
          <a:p>
            <a:r>
              <a:rPr b="1" sz="1300">
                <a:solidFill>
                  <a:srgbClr val="3B34B8"/>
                </a:solidFill>
                <a:latin typeface="Segoe UI"/>
              </a:rPr>
              <a:t>Takeaway   </a:t>
            </a:r>
            <a:r>
              <a:rPr sz="1300">
                <a:solidFill>
                  <a:srgbClr val="1B1B33"/>
                </a:solidFill>
                <a:latin typeface="Segoe UI"/>
              </a:rPr>
              <a:t>The paved path makes the governed way the easiest way, self-service without losing control.</a:t>
            </a:r>
          </a:p>
        </p:txBody>
      </p:sp>
      <p:sp>
        <p:nvSpPr>
          <p:cNvPr id="10" name="TextBox 9"/>
          <p:cNvSpPr txBox="1"/>
          <p:nvPr/>
        </p:nvSpPr>
        <p:spPr>
          <a:xfrm>
            <a:off x="502920" y="6455664"/>
            <a:ext cx="7315200" cy="320040"/>
          </a:xfrm>
          <a:prstGeom prst="rect">
            <a:avLst/>
          </a:prstGeom>
          <a:noFill/>
        </p:spPr>
        <p:txBody>
          <a:bodyPr wrap="square" lIns="36576" rIns="36576" tIns="18288" bIns="18288">
            <a:spAutoFit/>
          </a:bodyPr>
          <a:lstStyle/>
          <a:p>
            <a:r>
              <a:rPr sz="900">
                <a:solidFill>
                  <a:srgbClr val="5C5B77"/>
                </a:solidFill>
                <a:latin typeface="Segoe UI"/>
              </a:rPr>
              <a:t>OpenGov Data Platform  ·  Case Study  ·  Akash Pahilwan</a:t>
            </a:r>
          </a:p>
        </p:txBody>
      </p:sp>
      <p:sp>
        <p:nvSpPr>
          <p:cNvPr id="11" name="TextBox 10"/>
          <p:cNvSpPr txBox="1"/>
          <p:nvPr/>
        </p:nvSpPr>
        <p:spPr>
          <a:xfrm>
            <a:off x="10911535" y="6455664"/>
            <a:ext cx="822960" cy="320040"/>
          </a:xfrm>
          <a:prstGeom prst="rect">
            <a:avLst/>
          </a:prstGeom>
          <a:noFill/>
        </p:spPr>
        <p:txBody>
          <a:bodyPr wrap="square" lIns="36576" rIns="36576" tIns="18288" bIns="18288">
            <a:spAutoFit/>
          </a:bodyPr>
          <a:lstStyle/>
          <a:p>
            <a:pPr algn="r"/>
            <a:r>
              <a:rPr sz="900">
                <a:solidFill>
                  <a:srgbClr val="5C5B77"/>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191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292"/>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875520" cy="841248"/>
          </a:xfrm>
          <a:prstGeom prst="rect">
            <a:avLst/>
          </a:prstGeom>
          <a:noFill/>
        </p:spPr>
        <p:txBody>
          <a:bodyPr wrap="square" lIns="36576" rIns="36576" tIns="18288" bIns="18288" anchor="ctr">
            <a:spAutoFit/>
          </a:bodyPr>
          <a:lstStyle/>
          <a:p>
            <a:pPr>
              <a:spcAft>
                <a:spcPts val="100"/>
              </a:spcAft>
            </a:pPr>
            <a:r>
              <a:rPr sz="1100" b="1">
                <a:solidFill>
                  <a:srgbClr val="A79FFF"/>
                </a:solidFill>
                <a:latin typeface="Segoe UI"/>
              </a:rPr>
              <a:t>TRUST &amp; GOVERNANCE</a:t>
            </a:r>
          </a:p>
          <a:p>
            <a:r>
              <a:rPr sz="2600" b="1">
                <a:solidFill>
                  <a:srgbClr val="FFFFFF"/>
                </a:solidFill>
                <a:latin typeface="Segoe UI"/>
              </a:rPr>
              <a:t>RBAC at scale: functional + access roles</a:t>
            </a:r>
          </a:p>
        </p:txBody>
      </p:sp>
      <p:pic>
        <p:nvPicPr>
          <p:cNvPr id="5" name="Picture 4" descr="image.png"/>
          <p:cNvPicPr>
            <a:picLocks noChangeAspect="1"/>
          </p:cNvPicPr>
          <p:nvPr/>
        </p:nvPicPr>
        <p:blipFill>
          <a:blip r:embed="rId2"/>
          <a:stretch>
            <a:fillRect/>
          </a:stretch>
        </p:blipFill>
        <p:spPr>
          <a:xfrm>
            <a:off x="11259006" y="237744"/>
            <a:ext cx="548640" cy="548640"/>
          </a:xfrm>
          <a:prstGeom prst="ellipse">
            <a:avLst/>
          </a:prstGeom>
        </p:spPr>
      </p:pic>
      <p:sp>
        <p:nvSpPr>
          <p:cNvPr id="6" name="TextBox 5"/>
          <p:cNvSpPr txBox="1"/>
          <p:nvPr/>
        </p:nvSpPr>
        <p:spPr>
          <a:xfrm>
            <a:off x="548640" y="1463040"/>
            <a:ext cx="2377440" cy="274320"/>
          </a:xfrm>
          <a:prstGeom prst="rect">
            <a:avLst/>
          </a:prstGeom>
          <a:noFill/>
        </p:spPr>
        <p:txBody>
          <a:bodyPr wrap="square" lIns="36576" rIns="36576" tIns="18288" bIns="18288">
            <a:spAutoFit/>
          </a:bodyPr>
          <a:lstStyle/>
          <a:p>
            <a:pPr algn="ctr"/>
            <a:r>
              <a:rPr sz="1000" b="1">
                <a:solidFill>
                  <a:srgbClr val="3B34B8"/>
                </a:solidFill>
                <a:latin typeface="Segoe UI"/>
              </a:rPr>
              <a:t>USERS</a:t>
            </a:r>
          </a:p>
        </p:txBody>
      </p:sp>
      <p:sp>
        <p:nvSpPr>
          <p:cNvPr id="7" name="Rounded Rectangle 6"/>
          <p:cNvSpPr/>
          <p:nvPr/>
        </p:nvSpPr>
        <p:spPr>
          <a:xfrm>
            <a:off x="548640" y="1920240"/>
            <a:ext cx="2377440" cy="548640"/>
          </a:xfrm>
          <a:prstGeom prst="roundRect">
            <a:avLst/>
          </a:prstGeom>
          <a:solidFill>
            <a:srgbClr val="3B34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a:solidFill>
                  <a:srgbClr val="FFFFFF"/>
                </a:solidFill>
                <a:latin typeface="Segoe UI"/>
              </a:rPr>
              <a:t>OPENGOV_ANALYST</a:t>
            </a:r>
          </a:p>
        </p:txBody>
      </p:sp>
      <p:sp>
        <p:nvSpPr>
          <p:cNvPr id="8" name="Rounded Rectangle 7"/>
          <p:cNvSpPr/>
          <p:nvPr/>
        </p:nvSpPr>
        <p:spPr>
          <a:xfrm>
            <a:off x="548640" y="2651760"/>
            <a:ext cx="2377440" cy="548640"/>
          </a:xfrm>
          <a:prstGeom prst="roundRect">
            <a:avLst/>
          </a:prstGeom>
          <a:solidFill>
            <a:srgbClr val="2A24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a:solidFill>
                  <a:srgbClr val="FFFFFF"/>
                </a:solidFill>
                <a:latin typeface="Segoe UI"/>
              </a:rPr>
              <a:t>OPENGOV_DBT_SVC</a:t>
            </a:r>
          </a:p>
        </p:txBody>
      </p:sp>
      <p:sp>
        <p:nvSpPr>
          <p:cNvPr id="9" name="Rounded Rectangle 8"/>
          <p:cNvSpPr/>
          <p:nvPr/>
        </p:nvSpPr>
        <p:spPr>
          <a:xfrm>
            <a:off x="548640" y="3383280"/>
            <a:ext cx="2377440" cy="548640"/>
          </a:xfrm>
          <a:prstGeom prst="roundRect">
            <a:avLst/>
          </a:prstGeom>
          <a:solidFill>
            <a:srgbClr val="5C5B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FFFFFF"/>
                </a:solidFill>
                <a:latin typeface="Segoe UI"/>
              </a:rPr>
              <a:t>human  vs  service</a:t>
            </a:r>
          </a:p>
        </p:txBody>
      </p:sp>
      <p:sp>
        <p:nvSpPr>
          <p:cNvPr id="10" name="TextBox 9"/>
          <p:cNvSpPr txBox="1"/>
          <p:nvPr/>
        </p:nvSpPr>
        <p:spPr>
          <a:xfrm>
            <a:off x="3429000" y="1463040"/>
            <a:ext cx="2651760" cy="274320"/>
          </a:xfrm>
          <a:prstGeom prst="rect">
            <a:avLst/>
          </a:prstGeom>
          <a:noFill/>
        </p:spPr>
        <p:txBody>
          <a:bodyPr wrap="square" lIns="36576" rIns="36576" tIns="18288" bIns="18288">
            <a:spAutoFit/>
          </a:bodyPr>
          <a:lstStyle/>
          <a:p>
            <a:pPr algn="ctr"/>
            <a:r>
              <a:rPr sz="1000" b="1">
                <a:solidFill>
                  <a:srgbClr val="3B34B8"/>
                </a:solidFill>
                <a:latin typeface="Segoe UI"/>
              </a:rPr>
              <a:t>FUNCTIONAL ROLES (JOB)</a:t>
            </a:r>
          </a:p>
        </p:txBody>
      </p:sp>
      <p:sp>
        <p:nvSpPr>
          <p:cNvPr id="11" name="Rounded Rectangle 10"/>
          <p:cNvSpPr/>
          <p:nvPr/>
        </p:nvSpPr>
        <p:spPr>
          <a:xfrm>
            <a:off x="3429000" y="1828800"/>
            <a:ext cx="2651760" cy="548640"/>
          </a:xfrm>
          <a:prstGeom prst="roundRect">
            <a:avLst/>
          </a:prstGeom>
          <a:solidFill>
            <a:srgbClr val="3B34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latin typeface="Segoe UI"/>
              </a:rPr>
              <a:t>REVOPS_ANALYST</a:t>
            </a:r>
          </a:p>
        </p:txBody>
      </p:sp>
      <p:sp>
        <p:nvSpPr>
          <p:cNvPr id="12" name="Rounded Rectangle 11"/>
          <p:cNvSpPr/>
          <p:nvPr/>
        </p:nvSpPr>
        <p:spPr>
          <a:xfrm>
            <a:off x="3429000" y="2560320"/>
            <a:ext cx="2651760" cy="548640"/>
          </a:xfrm>
          <a:prstGeom prst="roundRect">
            <a:avLst/>
          </a:prstGeom>
          <a:solidFill>
            <a:srgbClr val="3B34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latin typeface="Segoe UI"/>
              </a:rPr>
              <a:t>REVOPS_DEVELOPER</a:t>
            </a:r>
          </a:p>
        </p:txBody>
      </p:sp>
      <p:sp>
        <p:nvSpPr>
          <p:cNvPr id="13" name="Rounded Rectangle 12"/>
          <p:cNvSpPr/>
          <p:nvPr/>
        </p:nvSpPr>
        <p:spPr>
          <a:xfrm>
            <a:off x="3429000" y="3291839"/>
            <a:ext cx="2651760" cy="548640"/>
          </a:xfrm>
          <a:prstGeom prst="roundRect">
            <a:avLst/>
          </a:prstGeom>
          <a:solidFill>
            <a:srgbClr val="1915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latin typeface="Segoe UI"/>
              </a:rPr>
              <a:t>REVOPS_ADMIN</a:t>
            </a:r>
          </a:p>
        </p:txBody>
      </p:sp>
      <p:sp>
        <p:nvSpPr>
          <p:cNvPr id="14" name="TextBox 13"/>
          <p:cNvSpPr txBox="1"/>
          <p:nvPr/>
        </p:nvSpPr>
        <p:spPr>
          <a:xfrm>
            <a:off x="6629400" y="1463040"/>
            <a:ext cx="2468880" cy="274320"/>
          </a:xfrm>
          <a:prstGeom prst="rect">
            <a:avLst/>
          </a:prstGeom>
          <a:noFill/>
        </p:spPr>
        <p:txBody>
          <a:bodyPr wrap="square" lIns="36576" rIns="36576" tIns="18288" bIns="18288">
            <a:spAutoFit/>
          </a:bodyPr>
          <a:lstStyle/>
          <a:p>
            <a:pPr algn="ctr"/>
            <a:r>
              <a:rPr sz="1000" b="1">
                <a:solidFill>
                  <a:srgbClr val="3B34B8"/>
                </a:solidFill>
                <a:latin typeface="Segoe UI"/>
              </a:rPr>
              <a:t>ACCESS ROLES (GRANTS)</a:t>
            </a:r>
          </a:p>
        </p:txBody>
      </p:sp>
      <p:sp>
        <p:nvSpPr>
          <p:cNvPr id="15" name="Rounded Rectangle 14"/>
          <p:cNvSpPr/>
          <p:nvPr/>
        </p:nvSpPr>
        <p:spPr>
          <a:xfrm>
            <a:off x="6629400" y="1828800"/>
            <a:ext cx="2468880" cy="502920"/>
          </a:xfrm>
          <a:prstGeom prst="roundRect">
            <a:avLst/>
          </a:prstGeom>
          <a:solidFill>
            <a:srgbClr val="2EA0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a:solidFill>
                  <a:srgbClr val="FFFFFF"/>
                </a:solidFill>
                <a:latin typeface="Segoe UI"/>
              </a:rPr>
              <a:t>AR_MARTS_R</a:t>
            </a:r>
          </a:p>
        </p:txBody>
      </p:sp>
      <p:sp>
        <p:nvSpPr>
          <p:cNvPr id="16" name="Rounded Rectangle 15"/>
          <p:cNvSpPr/>
          <p:nvPr/>
        </p:nvSpPr>
        <p:spPr>
          <a:xfrm>
            <a:off x="6629400" y="2468880"/>
            <a:ext cx="2468880" cy="502920"/>
          </a:xfrm>
          <a:prstGeom prst="roundRect">
            <a:avLst/>
          </a:prstGeom>
          <a:solidFill>
            <a:srgbClr val="2EA0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a:solidFill>
                  <a:srgbClr val="FFFFFF"/>
                </a:solidFill>
                <a:latin typeface="Segoe UI"/>
              </a:rPr>
              <a:t>AR_STAGING_R</a:t>
            </a:r>
          </a:p>
        </p:txBody>
      </p:sp>
      <p:sp>
        <p:nvSpPr>
          <p:cNvPr id="17" name="Rounded Rectangle 16"/>
          <p:cNvSpPr/>
          <p:nvPr/>
        </p:nvSpPr>
        <p:spPr>
          <a:xfrm>
            <a:off x="6629400" y="3108960"/>
            <a:ext cx="2468880" cy="502920"/>
          </a:xfrm>
          <a:prstGeom prst="roundRect">
            <a:avLst/>
          </a:prstGeom>
          <a:solidFill>
            <a:srgbClr val="2EA0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a:solidFill>
                  <a:srgbClr val="FFFFFF"/>
                </a:solidFill>
                <a:latin typeface="Segoe UI"/>
              </a:rPr>
              <a:t>AR_RAW_RW</a:t>
            </a:r>
          </a:p>
        </p:txBody>
      </p:sp>
      <p:sp>
        <p:nvSpPr>
          <p:cNvPr id="18" name="Rounded Rectangle 17"/>
          <p:cNvSpPr/>
          <p:nvPr/>
        </p:nvSpPr>
        <p:spPr>
          <a:xfrm>
            <a:off x="6629400" y="3749039"/>
            <a:ext cx="2468880" cy="502920"/>
          </a:xfrm>
          <a:prstGeom prst="roundRect">
            <a:avLst/>
          </a:prstGeom>
          <a:solidFill>
            <a:srgbClr val="2EA0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a:solidFill>
                  <a:srgbClr val="FFFFFF"/>
                </a:solidFill>
                <a:latin typeface="Segoe UI"/>
              </a:rPr>
              <a:t>AR_SANDBOX_RW</a:t>
            </a:r>
          </a:p>
        </p:txBody>
      </p:sp>
      <p:sp>
        <p:nvSpPr>
          <p:cNvPr id="19" name="TextBox 18"/>
          <p:cNvSpPr txBox="1"/>
          <p:nvPr/>
        </p:nvSpPr>
        <p:spPr>
          <a:xfrm>
            <a:off x="9601200" y="1463040"/>
            <a:ext cx="2103120" cy="274320"/>
          </a:xfrm>
          <a:prstGeom prst="rect">
            <a:avLst/>
          </a:prstGeom>
          <a:noFill/>
        </p:spPr>
        <p:txBody>
          <a:bodyPr wrap="square" lIns="36576" rIns="36576" tIns="18288" bIns="18288">
            <a:spAutoFit/>
          </a:bodyPr>
          <a:lstStyle/>
          <a:p>
            <a:pPr algn="ctr"/>
            <a:r>
              <a:rPr sz="1000" b="1">
                <a:solidFill>
                  <a:srgbClr val="3B34B8"/>
                </a:solidFill>
                <a:latin typeface="Segoe UI"/>
              </a:rPr>
              <a:t>OBJECTS</a:t>
            </a:r>
          </a:p>
        </p:txBody>
      </p:sp>
      <p:sp>
        <p:nvSpPr>
          <p:cNvPr id="20" name="Rounded Rectangle 19"/>
          <p:cNvSpPr/>
          <p:nvPr/>
        </p:nvSpPr>
        <p:spPr>
          <a:xfrm>
            <a:off x="9601200" y="1828800"/>
            <a:ext cx="2103120" cy="502920"/>
          </a:xfrm>
          <a:prstGeom prst="roundRect">
            <a:avLst/>
          </a:prstGeom>
          <a:solidFill>
            <a:srgbClr val="2A24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a:solidFill>
                  <a:srgbClr val="FFFFFF"/>
                </a:solidFill>
                <a:latin typeface="Segoe UI"/>
              </a:rPr>
              <a:t>MARTS schema</a:t>
            </a:r>
          </a:p>
        </p:txBody>
      </p:sp>
      <p:sp>
        <p:nvSpPr>
          <p:cNvPr id="21" name="Rounded Rectangle 20"/>
          <p:cNvSpPr/>
          <p:nvPr/>
        </p:nvSpPr>
        <p:spPr>
          <a:xfrm>
            <a:off x="9601200" y="2468880"/>
            <a:ext cx="2103120" cy="502920"/>
          </a:xfrm>
          <a:prstGeom prst="roundRect">
            <a:avLst/>
          </a:prstGeom>
          <a:solidFill>
            <a:srgbClr val="2A24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a:solidFill>
                  <a:srgbClr val="FFFFFF"/>
                </a:solidFill>
                <a:latin typeface="Segoe UI"/>
              </a:rPr>
              <a:t>STAGING schema</a:t>
            </a:r>
          </a:p>
        </p:txBody>
      </p:sp>
      <p:sp>
        <p:nvSpPr>
          <p:cNvPr id="22" name="Rounded Rectangle 21"/>
          <p:cNvSpPr/>
          <p:nvPr/>
        </p:nvSpPr>
        <p:spPr>
          <a:xfrm>
            <a:off x="9601200" y="3108960"/>
            <a:ext cx="2103120" cy="502920"/>
          </a:xfrm>
          <a:prstGeom prst="roundRect">
            <a:avLst/>
          </a:prstGeom>
          <a:solidFill>
            <a:srgbClr val="2A24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a:solidFill>
                  <a:srgbClr val="FFFFFF"/>
                </a:solidFill>
                <a:latin typeface="Segoe UI"/>
              </a:rPr>
              <a:t>RAW schema</a:t>
            </a:r>
          </a:p>
        </p:txBody>
      </p:sp>
      <p:sp>
        <p:nvSpPr>
          <p:cNvPr id="23" name="Rounded Rectangle 22"/>
          <p:cNvSpPr/>
          <p:nvPr/>
        </p:nvSpPr>
        <p:spPr>
          <a:xfrm>
            <a:off x="9601200" y="3749039"/>
            <a:ext cx="2103120" cy="502920"/>
          </a:xfrm>
          <a:prstGeom prst="roundRect">
            <a:avLst/>
          </a:prstGeom>
          <a:solidFill>
            <a:srgbClr val="2A24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a:solidFill>
                  <a:srgbClr val="FFFFFF"/>
                </a:solidFill>
                <a:latin typeface="Segoe UI"/>
              </a:rPr>
              <a:t>SANDBOX schema</a:t>
            </a:r>
          </a:p>
        </p:txBody>
      </p:sp>
      <p:sp>
        <p:nvSpPr>
          <p:cNvPr id="24" name="Right Arrow 23"/>
          <p:cNvSpPr/>
          <p:nvPr/>
        </p:nvSpPr>
        <p:spPr>
          <a:xfrm>
            <a:off x="3017520" y="2788920"/>
            <a:ext cx="292608" cy="256032"/>
          </a:xfrm>
          <a:prstGeom prst="rightArrow">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ight Arrow 24"/>
          <p:cNvSpPr/>
          <p:nvPr/>
        </p:nvSpPr>
        <p:spPr>
          <a:xfrm>
            <a:off x="6172200" y="2788920"/>
            <a:ext cx="292608" cy="256032"/>
          </a:xfrm>
          <a:prstGeom prst="rightArrow">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ight Arrow 25"/>
          <p:cNvSpPr/>
          <p:nvPr/>
        </p:nvSpPr>
        <p:spPr>
          <a:xfrm>
            <a:off x="9189720" y="2788920"/>
            <a:ext cx="292608" cy="256032"/>
          </a:xfrm>
          <a:prstGeom prst="rightArrow">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4297680"/>
            <a:ext cx="11064240" cy="457200"/>
          </a:xfrm>
          <a:prstGeom prst="rect">
            <a:avLst/>
          </a:prstGeom>
          <a:noFill/>
        </p:spPr>
        <p:txBody>
          <a:bodyPr wrap="square" lIns="36576" rIns="36576" tIns="18288" bIns="18288">
            <a:spAutoFit/>
          </a:bodyPr>
          <a:lstStyle/>
          <a:p>
            <a:r>
              <a:rPr sz="1100" i="1">
                <a:solidFill>
                  <a:srgbClr val="5C5B77"/>
                </a:solidFill>
                <a:latin typeface="Segoe UI"/>
              </a:rPr>
              <a:t>granted to  ►  users     |     inherit  ►  access roles     |     hold privileges on  ►  objects</a:t>
            </a:r>
          </a:p>
        </p:txBody>
      </p:sp>
      <p:sp>
        <p:nvSpPr>
          <p:cNvPr id="28" name="Rounded Rectangle 27"/>
          <p:cNvSpPr/>
          <p:nvPr/>
        </p:nvSpPr>
        <p:spPr>
          <a:xfrm>
            <a:off x="502920" y="5806440"/>
            <a:ext cx="11183112" cy="457200"/>
          </a:xfrm>
          <a:prstGeom prst="roundRect">
            <a:avLst/>
          </a:prstGeom>
          <a:solidFill>
            <a:srgbClr val="ECE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5806440"/>
            <a:ext cx="82296" cy="457200"/>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5806440"/>
            <a:ext cx="10789920" cy="457200"/>
          </a:xfrm>
          <a:prstGeom prst="rect">
            <a:avLst/>
          </a:prstGeom>
          <a:noFill/>
        </p:spPr>
        <p:txBody>
          <a:bodyPr wrap="square" lIns="36576" rIns="36576" tIns="18288" bIns="18288" anchor="ctr">
            <a:spAutoFit/>
          </a:bodyPr>
          <a:lstStyle/>
          <a:p>
            <a:r>
              <a:rPr b="1" sz="1300">
                <a:solidFill>
                  <a:srgbClr val="3B34B8"/>
                </a:solidFill>
                <a:latin typeface="Segoe UI"/>
              </a:rPr>
              <a:t>Takeaway   </a:t>
            </a:r>
            <a:r>
              <a:rPr sz="1300">
                <a:solidFill>
                  <a:srgbClr val="1B1B33"/>
                </a:solidFill>
                <a:latin typeface="Segoe UI"/>
              </a:rPr>
              <a:t>Access roles are reused building blocks; add a domain = generate a new set, grants never sprawl.  Row-access policies handle multi-tenant isolation.</a:t>
            </a:r>
          </a:p>
        </p:txBody>
      </p:sp>
      <p:sp>
        <p:nvSpPr>
          <p:cNvPr id="31" name="TextBox 30"/>
          <p:cNvSpPr txBox="1"/>
          <p:nvPr/>
        </p:nvSpPr>
        <p:spPr>
          <a:xfrm>
            <a:off x="502920" y="6455664"/>
            <a:ext cx="7315200" cy="320040"/>
          </a:xfrm>
          <a:prstGeom prst="rect">
            <a:avLst/>
          </a:prstGeom>
          <a:noFill/>
        </p:spPr>
        <p:txBody>
          <a:bodyPr wrap="square" lIns="36576" rIns="36576" tIns="18288" bIns="18288">
            <a:spAutoFit/>
          </a:bodyPr>
          <a:lstStyle/>
          <a:p>
            <a:r>
              <a:rPr sz="900">
                <a:solidFill>
                  <a:srgbClr val="5C5B77"/>
                </a:solidFill>
                <a:latin typeface="Segoe UI"/>
              </a:rPr>
              <a:t>OpenGov Data Platform  ·  Case Study  ·  Akash Pahilwan</a:t>
            </a:r>
          </a:p>
        </p:txBody>
      </p:sp>
      <p:sp>
        <p:nvSpPr>
          <p:cNvPr id="32" name="TextBox 31"/>
          <p:cNvSpPr txBox="1"/>
          <p:nvPr/>
        </p:nvSpPr>
        <p:spPr>
          <a:xfrm>
            <a:off x="10911535" y="6455664"/>
            <a:ext cx="822960" cy="320040"/>
          </a:xfrm>
          <a:prstGeom prst="rect">
            <a:avLst/>
          </a:prstGeom>
          <a:noFill/>
        </p:spPr>
        <p:txBody>
          <a:bodyPr wrap="square" lIns="36576" rIns="36576" tIns="18288" bIns="18288">
            <a:spAutoFit/>
          </a:bodyPr>
          <a:lstStyle/>
          <a:p>
            <a:pPr algn="r"/>
            <a:r>
              <a:rPr sz="900">
                <a:solidFill>
                  <a:srgbClr val="5C5B77"/>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191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292"/>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875520" cy="841248"/>
          </a:xfrm>
          <a:prstGeom prst="rect">
            <a:avLst/>
          </a:prstGeom>
          <a:noFill/>
        </p:spPr>
        <p:txBody>
          <a:bodyPr wrap="square" lIns="36576" rIns="36576" tIns="18288" bIns="18288" anchor="ctr">
            <a:spAutoFit/>
          </a:bodyPr>
          <a:lstStyle/>
          <a:p>
            <a:pPr>
              <a:spcAft>
                <a:spcPts val="100"/>
              </a:spcAft>
            </a:pPr>
            <a:r>
              <a:rPr sz="1100" b="1">
                <a:solidFill>
                  <a:srgbClr val="A79FFF"/>
                </a:solidFill>
                <a:latin typeface="Segoe UI"/>
              </a:rPr>
              <a:t>TRUST &amp; GOVERNANCE</a:t>
            </a:r>
          </a:p>
          <a:p>
            <a:r>
              <a:rPr sz="2600" b="1">
                <a:solidFill>
                  <a:srgbClr val="FFFFFF"/>
                </a:solidFill>
                <a:latin typeface="Segoe UI"/>
              </a:rPr>
              <a:t>Observability, what we built</a:t>
            </a:r>
          </a:p>
        </p:txBody>
      </p:sp>
      <p:pic>
        <p:nvPicPr>
          <p:cNvPr id="5" name="Picture 4" descr="image.png"/>
          <p:cNvPicPr>
            <a:picLocks noChangeAspect="1"/>
          </p:cNvPicPr>
          <p:nvPr/>
        </p:nvPicPr>
        <p:blipFill>
          <a:blip r:embed="rId2"/>
          <a:stretch>
            <a:fillRect/>
          </a:stretch>
        </p:blipFill>
        <p:spPr>
          <a:xfrm>
            <a:off x="11259006" y="237744"/>
            <a:ext cx="548640" cy="548640"/>
          </a:xfrm>
          <a:prstGeom prst="ellipse">
            <a:avLst/>
          </a:prstGeom>
        </p:spPr>
      </p:pic>
      <p:sp>
        <p:nvSpPr>
          <p:cNvPr id="6" name="TextBox 5"/>
          <p:cNvSpPr txBox="1"/>
          <p:nvPr/>
        </p:nvSpPr>
        <p:spPr>
          <a:xfrm>
            <a:off x="640080" y="1371600"/>
            <a:ext cx="10972800" cy="4297680"/>
          </a:xfrm>
          <a:prstGeom prst="rect">
            <a:avLst/>
          </a:prstGeom>
          <a:noFill/>
        </p:spPr>
        <p:txBody>
          <a:bodyPr wrap="square" lIns="36576" rIns="36576" tIns="18288" bIns="18288">
            <a:spAutoFit/>
          </a:bodyPr>
          <a:lstStyle/>
          <a:p>
            <a:pPr>
              <a:lnSpc>
                <a:spcPct val="107000"/>
              </a:lnSpc>
              <a:spcAft>
                <a:spcPts val="800"/>
              </a:spcAft>
            </a:pPr>
            <a:r>
              <a:rPr sz="1600">
                <a:solidFill>
                  <a:srgbClr val="4A3FFF"/>
                </a:solidFill>
                <a:latin typeface="Segoe UI"/>
              </a:rPr>
              <a:t>▸  </a:t>
            </a:r>
            <a:r>
              <a:rPr b="1" sz="1600">
                <a:solidFill>
                  <a:srgbClr val="1B1B33"/>
                </a:solidFill>
                <a:latin typeface="Segoe UI"/>
              </a:rPr>
              <a:t>Load observability, PAGE_VIEWS_LOAD_LOG:   </a:t>
            </a:r>
            <a:r>
              <a:rPr sz="1600">
                <a:solidFill>
                  <a:srgbClr val="1B1B33"/>
                </a:solidFill>
                <a:latin typeface="Segoe UI"/>
              </a:rPr>
              <a:t>One row per ingestion run (file, records loaded, quarantined, timestamp), an audit trail that outlives COPY's 64-day history.</a:t>
            </a:r>
          </a:p>
          <a:p>
            <a:pPr>
              <a:lnSpc>
                <a:spcPct val="107000"/>
              </a:lnSpc>
              <a:spcAft>
                <a:spcPts val="800"/>
              </a:spcAft>
            </a:pPr>
            <a:r>
              <a:rPr sz="1600">
                <a:solidFill>
                  <a:srgbClr val="4A3FFF"/>
                </a:solidFill>
                <a:latin typeface="Segoe UI"/>
              </a:rPr>
              <a:t>▸  </a:t>
            </a:r>
            <a:r>
              <a:rPr b="1" sz="1600">
                <a:solidFill>
                  <a:srgbClr val="1B1B33"/>
                </a:solidFill>
                <a:latin typeface="Segoe UI"/>
              </a:rPr>
              <a:t>Quarantine as a signal:   </a:t>
            </a:r>
            <a:r>
              <a:rPr sz="1600">
                <a:solidFill>
                  <a:srgbClr val="1B1B33"/>
                </a:solidFill>
                <a:latin typeface="Segoe UI"/>
              </a:rPr>
              <a:t>Bad rows land in PAGE_VIEWS_QUARANTINE, countable per run (PROD: 9 loaded / 5 quarantined), a reject-rate you can alert on.</a:t>
            </a:r>
          </a:p>
          <a:p>
            <a:pPr>
              <a:lnSpc>
                <a:spcPct val="107000"/>
              </a:lnSpc>
              <a:spcAft>
                <a:spcPts val="800"/>
              </a:spcAft>
            </a:pPr>
            <a:r>
              <a:rPr sz="1600">
                <a:solidFill>
                  <a:srgbClr val="4A3FFF"/>
                </a:solidFill>
                <a:latin typeface="Segoe UI"/>
              </a:rPr>
              <a:t>▸  </a:t>
            </a:r>
            <a:r>
              <a:rPr b="1" sz="1600">
                <a:solidFill>
                  <a:srgbClr val="1B1B33"/>
                </a:solidFill>
                <a:latin typeface="Segoe UI"/>
              </a:rPr>
              <a:t>Quality as code, gated in CI:   </a:t>
            </a:r>
            <a:r>
              <a:rPr sz="1600">
                <a:solidFill>
                  <a:srgbClr val="1B1B33"/>
                </a:solidFill>
                <a:latin typeface="Segoe UI"/>
              </a:rPr>
              <a:t>dbt not_null / unique / accepted_values / relationships run on every preprod &amp; prod build, a red test blocks the deploy.</a:t>
            </a:r>
          </a:p>
          <a:p>
            <a:pPr>
              <a:lnSpc>
                <a:spcPct val="107000"/>
              </a:lnSpc>
              <a:spcAft>
                <a:spcPts val="800"/>
              </a:spcAft>
            </a:pPr>
            <a:r>
              <a:rPr sz="1600">
                <a:solidFill>
                  <a:srgbClr val="4A3FFF"/>
                </a:solidFill>
                <a:latin typeface="Segoe UI"/>
              </a:rPr>
              <a:t>▸  </a:t>
            </a:r>
            <a:r>
              <a:rPr b="1" sz="1600">
                <a:solidFill>
                  <a:srgbClr val="1B1B33"/>
                </a:solidFill>
                <a:latin typeface="Segoe UI"/>
              </a:rPr>
              <a:t>Native audit surfaces:   </a:t>
            </a:r>
            <a:r>
              <a:rPr sz="1600">
                <a:solidFill>
                  <a:srgbClr val="1B1B33"/>
                </a:solidFill>
                <a:latin typeface="Segoe UI"/>
              </a:rPr>
              <a:t>COPY_HISTORY (14d) for loads, ACCESS_HISTORY (365d) for 'who read ACCOUNT.ARR, when', POLICY_REFERENCES to prove the mask was attached.</a:t>
            </a:r>
          </a:p>
          <a:p>
            <a:pPr>
              <a:lnSpc>
                <a:spcPct val="107000"/>
              </a:lnSpc>
              <a:spcAft>
                <a:spcPts val="800"/>
              </a:spcAft>
            </a:pPr>
            <a:r>
              <a:rPr sz="1600">
                <a:solidFill>
                  <a:srgbClr val="4A3FFF"/>
                </a:solidFill>
                <a:latin typeface="Segoe UI"/>
              </a:rPr>
              <a:t>▸  </a:t>
            </a:r>
            <a:r>
              <a:rPr b="1" sz="1600">
                <a:solidFill>
                  <a:srgbClr val="1B1B33"/>
                </a:solidFill>
                <a:latin typeface="Segoe UI"/>
              </a:rPr>
              <a:t>Cost attribution:   </a:t>
            </a:r>
            <a:r>
              <a:rPr sz="1600">
                <a:solidFill>
                  <a:srgbClr val="1B1B33"/>
                </a:solidFill>
                <a:latin typeface="Segoe UI"/>
              </a:rPr>
              <a:t>Per-role warehouses (OG_&lt;ENV&gt;_&lt;ROLE&gt;_WH) + auto-suspend, spend is attributable to reader / analyst / dbt / ingestion, not one shared blob.</a:t>
            </a:r>
          </a:p>
          <a:p>
            <a:pPr>
              <a:lnSpc>
                <a:spcPct val="107000"/>
              </a:lnSpc>
              <a:spcAft>
                <a:spcPts val="800"/>
              </a:spcAft>
            </a:pPr>
            <a:r>
              <a:rPr sz="1600">
                <a:solidFill>
                  <a:srgbClr val="4A3FFF"/>
                </a:solidFill>
                <a:latin typeface="Segoe UI"/>
              </a:rPr>
              <a:t>▸  </a:t>
            </a:r>
            <a:r>
              <a:rPr b="1" sz="1600">
                <a:solidFill>
                  <a:srgbClr val="1B1B33"/>
                </a:solidFill>
                <a:latin typeface="Segoe UI"/>
              </a:rPr>
              <a:t>Next step:   </a:t>
            </a:r>
            <a:r>
              <a:rPr sz="1600">
                <a:solidFill>
                  <a:srgbClr val="1B1B33"/>
                </a:solidFill>
                <a:latin typeface="Segoe UI"/>
              </a:rPr>
              <a:t>dbt source freshness + a monitoring model over _LOAD_LOG turn these into published freshness/quality SLAs.</a:t>
            </a:r>
          </a:p>
        </p:txBody>
      </p:sp>
      <p:sp>
        <p:nvSpPr>
          <p:cNvPr id="7" name="Rounded Rectangle 6"/>
          <p:cNvSpPr/>
          <p:nvPr/>
        </p:nvSpPr>
        <p:spPr>
          <a:xfrm>
            <a:off x="502920" y="5806440"/>
            <a:ext cx="11183112" cy="457200"/>
          </a:xfrm>
          <a:prstGeom prst="roundRect">
            <a:avLst/>
          </a:prstGeom>
          <a:solidFill>
            <a:srgbClr val="ECE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06440"/>
            <a:ext cx="82296" cy="457200"/>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806440"/>
            <a:ext cx="10789920" cy="457200"/>
          </a:xfrm>
          <a:prstGeom prst="rect">
            <a:avLst/>
          </a:prstGeom>
          <a:noFill/>
        </p:spPr>
        <p:txBody>
          <a:bodyPr wrap="square" lIns="36576" rIns="36576" tIns="18288" bIns="18288" anchor="ctr">
            <a:spAutoFit/>
          </a:bodyPr>
          <a:lstStyle/>
          <a:p>
            <a:r>
              <a:rPr b="1" sz="1300">
                <a:solidFill>
                  <a:srgbClr val="3B34B8"/>
                </a:solidFill>
                <a:latin typeface="Segoe UI"/>
              </a:rPr>
              <a:t>Takeaway   </a:t>
            </a:r>
            <a:r>
              <a:rPr sz="1300">
                <a:solidFill>
                  <a:srgbClr val="1B1B33"/>
                </a:solidFill>
                <a:latin typeface="Segoe UI"/>
              </a:rPr>
              <a:t>We built the observable primitives, a per-file load log, a quarantine table, CI-gated tests, and native audit views, so 'did the load run and was it clean?' is a query, not a guess.</a:t>
            </a:r>
          </a:p>
        </p:txBody>
      </p:sp>
      <p:sp>
        <p:nvSpPr>
          <p:cNvPr id="10" name="TextBox 9"/>
          <p:cNvSpPr txBox="1"/>
          <p:nvPr/>
        </p:nvSpPr>
        <p:spPr>
          <a:xfrm>
            <a:off x="502920" y="6455664"/>
            <a:ext cx="7315200" cy="320040"/>
          </a:xfrm>
          <a:prstGeom prst="rect">
            <a:avLst/>
          </a:prstGeom>
          <a:noFill/>
        </p:spPr>
        <p:txBody>
          <a:bodyPr wrap="square" lIns="36576" rIns="36576" tIns="18288" bIns="18288">
            <a:spAutoFit/>
          </a:bodyPr>
          <a:lstStyle/>
          <a:p>
            <a:r>
              <a:rPr sz="900">
                <a:solidFill>
                  <a:srgbClr val="5C5B77"/>
                </a:solidFill>
                <a:latin typeface="Segoe UI"/>
              </a:rPr>
              <a:t>OpenGov Data Platform  ·  Case Study  ·  Akash Pahilwan</a:t>
            </a:r>
          </a:p>
        </p:txBody>
      </p:sp>
      <p:sp>
        <p:nvSpPr>
          <p:cNvPr id="11" name="TextBox 10"/>
          <p:cNvSpPr txBox="1"/>
          <p:nvPr/>
        </p:nvSpPr>
        <p:spPr>
          <a:xfrm>
            <a:off x="10911535" y="6455664"/>
            <a:ext cx="822960" cy="320040"/>
          </a:xfrm>
          <a:prstGeom prst="rect">
            <a:avLst/>
          </a:prstGeom>
          <a:noFill/>
        </p:spPr>
        <p:txBody>
          <a:bodyPr wrap="square" lIns="36576" rIns="36576" tIns="18288" bIns="18288">
            <a:spAutoFit/>
          </a:bodyPr>
          <a:lstStyle/>
          <a:p>
            <a:pPr algn="r"/>
            <a:r>
              <a:rPr sz="900">
                <a:solidFill>
                  <a:srgbClr val="5C5B77"/>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191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292"/>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875520" cy="841248"/>
          </a:xfrm>
          <a:prstGeom prst="rect">
            <a:avLst/>
          </a:prstGeom>
          <a:noFill/>
        </p:spPr>
        <p:txBody>
          <a:bodyPr wrap="square" lIns="36576" rIns="36576" tIns="18288" bIns="18288" anchor="ctr">
            <a:spAutoFit/>
          </a:bodyPr>
          <a:lstStyle/>
          <a:p>
            <a:pPr>
              <a:spcAft>
                <a:spcPts val="100"/>
              </a:spcAft>
            </a:pPr>
            <a:r>
              <a:rPr sz="1100" b="1">
                <a:solidFill>
                  <a:srgbClr val="A79FFF"/>
                </a:solidFill>
                <a:latin typeface="Segoe UI"/>
              </a:rPr>
              <a:t>DIFFERENTIATING PERSPECTIVE</a:t>
            </a:r>
          </a:p>
          <a:p>
            <a:r>
              <a:rPr sz="2600" b="1">
                <a:solidFill>
                  <a:srgbClr val="FFFFFF"/>
                </a:solidFill>
                <a:latin typeface="Segoe UI"/>
              </a:rPr>
              <a:t>Beyond the brief: making the platform AI-ready</a:t>
            </a:r>
          </a:p>
        </p:txBody>
      </p:sp>
      <p:pic>
        <p:nvPicPr>
          <p:cNvPr id="5" name="Picture 4" descr="image.png"/>
          <p:cNvPicPr>
            <a:picLocks noChangeAspect="1"/>
          </p:cNvPicPr>
          <p:nvPr/>
        </p:nvPicPr>
        <p:blipFill>
          <a:blip r:embed="rId2"/>
          <a:stretch>
            <a:fillRect/>
          </a:stretch>
        </p:blipFill>
        <p:spPr>
          <a:xfrm>
            <a:off x="11259006" y="237744"/>
            <a:ext cx="548640" cy="548640"/>
          </a:xfrm>
          <a:prstGeom prst="ellipse">
            <a:avLst/>
          </a:prstGeom>
        </p:spPr>
      </p:pic>
      <p:sp>
        <p:nvSpPr>
          <p:cNvPr id="6" name="TextBox 5"/>
          <p:cNvSpPr txBox="1"/>
          <p:nvPr/>
        </p:nvSpPr>
        <p:spPr>
          <a:xfrm>
            <a:off x="640080" y="1371600"/>
            <a:ext cx="10972800" cy="4206240"/>
          </a:xfrm>
          <a:prstGeom prst="rect">
            <a:avLst/>
          </a:prstGeom>
          <a:noFill/>
        </p:spPr>
        <p:txBody>
          <a:bodyPr wrap="square" lIns="36576" rIns="36576" tIns="18288" bIns="18288">
            <a:spAutoFit/>
          </a:bodyPr>
          <a:lstStyle/>
          <a:p>
            <a:pPr>
              <a:lnSpc>
                <a:spcPct val="107000"/>
              </a:lnSpc>
              <a:spcAft>
                <a:spcPts val="800"/>
              </a:spcAft>
            </a:pPr>
            <a:r>
              <a:rPr sz="1700">
                <a:solidFill>
                  <a:srgbClr val="4A3FFF"/>
                </a:solidFill>
                <a:latin typeface="Segoe UI"/>
              </a:rPr>
              <a:t>▸  </a:t>
            </a:r>
            <a:r>
              <a:rPr b="1" sz="1700">
                <a:solidFill>
                  <a:srgbClr val="1B1B33"/>
                </a:solidFill>
                <a:latin typeface="Segoe UI"/>
              </a:rPr>
              <a:t>The risk:   </a:t>
            </a:r>
            <a:r>
              <a:rPr sz="1700">
                <a:solidFill>
                  <a:srgbClr val="1B1B33"/>
                </a:solidFill>
                <a:latin typeface="Segoe UI"/>
              </a:rPr>
              <a:t>AI/LLM consumers will happily query ungoverned data and return confident, wrong answers.</a:t>
            </a:r>
          </a:p>
          <a:p>
            <a:pPr>
              <a:lnSpc>
                <a:spcPct val="107000"/>
              </a:lnSpc>
              <a:spcAft>
                <a:spcPts val="800"/>
              </a:spcAft>
            </a:pPr>
            <a:r>
              <a:rPr sz="1700">
                <a:solidFill>
                  <a:srgbClr val="4A3FFF"/>
                </a:solidFill>
                <a:latin typeface="Segoe UI"/>
              </a:rPr>
              <a:t>▸  </a:t>
            </a:r>
            <a:r>
              <a:rPr b="1" sz="1700">
                <a:solidFill>
                  <a:srgbClr val="1B1B33"/>
                </a:solidFill>
                <a:latin typeface="Segoe UI"/>
              </a:rPr>
              <a:t>Governed semantic / metrics layer:   </a:t>
            </a:r>
            <a:r>
              <a:rPr sz="1700">
                <a:solidFill>
                  <a:srgbClr val="1B1B33"/>
                </a:solidFill>
                <a:latin typeface="Segoe UI"/>
              </a:rPr>
              <a:t>Define metrics once (revenue, pipeline, churn) → one source of truth for BI, notebooks, and LLMs.</a:t>
            </a:r>
          </a:p>
          <a:p>
            <a:pPr>
              <a:lnSpc>
                <a:spcPct val="107000"/>
              </a:lnSpc>
              <a:spcAft>
                <a:spcPts val="800"/>
              </a:spcAft>
            </a:pPr>
            <a:r>
              <a:rPr sz="1700">
                <a:solidFill>
                  <a:srgbClr val="4A3FFF"/>
                </a:solidFill>
                <a:latin typeface="Segoe UI"/>
              </a:rPr>
              <a:t>▸  </a:t>
            </a:r>
            <a:r>
              <a:rPr b="1" sz="1700">
                <a:solidFill>
                  <a:srgbClr val="1B1B33"/>
                </a:solidFill>
                <a:latin typeface="Segoe UI"/>
              </a:rPr>
              <a:t>Data contracts:   </a:t>
            </a:r>
            <a:r>
              <a:rPr sz="1700">
                <a:solidFill>
                  <a:srgbClr val="1B1B33"/>
                </a:solidFill>
                <a:latin typeface="Segoe UI"/>
              </a:rPr>
              <a:t>Producers commit to schema + semantics; breaking changes are blocked in CI, trust shifts left.</a:t>
            </a:r>
          </a:p>
          <a:p>
            <a:pPr>
              <a:lnSpc>
                <a:spcPct val="107000"/>
              </a:lnSpc>
              <a:spcAft>
                <a:spcPts val="800"/>
              </a:spcAft>
            </a:pPr>
            <a:r>
              <a:rPr sz="1700">
                <a:solidFill>
                  <a:srgbClr val="4A3FFF"/>
                </a:solidFill>
                <a:latin typeface="Segoe UI"/>
              </a:rPr>
              <a:t>▸  </a:t>
            </a:r>
            <a:r>
              <a:rPr b="1" sz="1700">
                <a:solidFill>
                  <a:srgbClr val="1B1B33"/>
                </a:solidFill>
                <a:latin typeface="Segoe UI"/>
              </a:rPr>
              <a:t>AI consumes products, not raw:   </a:t>
            </a:r>
            <a:r>
              <a:rPr sz="1700">
                <a:solidFill>
                  <a:srgbClr val="1B1B33"/>
                </a:solidFill>
                <a:latin typeface="Segoe UI"/>
              </a:rPr>
              <a:t>RAG and agents read documented, contracted marts + the semantic layer, never RAW.</a:t>
            </a:r>
          </a:p>
          <a:p>
            <a:pPr>
              <a:lnSpc>
                <a:spcPct val="107000"/>
              </a:lnSpc>
              <a:spcAft>
                <a:spcPts val="800"/>
              </a:spcAft>
            </a:pPr>
            <a:r>
              <a:rPr sz="1700">
                <a:solidFill>
                  <a:srgbClr val="4A3FFF"/>
                </a:solidFill>
                <a:latin typeface="Segoe UI"/>
              </a:rPr>
              <a:t>▸  </a:t>
            </a:r>
            <a:r>
              <a:rPr b="1" sz="1700">
                <a:solidFill>
                  <a:srgbClr val="1B1B33"/>
                </a:solidFill>
                <a:latin typeface="Segoe UI"/>
              </a:rPr>
              <a:t>Governance already travels, true in this build:   </a:t>
            </a:r>
            <a:r>
              <a:rPr sz="1700">
                <a:solidFill>
                  <a:srgbClr val="1B1B33"/>
                </a:solidFill>
                <a:latin typeface="Segoe UI"/>
              </a:rPr>
              <a:t>Our tag-masking + RBAC bind to the SESSION, not the tool. An LLM service account holding REVOPS_READER gets NULL for ARR today, exactly like a human reader, there is no AI bypass to build.</a:t>
            </a:r>
          </a:p>
        </p:txBody>
      </p:sp>
      <p:sp>
        <p:nvSpPr>
          <p:cNvPr id="7" name="Rounded Rectangle 6"/>
          <p:cNvSpPr/>
          <p:nvPr/>
        </p:nvSpPr>
        <p:spPr>
          <a:xfrm>
            <a:off x="502920" y="5806440"/>
            <a:ext cx="11183112" cy="457200"/>
          </a:xfrm>
          <a:prstGeom prst="roundRect">
            <a:avLst/>
          </a:prstGeom>
          <a:solidFill>
            <a:srgbClr val="ECE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06440"/>
            <a:ext cx="82296" cy="457200"/>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806440"/>
            <a:ext cx="10789920" cy="457200"/>
          </a:xfrm>
          <a:prstGeom prst="rect">
            <a:avLst/>
          </a:prstGeom>
          <a:noFill/>
        </p:spPr>
        <p:txBody>
          <a:bodyPr wrap="square" lIns="36576" rIns="36576" tIns="18288" bIns="18288" anchor="ctr">
            <a:spAutoFit/>
          </a:bodyPr>
          <a:lstStyle/>
          <a:p>
            <a:r>
              <a:rPr b="1" sz="1300">
                <a:solidFill>
                  <a:srgbClr val="3B34B8"/>
                </a:solidFill>
                <a:latin typeface="Segoe UI"/>
              </a:rPr>
              <a:t>Takeaway   </a:t>
            </a:r>
            <a:r>
              <a:rPr sz="1300">
                <a:solidFill>
                  <a:srgbClr val="1B1B33"/>
                </a:solidFill>
                <a:latin typeface="Segoe UI"/>
              </a:rPr>
              <a:t>Trustworthy AI and trustworthy analytics come from the same governed foundation, the semantic layer is the interface.</a:t>
            </a:r>
          </a:p>
        </p:txBody>
      </p:sp>
      <p:sp>
        <p:nvSpPr>
          <p:cNvPr id="10" name="TextBox 9"/>
          <p:cNvSpPr txBox="1"/>
          <p:nvPr/>
        </p:nvSpPr>
        <p:spPr>
          <a:xfrm>
            <a:off x="502920" y="6455664"/>
            <a:ext cx="7315200" cy="320040"/>
          </a:xfrm>
          <a:prstGeom prst="rect">
            <a:avLst/>
          </a:prstGeom>
          <a:noFill/>
        </p:spPr>
        <p:txBody>
          <a:bodyPr wrap="square" lIns="36576" rIns="36576" tIns="18288" bIns="18288">
            <a:spAutoFit/>
          </a:bodyPr>
          <a:lstStyle/>
          <a:p>
            <a:r>
              <a:rPr sz="900">
                <a:solidFill>
                  <a:srgbClr val="5C5B77"/>
                </a:solidFill>
                <a:latin typeface="Segoe UI"/>
              </a:rPr>
              <a:t>OpenGov Data Platform  ·  Case Study  ·  Akash Pahilwan</a:t>
            </a:r>
          </a:p>
        </p:txBody>
      </p:sp>
      <p:sp>
        <p:nvSpPr>
          <p:cNvPr id="11" name="TextBox 10"/>
          <p:cNvSpPr txBox="1"/>
          <p:nvPr/>
        </p:nvSpPr>
        <p:spPr>
          <a:xfrm>
            <a:off x="10911535" y="6455664"/>
            <a:ext cx="822960" cy="320040"/>
          </a:xfrm>
          <a:prstGeom prst="rect">
            <a:avLst/>
          </a:prstGeom>
          <a:noFill/>
        </p:spPr>
        <p:txBody>
          <a:bodyPr wrap="square" lIns="36576" rIns="36576" tIns="18288" bIns="18288">
            <a:spAutoFit/>
          </a:bodyPr>
          <a:lstStyle/>
          <a:p>
            <a:pPr algn="r"/>
            <a:r>
              <a:rPr sz="900">
                <a:solidFill>
                  <a:srgbClr val="5C5B77"/>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91552"/>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10561320" y="594360"/>
            <a:ext cx="640080" cy="640080"/>
          </a:xfrm>
          <a:prstGeom prst="ellipse">
            <a:avLst/>
          </a:prstGeom>
        </p:spPr>
      </p:pic>
      <p:sp>
        <p:nvSpPr>
          <p:cNvPr id="4" name="TextBox 3"/>
          <p:cNvSpPr txBox="1"/>
          <p:nvPr/>
        </p:nvSpPr>
        <p:spPr>
          <a:xfrm>
            <a:off x="1005840" y="2468880"/>
            <a:ext cx="10241280" cy="2194560"/>
          </a:xfrm>
          <a:prstGeom prst="rect">
            <a:avLst/>
          </a:prstGeom>
          <a:noFill/>
        </p:spPr>
        <p:txBody>
          <a:bodyPr wrap="square" lIns="36576" rIns="36576" tIns="18288" bIns="18288">
            <a:spAutoFit/>
          </a:bodyPr>
          <a:lstStyle/>
          <a:p>
            <a:r>
              <a:rPr sz="3800" b="1">
                <a:solidFill>
                  <a:srgbClr val="FFFFFF"/>
                </a:solidFill>
                <a:latin typeface="Segoe UI"/>
              </a:rPr>
              <a:t>Part 2: Hands-On Build</a:t>
            </a:r>
          </a:p>
          <a:p>
            <a:pPr>
              <a:spcBef>
                <a:spcPts val="1000"/>
              </a:spcBef>
            </a:pPr>
            <a:r>
              <a:rPr sz="1700">
                <a:solidFill>
                  <a:srgbClr val="A79FFF"/>
                </a:solidFill>
                <a:latin typeface="Segoe UI"/>
              </a:rPr>
              <a:t>RevOps, built and running. RBAC and masking, ADLS ingestion, dbt marts, and CI/CD, all live in Snowflake.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191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292"/>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875520" cy="841248"/>
          </a:xfrm>
          <a:prstGeom prst="rect">
            <a:avLst/>
          </a:prstGeom>
          <a:noFill/>
        </p:spPr>
        <p:txBody>
          <a:bodyPr wrap="square" lIns="36576" rIns="36576" tIns="18288" bIns="18288" anchor="ctr">
            <a:spAutoFit/>
          </a:bodyPr>
          <a:lstStyle/>
          <a:p>
            <a:pPr>
              <a:spcAft>
                <a:spcPts val="100"/>
              </a:spcAft>
            </a:pPr>
            <a:r>
              <a:rPr sz="1100" b="1">
                <a:solidFill>
                  <a:srgbClr val="A79FFF"/>
                </a:solidFill>
                <a:latin typeface="Segoe UI"/>
              </a:rPr>
              <a:t>HANDS-ON BUILD</a:t>
            </a:r>
          </a:p>
          <a:p>
            <a:r>
              <a:rPr sz="2600" b="1">
                <a:solidFill>
                  <a:srgbClr val="FFFFFF"/>
                </a:solidFill>
                <a:latin typeface="Segoe UI"/>
              </a:rPr>
              <a:t>RevOps onboarded, the four deliverables, live</a:t>
            </a:r>
          </a:p>
        </p:txBody>
      </p:sp>
      <p:pic>
        <p:nvPicPr>
          <p:cNvPr id="5" name="Picture 4" descr="image.png"/>
          <p:cNvPicPr>
            <a:picLocks noChangeAspect="1"/>
          </p:cNvPicPr>
          <p:nvPr/>
        </p:nvPicPr>
        <p:blipFill>
          <a:blip r:embed="rId2"/>
          <a:stretch>
            <a:fillRect/>
          </a:stretch>
        </p:blipFill>
        <p:spPr>
          <a:xfrm>
            <a:off x="11259006" y="237744"/>
            <a:ext cx="548640" cy="548640"/>
          </a:xfrm>
          <a:prstGeom prst="ellipse">
            <a:avLst/>
          </a:prstGeom>
        </p:spPr>
      </p:pic>
      <p:sp>
        <p:nvSpPr>
          <p:cNvPr id="6" name="TextBox 5"/>
          <p:cNvSpPr txBox="1"/>
          <p:nvPr/>
        </p:nvSpPr>
        <p:spPr>
          <a:xfrm>
            <a:off x="640080" y="1371600"/>
            <a:ext cx="10972800" cy="4206240"/>
          </a:xfrm>
          <a:prstGeom prst="rect">
            <a:avLst/>
          </a:prstGeom>
          <a:noFill/>
        </p:spPr>
        <p:txBody>
          <a:bodyPr wrap="square" lIns="36576" rIns="36576" tIns="18288" bIns="18288">
            <a:spAutoFit/>
          </a:bodyPr>
          <a:lstStyle/>
          <a:p>
            <a:pPr>
              <a:lnSpc>
                <a:spcPct val="107000"/>
              </a:lnSpc>
              <a:spcAft>
                <a:spcPts val="800"/>
              </a:spcAft>
            </a:pPr>
            <a:r>
              <a:rPr sz="1700">
                <a:solidFill>
                  <a:srgbClr val="4A3FFF"/>
                </a:solidFill>
                <a:latin typeface="Segoe UI"/>
              </a:rPr>
              <a:t>▸  </a:t>
            </a:r>
            <a:r>
              <a:rPr b="1" sz="1700">
                <a:solidFill>
                  <a:srgbClr val="1B1B33"/>
                </a:solidFill>
                <a:latin typeface="Segoe UI"/>
              </a:rPr>
              <a:t>RBAC &amp; security:   </a:t>
            </a:r>
            <a:r>
              <a:rPr sz="1700">
                <a:solidFill>
                  <a:srgbClr val="1B1B33"/>
                </a:solidFill>
                <a:latin typeface="Segoe UI"/>
              </a:rPr>
              <a:t>6 Functional + per-schema access roles, per-developer composite roles, tag-based ARR/amount masking, Terraform, config-driven.</a:t>
            </a:r>
          </a:p>
          <a:p>
            <a:pPr>
              <a:lnSpc>
                <a:spcPct val="107000"/>
              </a:lnSpc>
              <a:spcAft>
                <a:spcPts val="800"/>
              </a:spcAft>
            </a:pPr>
            <a:r>
              <a:rPr sz="1700">
                <a:solidFill>
                  <a:srgbClr val="4A3FFF"/>
                </a:solidFill>
                <a:latin typeface="Segoe UI"/>
              </a:rPr>
              <a:t>▸  </a:t>
            </a:r>
            <a:r>
              <a:rPr b="1" sz="1700">
                <a:solidFill>
                  <a:srgbClr val="1B1B33"/>
                </a:solidFill>
                <a:latin typeface="Segoe UI"/>
              </a:rPr>
              <a:t>Ingestion:   </a:t>
            </a:r>
            <a:r>
              <a:rPr sz="1700">
                <a:solidFill>
                  <a:srgbClr val="1B1B33"/>
                </a:solidFill>
                <a:latin typeface="Segoe UI"/>
              </a:rPr>
              <a:t>ingest_page_views.py, ADLS → RAW with validate / quarantine / load-log / idempotency / backfill (the intentional null user_id is quarantined).</a:t>
            </a:r>
          </a:p>
          <a:p>
            <a:pPr>
              <a:lnSpc>
                <a:spcPct val="107000"/>
              </a:lnSpc>
              <a:spcAft>
                <a:spcPts val="800"/>
              </a:spcAft>
            </a:pPr>
            <a:r>
              <a:rPr sz="1700">
                <a:solidFill>
                  <a:srgbClr val="4A3FFF"/>
                </a:solidFill>
                <a:latin typeface="Segoe UI"/>
              </a:rPr>
              <a:t>▸  </a:t>
            </a:r>
            <a:r>
              <a:rPr b="1" sz="1700">
                <a:solidFill>
                  <a:srgbClr val="1B1B33"/>
                </a:solidFill>
                <a:latin typeface="Segoe UI"/>
              </a:rPr>
              <a:t>dbt:   </a:t>
            </a:r>
            <a:r>
              <a:rPr sz="1700">
                <a:solidFill>
                  <a:srgbClr val="1B1B33"/>
                </a:solidFill>
                <a:latin typeface="Segoe UI"/>
              </a:rPr>
              <a:t>Incremental+deduped staging → RevOps pipeline mart; tests, clean_string macro, mesh public model, native dbt on Snowflake.</a:t>
            </a:r>
          </a:p>
          <a:p>
            <a:pPr>
              <a:lnSpc>
                <a:spcPct val="107000"/>
              </a:lnSpc>
              <a:spcAft>
                <a:spcPts val="800"/>
              </a:spcAft>
            </a:pPr>
            <a:r>
              <a:rPr sz="1700">
                <a:solidFill>
                  <a:srgbClr val="4A3FFF"/>
                </a:solidFill>
                <a:latin typeface="Segoe UI"/>
              </a:rPr>
              <a:t>▸  </a:t>
            </a:r>
            <a:r>
              <a:rPr b="1" sz="1700">
                <a:solidFill>
                  <a:srgbClr val="1B1B33"/>
                </a:solidFill>
                <a:latin typeface="Segoe UI"/>
              </a:rPr>
              <a:t>CI/CD:   </a:t>
            </a:r>
            <a:r>
              <a:rPr sz="1700">
                <a:solidFill>
                  <a:srgbClr val="1B1B33"/>
                </a:solidFill>
                <a:latin typeface="Segoe UI"/>
              </a:rPr>
              <a:t>Infra (Terraform, remote state) and dbt both deploy through GitHub Actions to DEV &amp; PROD, nothing applied by hand.</a:t>
            </a:r>
          </a:p>
          <a:p>
            <a:pPr>
              <a:lnSpc>
                <a:spcPct val="107000"/>
              </a:lnSpc>
              <a:spcAft>
                <a:spcPts val="800"/>
              </a:spcAft>
            </a:pPr>
            <a:r>
              <a:rPr sz="1700">
                <a:solidFill>
                  <a:srgbClr val="4A3FFF"/>
                </a:solidFill>
                <a:latin typeface="Segoe UI"/>
              </a:rPr>
              <a:t>▸  </a:t>
            </a:r>
            <a:r>
              <a:rPr b="1" sz="1700">
                <a:solidFill>
                  <a:srgbClr val="1B1B33"/>
                </a:solidFill>
                <a:latin typeface="Segoe UI"/>
              </a:rPr>
              <a:t>Two live databases:   </a:t>
            </a:r>
            <a:r>
              <a:rPr sz="1700">
                <a:solidFill>
                  <a:srgbClr val="1B1B33"/>
                </a:solidFill>
                <a:latin typeface="Segoe UI"/>
              </a:rPr>
              <a:t>OG_DEV_DB (dev sandboxes + preprod) and OG_PROD_DB, both seeded, governed, and built end-to-end.</a:t>
            </a:r>
          </a:p>
        </p:txBody>
      </p:sp>
      <p:sp>
        <p:nvSpPr>
          <p:cNvPr id="7" name="Rounded Rectangle 6"/>
          <p:cNvSpPr/>
          <p:nvPr/>
        </p:nvSpPr>
        <p:spPr>
          <a:xfrm>
            <a:off x="502920" y="5806440"/>
            <a:ext cx="11183112" cy="457200"/>
          </a:xfrm>
          <a:prstGeom prst="roundRect">
            <a:avLst/>
          </a:prstGeom>
          <a:solidFill>
            <a:srgbClr val="ECE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06440"/>
            <a:ext cx="82296" cy="457200"/>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806440"/>
            <a:ext cx="10789920" cy="457200"/>
          </a:xfrm>
          <a:prstGeom prst="rect">
            <a:avLst/>
          </a:prstGeom>
          <a:noFill/>
        </p:spPr>
        <p:txBody>
          <a:bodyPr wrap="square" lIns="36576" rIns="36576" tIns="18288" bIns="18288" anchor="ctr">
            <a:spAutoFit/>
          </a:bodyPr>
          <a:lstStyle/>
          <a:p>
            <a:r>
              <a:rPr b="1" sz="1300">
                <a:solidFill>
                  <a:srgbClr val="3B34B8"/>
                </a:solidFill>
                <a:latin typeface="Segoe UI"/>
              </a:rPr>
              <a:t>Takeaway   </a:t>
            </a:r>
            <a:r>
              <a:rPr sz="1300">
                <a:solidFill>
                  <a:srgbClr val="1B1B33"/>
                </a:solidFill>
                <a:latin typeface="Segoe UI"/>
              </a:rPr>
              <a:t>Everything in Part 1's architecture is running in the demo account, provisioned and promoted entirely through code.</a:t>
            </a:r>
          </a:p>
        </p:txBody>
      </p:sp>
      <p:sp>
        <p:nvSpPr>
          <p:cNvPr id="10" name="TextBox 9"/>
          <p:cNvSpPr txBox="1"/>
          <p:nvPr/>
        </p:nvSpPr>
        <p:spPr>
          <a:xfrm>
            <a:off x="502920" y="6455664"/>
            <a:ext cx="7315200" cy="320040"/>
          </a:xfrm>
          <a:prstGeom prst="rect">
            <a:avLst/>
          </a:prstGeom>
          <a:noFill/>
        </p:spPr>
        <p:txBody>
          <a:bodyPr wrap="square" lIns="36576" rIns="36576" tIns="18288" bIns="18288">
            <a:spAutoFit/>
          </a:bodyPr>
          <a:lstStyle/>
          <a:p>
            <a:r>
              <a:rPr sz="900">
                <a:solidFill>
                  <a:srgbClr val="5C5B77"/>
                </a:solidFill>
                <a:latin typeface="Segoe UI"/>
              </a:rPr>
              <a:t>OpenGov Data Platform  ·  Case Study  ·  Akash Pahilwan</a:t>
            </a:r>
          </a:p>
        </p:txBody>
      </p:sp>
      <p:sp>
        <p:nvSpPr>
          <p:cNvPr id="11" name="TextBox 10"/>
          <p:cNvSpPr txBox="1"/>
          <p:nvPr/>
        </p:nvSpPr>
        <p:spPr>
          <a:xfrm>
            <a:off x="10911535" y="6455664"/>
            <a:ext cx="822960" cy="320040"/>
          </a:xfrm>
          <a:prstGeom prst="rect">
            <a:avLst/>
          </a:prstGeom>
          <a:noFill/>
        </p:spPr>
        <p:txBody>
          <a:bodyPr wrap="square" lIns="36576" rIns="36576" tIns="18288" bIns="18288">
            <a:spAutoFit/>
          </a:bodyPr>
          <a:lstStyle/>
          <a:p>
            <a:pPr algn="r"/>
            <a:r>
              <a:rPr sz="900">
                <a:solidFill>
                  <a:srgbClr val="5C5B77"/>
                </a:solidFill>
                <a:latin typeface="Segoe UI"/>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191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292"/>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875520" cy="841248"/>
          </a:xfrm>
          <a:prstGeom prst="rect">
            <a:avLst/>
          </a:prstGeom>
          <a:noFill/>
        </p:spPr>
        <p:txBody>
          <a:bodyPr wrap="square" lIns="36576" rIns="36576" tIns="18288" bIns="18288" anchor="ctr">
            <a:spAutoFit/>
          </a:bodyPr>
          <a:lstStyle/>
          <a:p>
            <a:pPr>
              <a:spcAft>
                <a:spcPts val="100"/>
              </a:spcAft>
            </a:pPr>
            <a:r>
              <a:rPr sz="1100" b="1">
                <a:solidFill>
                  <a:srgbClr val="A79FFF"/>
                </a:solidFill>
                <a:latin typeface="Segoe UI"/>
              </a:rPr>
              <a:t>HANDS-ON BUILD</a:t>
            </a:r>
          </a:p>
          <a:p>
            <a:r>
              <a:rPr sz="2600" b="1">
                <a:solidFill>
                  <a:srgbClr val="FFFFFF"/>
                </a:solidFill>
                <a:latin typeface="Segoe UI"/>
              </a:rPr>
              <a:t>RBAC as built, who can touch each layer</a:t>
            </a:r>
          </a:p>
        </p:txBody>
      </p:sp>
      <p:pic>
        <p:nvPicPr>
          <p:cNvPr id="5" name="Picture 4" descr="image.png"/>
          <p:cNvPicPr>
            <a:picLocks noChangeAspect="1"/>
          </p:cNvPicPr>
          <p:nvPr/>
        </p:nvPicPr>
        <p:blipFill>
          <a:blip r:embed="rId2"/>
          <a:stretch>
            <a:fillRect/>
          </a:stretch>
        </p:blipFill>
        <p:spPr>
          <a:xfrm>
            <a:off x="11259006" y="237744"/>
            <a:ext cx="548640" cy="548640"/>
          </a:xfrm>
          <a:prstGeom prst="ellipse">
            <a:avLst/>
          </a:prstGeom>
        </p:spPr>
      </p:pic>
      <p:sp>
        <p:nvSpPr>
          <p:cNvPr id="6" name="TextBox 5"/>
          <p:cNvSpPr txBox="1"/>
          <p:nvPr/>
        </p:nvSpPr>
        <p:spPr>
          <a:xfrm>
            <a:off x="502920" y="1261872"/>
            <a:ext cx="2834640" cy="274320"/>
          </a:xfrm>
          <a:prstGeom prst="rect">
            <a:avLst/>
          </a:prstGeom>
          <a:noFill/>
        </p:spPr>
        <p:txBody>
          <a:bodyPr wrap="square" lIns="36576" rIns="36576" tIns="18288" bIns="18288">
            <a:spAutoFit/>
          </a:bodyPr>
          <a:lstStyle/>
          <a:p>
            <a:pPr algn="ctr"/>
            <a:r>
              <a:rPr sz="1000" b="1">
                <a:solidFill>
                  <a:srgbClr val="3B34B8"/>
                </a:solidFill>
                <a:latin typeface="Segoe UI"/>
              </a:rPr>
              <a:t>LAYER / SCHEMA</a:t>
            </a:r>
          </a:p>
        </p:txBody>
      </p:sp>
      <p:sp>
        <p:nvSpPr>
          <p:cNvPr id="7" name="Rounded Rectangle 6"/>
          <p:cNvSpPr/>
          <p:nvPr/>
        </p:nvSpPr>
        <p:spPr>
          <a:xfrm>
            <a:off x="502920" y="1645920"/>
            <a:ext cx="2834640" cy="566928"/>
          </a:xfrm>
          <a:prstGeom prst="roundRect">
            <a:avLst/>
          </a:prstGeom>
          <a:solidFill>
            <a:srgbClr val="2A24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FFFFFF"/>
                </a:solidFill>
                <a:latin typeface="Segoe UI"/>
              </a:rPr>
              <a:t>SALESFORCE_RAW_FIVETRAN</a:t>
            </a:r>
          </a:p>
        </p:txBody>
      </p:sp>
      <p:sp>
        <p:nvSpPr>
          <p:cNvPr id="8" name="Rounded Rectangle 7"/>
          <p:cNvSpPr/>
          <p:nvPr/>
        </p:nvSpPr>
        <p:spPr>
          <a:xfrm>
            <a:off x="502920" y="2423160"/>
            <a:ext cx="2834640" cy="566928"/>
          </a:xfrm>
          <a:prstGeom prst="roundRect">
            <a:avLst/>
          </a:prstGeom>
          <a:solidFill>
            <a:srgbClr val="2A24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FFFFFF"/>
                </a:solidFill>
                <a:latin typeface="Segoe UI"/>
              </a:rPr>
              <a:t>PRODUCT_EVENTS_RAW_ADLS</a:t>
            </a:r>
          </a:p>
        </p:txBody>
      </p:sp>
      <p:sp>
        <p:nvSpPr>
          <p:cNvPr id="9" name="Rounded Rectangle 8"/>
          <p:cNvSpPr/>
          <p:nvPr/>
        </p:nvSpPr>
        <p:spPr>
          <a:xfrm>
            <a:off x="502920" y="3200400"/>
            <a:ext cx="2834640" cy="566928"/>
          </a:xfrm>
          <a:prstGeom prst="roundRect">
            <a:avLst/>
          </a:prstGeom>
          <a:solidFill>
            <a:srgbClr val="3B34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FFFFFF"/>
                </a:solidFill>
                <a:latin typeface="Segoe UI"/>
              </a:rPr>
              <a:t>STAGING</a:t>
            </a:r>
          </a:p>
        </p:txBody>
      </p:sp>
      <p:sp>
        <p:nvSpPr>
          <p:cNvPr id="10" name="Rounded Rectangle 9"/>
          <p:cNvSpPr/>
          <p:nvPr/>
        </p:nvSpPr>
        <p:spPr>
          <a:xfrm>
            <a:off x="502920" y="3977639"/>
            <a:ext cx="2834640" cy="566928"/>
          </a:xfrm>
          <a:prstGeom prst="roundRect">
            <a:avLst/>
          </a:prstGeom>
          <a:solidFill>
            <a:srgbClr val="3B34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FFFFFF"/>
                </a:solidFill>
                <a:latin typeface="Segoe UI"/>
              </a:rPr>
              <a:t>MARTS_REVOPS</a:t>
            </a:r>
          </a:p>
        </p:txBody>
      </p:sp>
      <p:sp>
        <p:nvSpPr>
          <p:cNvPr id="11" name="Rounded Rectangle 10"/>
          <p:cNvSpPr/>
          <p:nvPr/>
        </p:nvSpPr>
        <p:spPr>
          <a:xfrm>
            <a:off x="502920" y="4754880"/>
            <a:ext cx="2834640" cy="566928"/>
          </a:xfrm>
          <a:prstGeom prst="roundRect">
            <a:avLst/>
          </a:prstGeom>
          <a:solidFill>
            <a:srgbClr val="5C5B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FFFFFF"/>
                </a:solidFill>
                <a:latin typeface="Segoe UI"/>
              </a:rPr>
              <a:t>MARTS_&lt;domain&gt;</a:t>
            </a:r>
          </a:p>
        </p:txBody>
      </p:sp>
      <p:sp>
        <p:nvSpPr>
          <p:cNvPr id="12" name="TextBox 11"/>
          <p:cNvSpPr txBox="1"/>
          <p:nvPr/>
        </p:nvSpPr>
        <p:spPr>
          <a:xfrm>
            <a:off x="3977639" y="1261872"/>
            <a:ext cx="3931920" cy="274320"/>
          </a:xfrm>
          <a:prstGeom prst="rect">
            <a:avLst/>
          </a:prstGeom>
          <a:noFill/>
        </p:spPr>
        <p:txBody>
          <a:bodyPr wrap="square" lIns="36576" rIns="36576" tIns="18288" bIns="18288">
            <a:spAutoFit/>
          </a:bodyPr>
          <a:lstStyle/>
          <a:p>
            <a:pPr algn="ctr"/>
            <a:r>
              <a:rPr sz="1000" b="1">
                <a:solidFill>
                  <a:srgbClr val="3B34B8"/>
                </a:solidFill>
                <a:latin typeface="Segoe UI"/>
              </a:rPr>
              <a:t>WRITE ACCESS</a:t>
            </a:r>
          </a:p>
        </p:txBody>
      </p:sp>
      <p:sp>
        <p:nvSpPr>
          <p:cNvPr id="13" name="Rounded Rectangle 12"/>
          <p:cNvSpPr/>
          <p:nvPr/>
        </p:nvSpPr>
        <p:spPr>
          <a:xfrm>
            <a:off x="3977639" y="1645920"/>
            <a:ext cx="3931920" cy="566928"/>
          </a:xfrm>
          <a:prstGeom prst="roundRect">
            <a:avLst/>
          </a:prstGeom>
          <a:solidFill>
            <a:srgbClr val="2EA0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0">
                <a:solidFill>
                  <a:srgbClr val="FFFFFF"/>
                </a:solidFill>
                <a:latin typeface="Segoe UI"/>
              </a:rPr>
              <a:t>REVOPS_INGESTION_FIVETRAN  (owns DDL)</a:t>
            </a:r>
          </a:p>
        </p:txBody>
      </p:sp>
      <p:sp>
        <p:nvSpPr>
          <p:cNvPr id="14" name="Rounded Rectangle 13"/>
          <p:cNvSpPr/>
          <p:nvPr/>
        </p:nvSpPr>
        <p:spPr>
          <a:xfrm>
            <a:off x="3977639" y="2423160"/>
            <a:ext cx="3931920" cy="566928"/>
          </a:xfrm>
          <a:prstGeom prst="roundRect">
            <a:avLst/>
          </a:prstGeom>
          <a:solidFill>
            <a:srgbClr val="2EA0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0">
                <a:solidFill>
                  <a:srgbClr val="FFFFFF"/>
                </a:solidFill>
                <a:latin typeface="Segoe UI"/>
              </a:rPr>
              <a:t>REVOPS_INGESTION_ADLS  (DML only, contract is deployer-owned)</a:t>
            </a:r>
          </a:p>
        </p:txBody>
      </p:sp>
      <p:sp>
        <p:nvSpPr>
          <p:cNvPr id="15" name="Rounded Rectangle 14"/>
          <p:cNvSpPr/>
          <p:nvPr/>
        </p:nvSpPr>
        <p:spPr>
          <a:xfrm>
            <a:off x="3977639" y="3200400"/>
            <a:ext cx="3931920" cy="566928"/>
          </a:xfrm>
          <a:prstGeom prst="roundRect">
            <a:avLst/>
          </a:prstGeom>
          <a:solidFill>
            <a:srgbClr val="2EA0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0">
                <a:solidFill>
                  <a:srgbClr val="FFFFFF"/>
                </a:solidFill>
                <a:latin typeface="Segoe UI"/>
              </a:rPr>
              <a:t>REVOPS_DEVELOPER  (dbt CI, all envs)</a:t>
            </a:r>
          </a:p>
        </p:txBody>
      </p:sp>
      <p:sp>
        <p:nvSpPr>
          <p:cNvPr id="16" name="Rounded Rectangle 15"/>
          <p:cNvSpPr/>
          <p:nvPr/>
        </p:nvSpPr>
        <p:spPr>
          <a:xfrm>
            <a:off x="3977639" y="3977639"/>
            <a:ext cx="3931920" cy="566928"/>
          </a:xfrm>
          <a:prstGeom prst="roundRect">
            <a:avLst/>
          </a:prstGeom>
          <a:solidFill>
            <a:srgbClr val="2EA0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0">
                <a:solidFill>
                  <a:srgbClr val="FFFFFF"/>
                </a:solidFill>
                <a:latin typeface="Segoe UI"/>
              </a:rPr>
              <a:t>REVOPS_DEVELOPER  (dbt CI, all envs)</a:t>
            </a:r>
          </a:p>
        </p:txBody>
      </p:sp>
      <p:sp>
        <p:nvSpPr>
          <p:cNvPr id="17" name="Rounded Rectangle 16"/>
          <p:cNvSpPr/>
          <p:nvPr/>
        </p:nvSpPr>
        <p:spPr>
          <a:xfrm>
            <a:off x="3977639" y="4754880"/>
            <a:ext cx="3931920" cy="566928"/>
          </a:xfrm>
          <a:prstGeom prst="roundRect">
            <a:avLst/>
          </a:prstGeom>
          <a:solidFill>
            <a:srgbClr val="2EA0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0">
                <a:solidFill>
                  <a:srgbClr val="FFFFFF"/>
                </a:solidFill>
                <a:latin typeface="Segoe UI"/>
              </a:rPr>
              <a:t>domain developer role (dbt CI)</a:t>
            </a:r>
          </a:p>
        </p:txBody>
      </p:sp>
      <p:sp>
        <p:nvSpPr>
          <p:cNvPr id="18" name="TextBox 17"/>
          <p:cNvSpPr txBox="1"/>
          <p:nvPr/>
        </p:nvSpPr>
        <p:spPr>
          <a:xfrm>
            <a:off x="8229600" y="1261872"/>
            <a:ext cx="3429000" cy="274320"/>
          </a:xfrm>
          <a:prstGeom prst="rect">
            <a:avLst/>
          </a:prstGeom>
          <a:noFill/>
        </p:spPr>
        <p:txBody>
          <a:bodyPr wrap="square" lIns="36576" rIns="36576" tIns="18288" bIns="18288">
            <a:spAutoFit/>
          </a:bodyPr>
          <a:lstStyle/>
          <a:p>
            <a:pPr algn="ctr"/>
            <a:r>
              <a:rPr sz="1000" b="1">
                <a:solidFill>
                  <a:srgbClr val="3B34B8"/>
                </a:solidFill>
                <a:latin typeface="Segoe UI"/>
              </a:rPr>
              <a:t>READ ACCESS</a:t>
            </a:r>
          </a:p>
        </p:txBody>
      </p:sp>
      <p:sp>
        <p:nvSpPr>
          <p:cNvPr id="19" name="Rounded Rectangle 18"/>
          <p:cNvSpPr/>
          <p:nvPr/>
        </p:nvSpPr>
        <p:spPr>
          <a:xfrm>
            <a:off x="8229600" y="1645920"/>
            <a:ext cx="3429000" cy="566928"/>
          </a:xfrm>
          <a:prstGeom prst="roundRect">
            <a:avLst/>
          </a:prstGeom>
          <a:solidFill>
            <a:srgbClr val="ECEB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0">
                <a:solidFill>
                  <a:srgbClr val="1B1B33"/>
                </a:solidFill>
                <a:latin typeface="Segoe UI"/>
              </a:rPr>
              <a:t>REVOPS_READER · ADMIN</a:t>
            </a:r>
          </a:p>
        </p:txBody>
      </p:sp>
      <p:sp>
        <p:nvSpPr>
          <p:cNvPr id="20" name="Rounded Rectangle 19"/>
          <p:cNvSpPr/>
          <p:nvPr/>
        </p:nvSpPr>
        <p:spPr>
          <a:xfrm>
            <a:off x="8229600" y="2423160"/>
            <a:ext cx="3429000" cy="566928"/>
          </a:xfrm>
          <a:prstGeom prst="roundRect">
            <a:avLst/>
          </a:prstGeom>
          <a:solidFill>
            <a:srgbClr val="ECEB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0">
                <a:solidFill>
                  <a:srgbClr val="1B1B33"/>
                </a:solidFill>
                <a:latin typeface="Segoe UI"/>
              </a:rPr>
              <a:t>REVOPS_READER · ADMIN</a:t>
            </a:r>
          </a:p>
        </p:txBody>
      </p:sp>
      <p:sp>
        <p:nvSpPr>
          <p:cNvPr id="21" name="Rounded Rectangle 20"/>
          <p:cNvSpPr/>
          <p:nvPr/>
        </p:nvSpPr>
        <p:spPr>
          <a:xfrm>
            <a:off x="8229600" y="3200400"/>
            <a:ext cx="3429000" cy="566928"/>
          </a:xfrm>
          <a:prstGeom prst="roundRect">
            <a:avLst/>
          </a:prstGeom>
          <a:solidFill>
            <a:srgbClr val="ECEB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0">
                <a:solidFill>
                  <a:srgbClr val="1B1B33"/>
                </a:solidFill>
                <a:latin typeface="Segoe UI"/>
              </a:rPr>
              <a:t>REVOPS_READER · DEVELOPER · ADMIN</a:t>
            </a:r>
          </a:p>
        </p:txBody>
      </p:sp>
      <p:sp>
        <p:nvSpPr>
          <p:cNvPr id="22" name="Rounded Rectangle 21"/>
          <p:cNvSpPr/>
          <p:nvPr/>
        </p:nvSpPr>
        <p:spPr>
          <a:xfrm>
            <a:off x="8229600" y="3977639"/>
            <a:ext cx="3429000" cy="566928"/>
          </a:xfrm>
          <a:prstGeom prst="roundRect">
            <a:avLst/>
          </a:prstGeom>
          <a:solidFill>
            <a:srgbClr val="ECEB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0">
                <a:solidFill>
                  <a:srgbClr val="1B1B33"/>
                </a:solidFill>
                <a:latin typeface="Segoe UI"/>
              </a:rPr>
              <a:t>REVOPS_ANALYST · READER · ADMIN</a:t>
            </a:r>
          </a:p>
        </p:txBody>
      </p:sp>
      <p:sp>
        <p:nvSpPr>
          <p:cNvPr id="23" name="Rounded Rectangle 22"/>
          <p:cNvSpPr/>
          <p:nvPr/>
        </p:nvSpPr>
        <p:spPr>
          <a:xfrm>
            <a:off x="8229600" y="4754880"/>
            <a:ext cx="3429000" cy="566928"/>
          </a:xfrm>
          <a:prstGeom prst="roundRect">
            <a:avLst/>
          </a:prstGeom>
          <a:solidFill>
            <a:srgbClr val="ECEB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0">
                <a:solidFill>
                  <a:srgbClr val="1B1B33"/>
                </a:solidFill>
                <a:latin typeface="Segoe UI"/>
              </a:rPr>
              <a:t>domain analyst (that domain's marts only)</a:t>
            </a:r>
          </a:p>
        </p:txBody>
      </p:sp>
      <p:sp>
        <p:nvSpPr>
          <p:cNvPr id="24" name="Rounded Rectangle 23"/>
          <p:cNvSpPr/>
          <p:nvPr/>
        </p:nvSpPr>
        <p:spPr>
          <a:xfrm>
            <a:off x="502920" y="5806440"/>
            <a:ext cx="11183112" cy="457200"/>
          </a:xfrm>
          <a:prstGeom prst="roundRect">
            <a:avLst/>
          </a:prstGeom>
          <a:solidFill>
            <a:srgbClr val="ECE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5806440"/>
            <a:ext cx="82296" cy="457200"/>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5806440"/>
            <a:ext cx="10789920" cy="457200"/>
          </a:xfrm>
          <a:prstGeom prst="rect">
            <a:avLst/>
          </a:prstGeom>
          <a:noFill/>
        </p:spPr>
        <p:txBody>
          <a:bodyPr wrap="square" lIns="36576" rIns="36576" tIns="18288" bIns="18288" anchor="ctr">
            <a:spAutoFit/>
          </a:bodyPr>
          <a:lstStyle/>
          <a:p>
            <a:r>
              <a:rPr b="1" sz="1300">
                <a:solidFill>
                  <a:srgbClr val="3B34B8"/>
                </a:solidFill>
                <a:latin typeface="Segoe UI"/>
              </a:rPr>
              <a:t>Takeaway   </a:t>
            </a:r>
            <a:r>
              <a:rPr sz="1300">
                <a:solidFill>
                  <a:srgbClr val="1B1B33"/>
                </a:solidFill>
                <a:latin typeface="Segoe UI"/>
              </a:rPr>
              <a:t>Access roles hold object grants; functional roles compose them; humans hold a composite/functional role, writes to shared+PROD happen only via the dbt CI service role.</a:t>
            </a:r>
          </a:p>
        </p:txBody>
      </p:sp>
      <p:sp>
        <p:nvSpPr>
          <p:cNvPr id="27" name="TextBox 26"/>
          <p:cNvSpPr txBox="1"/>
          <p:nvPr/>
        </p:nvSpPr>
        <p:spPr>
          <a:xfrm>
            <a:off x="502920" y="6455664"/>
            <a:ext cx="7315200" cy="320040"/>
          </a:xfrm>
          <a:prstGeom prst="rect">
            <a:avLst/>
          </a:prstGeom>
          <a:noFill/>
        </p:spPr>
        <p:txBody>
          <a:bodyPr wrap="square" lIns="36576" rIns="36576" tIns="18288" bIns="18288">
            <a:spAutoFit/>
          </a:bodyPr>
          <a:lstStyle/>
          <a:p>
            <a:r>
              <a:rPr sz="900">
                <a:solidFill>
                  <a:srgbClr val="5C5B77"/>
                </a:solidFill>
                <a:latin typeface="Segoe UI"/>
              </a:rPr>
              <a:t>OpenGov Data Platform  ·  Case Study  ·  Akash Pahilwan</a:t>
            </a:r>
          </a:p>
        </p:txBody>
      </p:sp>
      <p:sp>
        <p:nvSpPr>
          <p:cNvPr id="28" name="TextBox 27"/>
          <p:cNvSpPr txBox="1"/>
          <p:nvPr/>
        </p:nvSpPr>
        <p:spPr>
          <a:xfrm>
            <a:off x="10911535" y="6455664"/>
            <a:ext cx="822960" cy="320040"/>
          </a:xfrm>
          <a:prstGeom prst="rect">
            <a:avLst/>
          </a:prstGeom>
          <a:noFill/>
        </p:spPr>
        <p:txBody>
          <a:bodyPr wrap="square" lIns="36576" rIns="36576" tIns="18288" bIns="18288">
            <a:spAutoFit/>
          </a:bodyPr>
          <a:lstStyle/>
          <a:p>
            <a:pPr algn="r"/>
            <a:r>
              <a:rPr sz="900">
                <a:solidFill>
                  <a:srgbClr val="5C5B77"/>
                </a:solidFill>
                <a:latin typeface="Segoe UI"/>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191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292"/>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875520" cy="841248"/>
          </a:xfrm>
          <a:prstGeom prst="rect">
            <a:avLst/>
          </a:prstGeom>
          <a:noFill/>
        </p:spPr>
        <p:txBody>
          <a:bodyPr wrap="square" lIns="36576" rIns="36576" tIns="18288" bIns="18288" anchor="ctr">
            <a:spAutoFit/>
          </a:bodyPr>
          <a:lstStyle/>
          <a:p>
            <a:pPr>
              <a:spcAft>
                <a:spcPts val="100"/>
              </a:spcAft>
            </a:pPr>
            <a:r>
              <a:rPr sz="1100" b="1">
                <a:solidFill>
                  <a:srgbClr val="A79FFF"/>
                </a:solidFill>
                <a:latin typeface="Segoe UI"/>
              </a:rPr>
              <a:t>HANDS-ON BUILD</a:t>
            </a:r>
          </a:p>
          <a:p>
            <a:r>
              <a:rPr sz="2600" b="1">
                <a:solidFill>
                  <a:srgbClr val="FFFFFF"/>
                </a:solidFill>
                <a:latin typeface="Segoe UI"/>
              </a:rPr>
              <a:t>ARR / amount masking, who sees what</a:t>
            </a:r>
          </a:p>
        </p:txBody>
      </p:sp>
      <p:pic>
        <p:nvPicPr>
          <p:cNvPr id="5" name="Picture 4" descr="image.png"/>
          <p:cNvPicPr>
            <a:picLocks noChangeAspect="1"/>
          </p:cNvPicPr>
          <p:nvPr/>
        </p:nvPicPr>
        <p:blipFill>
          <a:blip r:embed="rId2"/>
          <a:stretch>
            <a:fillRect/>
          </a:stretch>
        </p:blipFill>
        <p:spPr>
          <a:xfrm>
            <a:off x="11259006" y="237744"/>
            <a:ext cx="548640" cy="548640"/>
          </a:xfrm>
          <a:prstGeom prst="ellipse">
            <a:avLst/>
          </a:prstGeom>
        </p:spPr>
      </p:pic>
      <p:sp>
        <p:nvSpPr>
          <p:cNvPr id="6" name="TextBox 5"/>
          <p:cNvSpPr txBox="1"/>
          <p:nvPr/>
        </p:nvSpPr>
        <p:spPr>
          <a:xfrm>
            <a:off x="640080" y="1371600"/>
            <a:ext cx="10972800" cy="4206240"/>
          </a:xfrm>
          <a:prstGeom prst="rect">
            <a:avLst/>
          </a:prstGeom>
          <a:noFill/>
        </p:spPr>
        <p:txBody>
          <a:bodyPr wrap="square" lIns="36576" rIns="36576" tIns="18288" bIns="18288">
            <a:spAutoFit/>
          </a:bodyPr>
          <a:lstStyle/>
          <a:p>
            <a:pPr>
              <a:lnSpc>
                <a:spcPct val="107000"/>
              </a:lnSpc>
              <a:spcAft>
                <a:spcPts val="800"/>
              </a:spcAft>
            </a:pPr>
            <a:r>
              <a:rPr sz="1650">
                <a:solidFill>
                  <a:srgbClr val="4A3FFF"/>
                </a:solidFill>
                <a:latin typeface="Segoe UI"/>
              </a:rPr>
              <a:t>▸  </a:t>
            </a:r>
            <a:r>
              <a:rPr b="1" sz="1650">
                <a:solidFill>
                  <a:srgbClr val="1B1B33"/>
                </a:solidFill>
                <a:latin typeface="Segoe UI"/>
              </a:rPr>
              <a:t>Tag-based:   </a:t>
            </a:r>
            <a:r>
              <a:rPr sz="1650">
                <a:solidFill>
                  <a:srgbClr val="1B1B33"/>
                </a:solidFill>
                <a:latin typeface="Segoe UI"/>
              </a:rPr>
              <a:t>GOVERNANCE.PII_FINANCIAL tag → MASK_PII_FINANCIAL_NUMBER policy; classify ACCOUNT.ARR + OPPORTUNITY.AMOUNT once, protection follows the tag.</a:t>
            </a:r>
          </a:p>
          <a:p>
            <a:pPr>
              <a:lnSpc>
                <a:spcPct val="107000"/>
              </a:lnSpc>
              <a:spcAft>
                <a:spcPts val="800"/>
              </a:spcAft>
            </a:pPr>
            <a:r>
              <a:rPr sz="1650">
                <a:solidFill>
                  <a:srgbClr val="4A3FFF"/>
                </a:solidFill>
                <a:latin typeface="Segoe UI"/>
              </a:rPr>
              <a:t>▸  </a:t>
            </a:r>
            <a:r>
              <a:rPr b="1" sz="1650">
                <a:solidFill>
                  <a:srgbClr val="1B1B33"/>
                </a:solidFill>
                <a:latin typeface="Segoe UI"/>
              </a:rPr>
              <a:t>Exempt (see real values):   </a:t>
            </a:r>
            <a:r>
              <a:rPr sz="1650">
                <a:solidFill>
                  <a:srgbClr val="1B1B33"/>
                </a:solidFill>
                <a:latin typeface="Segoe UI"/>
              </a:rPr>
              <a:t>REVOPS_ADMIN, REVOPS_DEVELOPER, REVOPS_ANALYST, NOT REVOPS_READER.</a:t>
            </a:r>
          </a:p>
          <a:p>
            <a:pPr>
              <a:lnSpc>
                <a:spcPct val="107000"/>
              </a:lnSpc>
              <a:spcAft>
                <a:spcPts val="800"/>
              </a:spcAft>
            </a:pPr>
            <a:r>
              <a:rPr sz="1650">
                <a:solidFill>
                  <a:srgbClr val="4A3FFF"/>
                </a:solidFill>
                <a:latin typeface="Segoe UI"/>
              </a:rPr>
              <a:t>▸  </a:t>
            </a:r>
            <a:r>
              <a:rPr b="1" sz="1650">
                <a:solidFill>
                  <a:srgbClr val="1B1B33"/>
                </a:solidFill>
                <a:latin typeface="Segoe UI"/>
              </a:rPr>
              <a:t>So, in practice:</a:t>
            </a:r>
          </a:p>
          <a:p>
            <a:pPr>
              <a:lnSpc>
                <a:spcPct val="107000"/>
              </a:lnSpc>
              <a:spcAft>
                <a:spcPts val="300"/>
              </a:spcAft>
            </a:pPr>
            <a:r>
              <a:rPr sz="1350">
                <a:solidFill>
                  <a:srgbClr val="5C5B77"/>
                </a:solidFill>
                <a:latin typeface="Segoe UI"/>
              </a:rPr>
              <a:t>        ·  </a:t>
            </a:r>
            <a:r>
              <a:rPr b="1" sz="1350">
                <a:solidFill>
                  <a:srgbClr val="1B1B33"/>
                </a:solidFill>
                <a:latin typeface="Segoe UI"/>
              </a:rPr>
              <a:t>Analyst   </a:t>
            </a:r>
            <a:r>
              <a:rPr sz="1350">
                <a:solidFill>
                  <a:srgbClr val="3E3D5C"/>
                </a:solidFill>
                <a:latin typeface="Segoe UI"/>
              </a:rPr>
              <a:t>Sees amount in the MART (exempt); financials are the point of their job.</a:t>
            </a:r>
          </a:p>
          <a:p>
            <a:pPr>
              <a:lnSpc>
                <a:spcPct val="107000"/>
              </a:lnSpc>
              <a:spcAft>
                <a:spcPts val="300"/>
              </a:spcAft>
            </a:pPr>
            <a:r>
              <a:rPr sz="1350">
                <a:solidFill>
                  <a:srgbClr val="5C5B77"/>
                </a:solidFill>
                <a:latin typeface="Segoe UI"/>
              </a:rPr>
              <a:t>        ·  </a:t>
            </a:r>
            <a:r>
              <a:rPr b="1" sz="1350">
                <a:solidFill>
                  <a:srgbClr val="1B1B33"/>
                </a:solidFill>
                <a:latin typeface="Segoe UI"/>
              </a:rPr>
              <a:t>Reader / a developer in their dev sandbox   </a:t>
            </a:r>
            <a:r>
              <a:rPr sz="1350">
                <a:solidFill>
                  <a:srgbClr val="3E3D5C"/>
                </a:solidFill>
                <a:latin typeface="Segoe UI"/>
              </a:rPr>
              <a:t>Sees NULL in RAW/STAGING (readers aren't exempt).</a:t>
            </a:r>
          </a:p>
          <a:p>
            <a:pPr>
              <a:lnSpc>
                <a:spcPct val="107000"/>
              </a:lnSpc>
              <a:spcAft>
                <a:spcPts val="800"/>
              </a:spcAft>
            </a:pPr>
            <a:r>
              <a:rPr sz="1650">
                <a:solidFill>
                  <a:srgbClr val="4A3FFF"/>
                </a:solidFill>
                <a:latin typeface="Segoe UI"/>
              </a:rPr>
              <a:t>▸  </a:t>
            </a:r>
            <a:r>
              <a:rPr b="1" sz="1650">
                <a:solidFill>
                  <a:srgbClr val="1B1B33"/>
                </a:solidFill>
                <a:latin typeface="Segoe UI"/>
              </a:rPr>
              <a:t>The operational gotcha:   </a:t>
            </a:r>
            <a:r>
              <a:rPr sz="1650">
                <a:solidFill>
                  <a:srgbClr val="1B1B33"/>
                </a:solidFill>
                <a:latin typeface="Segoe UI"/>
              </a:rPr>
              <a:t>The tag→policy binding is not a Terraform resource, every apply drops it, so apply_pii_tags.py re-binds it right after apply (automated in CI).</a:t>
            </a:r>
          </a:p>
        </p:txBody>
      </p:sp>
      <p:sp>
        <p:nvSpPr>
          <p:cNvPr id="7" name="Rounded Rectangle 6"/>
          <p:cNvSpPr/>
          <p:nvPr/>
        </p:nvSpPr>
        <p:spPr>
          <a:xfrm>
            <a:off x="502920" y="5806440"/>
            <a:ext cx="11183112" cy="457200"/>
          </a:xfrm>
          <a:prstGeom prst="roundRect">
            <a:avLst/>
          </a:prstGeom>
          <a:solidFill>
            <a:srgbClr val="ECE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06440"/>
            <a:ext cx="82296" cy="457200"/>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806440"/>
            <a:ext cx="10789920" cy="457200"/>
          </a:xfrm>
          <a:prstGeom prst="rect">
            <a:avLst/>
          </a:prstGeom>
          <a:noFill/>
        </p:spPr>
        <p:txBody>
          <a:bodyPr wrap="square" lIns="36576" rIns="36576" tIns="18288" bIns="18288" anchor="ctr">
            <a:spAutoFit/>
          </a:bodyPr>
          <a:lstStyle/>
          <a:p>
            <a:r>
              <a:rPr b="1" sz="1300">
                <a:solidFill>
                  <a:srgbClr val="3B34B8"/>
                </a:solidFill>
                <a:latin typeface="Segoe UI"/>
              </a:rPr>
              <a:t>Takeaway   </a:t>
            </a:r>
            <a:r>
              <a:rPr sz="1300">
                <a:solidFill>
                  <a:srgbClr val="1B1B33"/>
                </a:solidFill>
                <a:latin typeface="Segoe UI"/>
              </a:rPr>
              <a:t>Classify a column, not a table, masking scales to every domain through tags, and CI re-establishes the binding on every deploy.</a:t>
            </a:r>
          </a:p>
        </p:txBody>
      </p:sp>
      <p:sp>
        <p:nvSpPr>
          <p:cNvPr id="10" name="TextBox 9"/>
          <p:cNvSpPr txBox="1"/>
          <p:nvPr/>
        </p:nvSpPr>
        <p:spPr>
          <a:xfrm>
            <a:off x="502920" y="6455664"/>
            <a:ext cx="7315200" cy="320040"/>
          </a:xfrm>
          <a:prstGeom prst="rect">
            <a:avLst/>
          </a:prstGeom>
          <a:noFill/>
        </p:spPr>
        <p:txBody>
          <a:bodyPr wrap="square" lIns="36576" rIns="36576" tIns="18288" bIns="18288">
            <a:spAutoFit/>
          </a:bodyPr>
          <a:lstStyle/>
          <a:p>
            <a:r>
              <a:rPr sz="900">
                <a:solidFill>
                  <a:srgbClr val="5C5B77"/>
                </a:solidFill>
                <a:latin typeface="Segoe UI"/>
              </a:rPr>
              <a:t>OpenGov Data Platform  ·  Case Study  ·  Akash Pahilwan</a:t>
            </a:r>
          </a:p>
        </p:txBody>
      </p:sp>
      <p:sp>
        <p:nvSpPr>
          <p:cNvPr id="11" name="TextBox 10"/>
          <p:cNvSpPr txBox="1"/>
          <p:nvPr/>
        </p:nvSpPr>
        <p:spPr>
          <a:xfrm>
            <a:off x="10911535" y="6455664"/>
            <a:ext cx="822960" cy="320040"/>
          </a:xfrm>
          <a:prstGeom prst="rect">
            <a:avLst/>
          </a:prstGeom>
          <a:noFill/>
        </p:spPr>
        <p:txBody>
          <a:bodyPr wrap="square" lIns="36576" rIns="36576" tIns="18288" bIns="18288">
            <a:spAutoFit/>
          </a:bodyPr>
          <a:lstStyle/>
          <a:p>
            <a:pPr algn="r"/>
            <a:r>
              <a:rPr sz="900">
                <a:solidFill>
                  <a:srgbClr val="5C5B77"/>
                </a:solidFill>
                <a:latin typeface="Segoe UI"/>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191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292"/>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875520" cy="841248"/>
          </a:xfrm>
          <a:prstGeom prst="rect">
            <a:avLst/>
          </a:prstGeom>
          <a:noFill/>
        </p:spPr>
        <p:txBody>
          <a:bodyPr wrap="square" lIns="36576" rIns="36576" tIns="18288" bIns="18288" anchor="ctr">
            <a:spAutoFit/>
          </a:bodyPr>
          <a:lstStyle/>
          <a:p>
            <a:pPr>
              <a:spcAft>
                <a:spcPts val="100"/>
              </a:spcAft>
            </a:pPr>
            <a:r>
              <a:rPr sz="1100" b="1">
                <a:solidFill>
                  <a:srgbClr val="A79FFF"/>
                </a:solidFill>
                <a:latin typeface="Segoe UI"/>
              </a:rPr>
              <a:t>HANDS-ON BUILD</a:t>
            </a:r>
          </a:p>
          <a:p>
            <a:r>
              <a:rPr sz="2600" b="1">
                <a:solidFill>
                  <a:srgbClr val="FFFFFF"/>
                </a:solidFill>
                <a:latin typeface="Segoe UI"/>
              </a:rPr>
              <a:t>Telemetry ingestion, ADLS → RAW, built to the brief</a:t>
            </a:r>
          </a:p>
        </p:txBody>
      </p:sp>
      <p:pic>
        <p:nvPicPr>
          <p:cNvPr id="5" name="Picture 4" descr="image.png"/>
          <p:cNvPicPr>
            <a:picLocks noChangeAspect="1"/>
          </p:cNvPicPr>
          <p:nvPr/>
        </p:nvPicPr>
        <p:blipFill>
          <a:blip r:embed="rId2"/>
          <a:stretch>
            <a:fillRect/>
          </a:stretch>
        </p:blipFill>
        <p:spPr>
          <a:xfrm>
            <a:off x="11259006" y="237744"/>
            <a:ext cx="548640" cy="548640"/>
          </a:xfrm>
          <a:prstGeom prst="ellipse">
            <a:avLst/>
          </a:prstGeom>
        </p:spPr>
      </p:pic>
      <p:sp>
        <p:nvSpPr>
          <p:cNvPr id="6" name="TextBox 5"/>
          <p:cNvSpPr txBox="1"/>
          <p:nvPr/>
        </p:nvSpPr>
        <p:spPr>
          <a:xfrm>
            <a:off x="640080" y="1371600"/>
            <a:ext cx="10972800" cy="4206240"/>
          </a:xfrm>
          <a:prstGeom prst="rect">
            <a:avLst/>
          </a:prstGeom>
          <a:noFill/>
        </p:spPr>
        <p:txBody>
          <a:bodyPr wrap="square" lIns="36576" rIns="36576" tIns="18288" bIns="18288">
            <a:spAutoFit/>
          </a:bodyPr>
          <a:lstStyle/>
          <a:p>
            <a:pPr>
              <a:lnSpc>
                <a:spcPct val="107000"/>
              </a:lnSpc>
              <a:spcAft>
                <a:spcPts val="800"/>
              </a:spcAft>
            </a:pPr>
            <a:r>
              <a:rPr sz="1650">
                <a:solidFill>
                  <a:srgbClr val="4A3FFF"/>
                </a:solidFill>
                <a:latin typeface="Segoe UI"/>
              </a:rPr>
              <a:t>▸  </a:t>
            </a:r>
            <a:r>
              <a:rPr b="1" sz="1650">
                <a:solidFill>
                  <a:srgbClr val="1B1B33"/>
                </a:solidFill>
                <a:latin typeface="Segoe UI"/>
              </a:rPr>
              <a:t>Source:   </a:t>
            </a:r>
            <a:r>
              <a:rPr sz="1650">
                <a:solidFill>
                  <a:srgbClr val="1B1B33"/>
                </a:solidFill>
                <a:latin typeface="Segoe UI"/>
              </a:rPr>
              <a:t>Hourly JSON in ADLS (og-telemetry/&lt;env&gt;/product_events/page_views/dt=/hr=/), read via a keyless external stage (storage integration, no secrets).</a:t>
            </a:r>
          </a:p>
          <a:p>
            <a:pPr>
              <a:lnSpc>
                <a:spcPct val="107000"/>
              </a:lnSpc>
              <a:spcAft>
                <a:spcPts val="800"/>
              </a:spcAft>
            </a:pPr>
            <a:r>
              <a:rPr sz="1650">
                <a:solidFill>
                  <a:srgbClr val="4A3FFF"/>
                </a:solidFill>
                <a:latin typeface="Segoe UI"/>
              </a:rPr>
              <a:t>▸  </a:t>
            </a:r>
            <a:r>
              <a:rPr b="1" sz="1650">
                <a:solidFill>
                  <a:srgbClr val="1B1B33"/>
                </a:solidFill>
                <a:latin typeface="Segoe UI"/>
              </a:rPr>
              <a:t>Validate &amp; quarantine:   </a:t>
            </a:r>
            <a:r>
              <a:rPr sz="1650">
                <a:solidFill>
                  <a:srgbClr val="1B1B33"/>
                </a:solidFill>
                <a:latin typeface="Segoe UI"/>
              </a:rPr>
              <a:t>Rows missing event_id / account_id / event_timestamp → PAGE_VIEWS_QUARANTINE; the good rows land in append-only RAW.</a:t>
            </a:r>
          </a:p>
          <a:p>
            <a:pPr>
              <a:lnSpc>
                <a:spcPct val="107000"/>
              </a:lnSpc>
              <a:spcAft>
                <a:spcPts val="800"/>
              </a:spcAft>
            </a:pPr>
            <a:r>
              <a:rPr sz="1650">
                <a:solidFill>
                  <a:srgbClr val="4A3FFF"/>
                </a:solidFill>
                <a:latin typeface="Segoe UI"/>
              </a:rPr>
              <a:t>▸  </a:t>
            </a:r>
            <a:r>
              <a:rPr b="1" sz="1650">
                <a:solidFill>
                  <a:srgbClr val="1B1B33"/>
                </a:solidFill>
                <a:latin typeface="Segoe UI"/>
              </a:rPr>
              <a:t>Load log:   </a:t>
            </a:r>
            <a:r>
              <a:rPr sz="1650">
                <a:solidFill>
                  <a:srgbClr val="1B1B33"/>
                </a:solidFill>
                <a:latin typeface="Segoe UI"/>
              </a:rPr>
              <a:t>One PAGE_VIEWS_LOAD_LOG row per file, file, records loaded, quarantined, timestamp, an audit trail that outlives COPY history.</a:t>
            </a:r>
          </a:p>
          <a:p>
            <a:pPr>
              <a:lnSpc>
                <a:spcPct val="107000"/>
              </a:lnSpc>
              <a:spcAft>
                <a:spcPts val="800"/>
              </a:spcAft>
            </a:pPr>
            <a:r>
              <a:rPr sz="1650">
                <a:solidFill>
                  <a:srgbClr val="4A3FFF"/>
                </a:solidFill>
                <a:latin typeface="Segoe UI"/>
              </a:rPr>
              <a:t>▸  </a:t>
            </a:r>
            <a:r>
              <a:rPr b="1" sz="1650">
                <a:solidFill>
                  <a:srgbClr val="1B1B33"/>
                </a:solidFill>
                <a:latin typeface="Segoe UI"/>
              </a:rPr>
              <a:t>Idempotent + backfillable:   </a:t>
            </a:r>
            <a:r>
              <a:rPr sz="1650">
                <a:solidFill>
                  <a:srgbClr val="1B1B33"/>
                </a:solidFill>
                <a:latin typeface="Segoe UI"/>
              </a:rPr>
              <a:t>Per-file dedup on re-run; --path/--backfill for a folder or the full set; event_id dedup deferred to dbt staging.</a:t>
            </a:r>
          </a:p>
          <a:p>
            <a:pPr>
              <a:lnSpc>
                <a:spcPct val="107000"/>
              </a:lnSpc>
              <a:spcAft>
                <a:spcPts val="800"/>
              </a:spcAft>
            </a:pPr>
            <a:r>
              <a:rPr sz="1650">
                <a:solidFill>
                  <a:srgbClr val="4A3FFF"/>
                </a:solidFill>
                <a:latin typeface="Segoe UI"/>
              </a:rPr>
              <a:t>▸  </a:t>
            </a:r>
            <a:r>
              <a:rPr b="1" sz="1650">
                <a:solidFill>
                  <a:srgbClr val="1B1B33"/>
                </a:solidFill>
                <a:latin typeface="Segoe UI"/>
              </a:rPr>
              <a:t>As run:   </a:t>
            </a:r>
            <a:r>
              <a:rPr sz="1650">
                <a:solidFill>
                  <a:srgbClr val="1B1B33"/>
                </a:solidFill>
                <a:latin typeface="Segoe UI"/>
              </a:rPr>
              <a:t>PROD load = 9 rows loaded, 5 quarantined; staging dedup collapsed to 5 unique events.</a:t>
            </a:r>
          </a:p>
        </p:txBody>
      </p:sp>
      <p:sp>
        <p:nvSpPr>
          <p:cNvPr id="7" name="Rounded Rectangle 6"/>
          <p:cNvSpPr/>
          <p:nvPr/>
        </p:nvSpPr>
        <p:spPr>
          <a:xfrm>
            <a:off x="502920" y="5806440"/>
            <a:ext cx="11183112" cy="457200"/>
          </a:xfrm>
          <a:prstGeom prst="roundRect">
            <a:avLst/>
          </a:prstGeom>
          <a:solidFill>
            <a:srgbClr val="ECE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06440"/>
            <a:ext cx="82296" cy="457200"/>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806440"/>
            <a:ext cx="10789920" cy="457200"/>
          </a:xfrm>
          <a:prstGeom prst="rect">
            <a:avLst/>
          </a:prstGeom>
          <a:noFill/>
        </p:spPr>
        <p:txBody>
          <a:bodyPr wrap="square" lIns="36576" rIns="36576" tIns="18288" bIns="18288" anchor="ctr">
            <a:spAutoFit/>
          </a:bodyPr>
          <a:lstStyle/>
          <a:p>
            <a:r>
              <a:rPr b="1" sz="1300">
                <a:solidFill>
                  <a:srgbClr val="3B34B8"/>
                </a:solidFill>
                <a:latin typeface="Segoe UI"/>
              </a:rPr>
              <a:t>Takeaway   </a:t>
            </a:r>
            <a:r>
              <a:rPr sz="1300">
                <a:solidFill>
                  <a:srgbClr val="1B1B33"/>
                </a:solidFill>
                <a:latin typeface="Segoe UI"/>
              </a:rPr>
              <a:t>RAW is immutable truth: validate at the door, quarantine the bad, log every load, and make re-runs safe.</a:t>
            </a:r>
          </a:p>
        </p:txBody>
      </p:sp>
      <p:sp>
        <p:nvSpPr>
          <p:cNvPr id="10" name="TextBox 9"/>
          <p:cNvSpPr txBox="1"/>
          <p:nvPr/>
        </p:nvSpPr>
        <p:spPr>
          <a:xfrm>
            <a:off x="502920" y="6455664"/>
            <a:ext cx="7315200" cy="320040"/>
          </a:xfrm>
          <a:prstGeom prst="rect">
            <a:avLst/>
          </a:prstGeom>
          <a:noFill/>
        </p:spPr>
        <p:txBody>
          <a:bodyPr wrap="square" lIns="36576" rIns="36576" tIns="18288" bIns="18288">
            <a:spAutoFit/>
          </a:bodyPr>
          <a:lstStyle/>
          <a:p>
            <a:r>
              <a:rPr sz="900">
                <a:solidFill>
                  <a:srgbClr val="5C5B77"/>
                </a:solidFill>
                <a:latin typeface="Segoe UI"/>
              </a:rPr>
              <a:t>OpenGov Data Platform  ·  Case Study  ·  Akash Pahilwan</a:t>
            </a:r>
          </a:p>
        </p:txBody>
      </p:sp>
      <p:sp>
        <p:nvSpPr>
          <p:cNvPr id="11" name="TextBox 10"/>
          <p:cNvSpPr txBox="1"/>
          <p:nvPr/>
        </p:nvSpPr>
        <p:spPr>
          <a:xfrm>
            <a:off x="10911535" y="6455664"/>
            <a:ext cx="822960" cy="320040"/>
          </a:xfrm>
          <a:prstGeom prst="rect">
            <a:avLst/>
          </a:prstGeom>
          <a:noFill/>
        </p:spPr>
        <p:txBody>
          <a:bodyPr wrap="square" lIns="36576" rIns="36576" tIns="18288" bIns="18288">
            <a:spAutoFit/>
          </a:bodyPr>
          <a:lstStyle/>
          <a:p>
            <a:pPr algn="r"/>
            <a:r>
              <a:rPr sz="900">
                <a:solidFill>
                  <a:srgbClr val="5C5B77"/>
                </a:solidFill>
                <a:latin typeface="Segoe UI"/>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191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292"/>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875520" cy="841248"/>
          </a:xfrm>
          <a:prstGeom prst="rect">
            <a:avLst/>
          </a:prstGeom>
          <a:noFill/>
        </p:spPr>
        <p:txBody>
          <a:bodyPr wrap="square" lIns="36576" rIns="36576" tIns="18288" bIns="18288" anchor="ctr">
            <a:spAutoFit/>
          </a:bodyPr>
          <a:lstStyle/>
          <a:p>
            <a:pPr>
              <a:spcAft>
                <a:spcPts val="100"/>
              </a:spcAft>
            </a:pPr>
            <a:r>
              <a:rPr sz="1100" b="1">
                <a:solidFill>
                  <a:srgbClr val="A79FFF"/>
                </a:solidFill>
                <a:latin typeface="Segoe UI"/>
              </a:rPr>
              <a:t>HANDS-ON BUILD</a:t>
            </a:r>
          </a:p>
          <a:p>
            <a:r>
              <a:rPr sz="2600" b="1">
                <a:solidFill>
                  <a:srgbClr val="FFFFFF"/>
                </a:solidFill>
                <a:latin typeface="Segoe UI"/>
              </a:rPr>
              <a:t>dbt, staging → RevOps mart, native on Snowflake</a:t>
            </a:r>
          </a:p>
        </p:txBody>
      </p:sp>
      <p:pic>
        <p:nvPicPr>
          <p:cNvPr id="5" name="Picture 4" descr="image.png"/>
          <p:cNvPicPr>
            <a:picLocks noChangeAspect="1"/>
          </p:cNvPicPr>
          <p:nvPr/>
        </p:nvPicPr>
        <p:blipFill>
          <a:blip r:embed="rId2"/>
          <a:stretch>
            <a:fillRect/>
          </a:stretch>
        </p:blipFill>
        <p:spPr>
          <a:xfrm>
            <a:off x="11259006" y="237744"/>
            <a:ext cx="548640" cy="548640"/>
          </a:xfrm>
          <a:prstGeom prst="ellipse">
            <a:avLst/>
          </a:prstGeom>
        </p:spPr>
      </p:pic>
      <p:sp>
        <p:nvSpPr>
          <p:cNvPr id="6" name="TextBox 5"/>
          <p:cNvSpPr txBox="1"/>
          <p:nvPr/>
        </p:nvSpPr>
        <p:spPr>
          <a:xfrm>
            <a:off x="640080" y="1371600"/>
            <a:ext cx="10972800" cy="4206240"/>
          </a:xfrm>
          <a:prstGeom prst="rect">
            <a:avLst/>
          </a:prstGeom>
          <a:noFill/>
        </p:spPr>
        <p:txBody>
          <a:bodyPr wrap="square" lIns="36576" rIns="36576" tIns="18288" bIns="18288">
            <a:spAutoFit/>
          </a:bodyPr>
          <a:lstStyle/>
          <a:p>
            <a:pPr>
              <a:lnSpc>
                <a:spcPct val="107000"/>
              </a:lnSpc>
              <a:spcAft>
                <a:spcPts val="800"/>
              </a:spcAft>
            </a:pPr>
            <a:r>
              <a:rPr sz="1650">
                <a:solidFill>
                  <a:srgbClr val="4A3FFF"/>
                </a:solidFill>
                <a:latin typeface="Segoe UI"/>
              </a:rPr>
              <a:t>▸  </a:t>
            </a:r>
            <a:r>
              <a:rPr b="1" sz="1650">
                <a:solidFill>
                  <a:srgbClr val="1B1B33"/>
                </a:solidFill>
                <a:latin typeface="Segoe UI"/>
              </a:rPr>
              <a:t>Staging (incremental, merge):   </a:t>
            </a:r>
            <a:r>
              <a:rPr sz="1650">
                <a:solidFill>
                  <a:srgbClr val="1B1B33"/>
                </a:solidFill>
                <a:latin typeface="Segoe UI"/>
              </a:rPr>
              <a:t>Typed + snake_case; CDC (_fivetran_synced / _loaded_at); latest-per-PK via QUALIFY; clean_string on stage_name; soft-deletes dropped.</a:t>
            </a:r>
          </a:p>
          <a:p>
            <a:pPr>
              <a:lnSpc>
                <a:spcPct val="107000"/>
              </a:lnSpc>
              <a:spcAft>
                <a:spcPts val="800"/>
              </a:spcAft>
            </a:pPr>
            <a:r>
              <a:rPr sz="1650">
                <a:solidFill>
                  <a:srgbClr val="4A3FFF"/>
                </a:solidFill>
                <a:latin typeface="Segoe UI"/>
              </a:rPr>
              <a:t>▸  </a:t>
            </a:r>
            <a:r>
              <a:rPr b="1" sz="1650">
                <a:solidFill>
                  <a:srgbClr val="1B1B33"/>
                </a:solidFill>
                <a:latin typeface="Segoe UI"/>
              </a:rPr>
              <a:t>Mart, mart_revops__pipeline:   </a:t>
            </a:r>
            <a:r>
              <a:rPr sz="1650">
                <a:solidFill>
                  <a:srgbClr val="1B1B33"/>
                </a:solidFill>
                <a:latin typeface="Segoe UI"/>
              </a:rPr>
              <a:t>Opportunities × accounts + days_to_close, pipeline_stage_bucket, weighted_amount. Public mesh model a spoke consumes.</a:t>
            </a:r>
          </a:p>
          <a:p>
            <a:pPr>
              <a:lnSpc>
                <a:spcPct val="107000"/>
              </a:lnSpc>
              <a:spcAft>
                <a:spcPts val="800"/>
              </a:spcAft>
            </a:pPr>
            <a:r>
              <a:rPr sz="1650">
                <a:solidFill>
                  <a:srgbClr val="4A3FFF"/>
                </a:solidFill>
                <a:latin typeface="Segoe UI"/>
              </a:rPr>
              <a:t>▸  </a:t>
            </a:r>
            <a:r>
              <a:rPr b="1" sz="1650">
                <a:solidFill>
                  <a:srgbClr val="1B1B33"/>
                </a:solidFill>
                <a:latin typeface="Segoe UI"/>
              </a:rPr>
              <a:t>Tests &amp; contracts:   </a:t>
            </a:r>
            <a:r>
              <a:rPr sz="1650">
                <a:solidFill>
                  <a:srgbClr val="1B1B33"/>
                </a:solidFill>
                <a:latin typeface="Segoe UI"/>
              </a:rPr>
              <a:t>not_null + unique PKs, accepted_values on stage_name, relationships opp→account, sources.yml, all green.</a:t>
            </a:r>
          </a:p>
          <a:p>
            <a:pPr>
              <a:lnSpc>
                <a:spcPct val="107000"/>
              </a:lnSpc>
              <a:spcAft>
                <a:spcPts val="800"/>
              </a:spcAft>
            </a:pPr>
            <a:r>
              <a:rPr sz="1650">
                <a:solidFill>
                  <a:srgbClr val="4A3FFF"/>
                </a:solidFill>
                <a:latin typeface="Segoe UI"/>
              </a:rPr>
              <a:t>▸  </a:t>
            </a:r>
            <a:r>
              <a:rPr b="1" sz="1650">
                <a:solidFill>
                  <a:srgbClr val="1B1B33"/>
                </a:solidFill>
                <a:latin typeface="Segoe UI"/>
              </a:rPr>
              <a:t>Three targets:   </a:t>
            </a:r>
            <a:r>
              <a:rPr sz="1650">
                <a:solidFill>
                  <a:srgbClr val="1B1B33"/>
                </a:solidFill>
                <a:latin typeface="Segoe UI"/>
              </a:rPr>
              <a:t>Dev → your sandbox (schema__model) · preprod → OG_DEV_DB real schemas · prod → OG_PROD_DB (alias naming).</a:t>
            </a:r>
          </a:p>
          <a:p>
            <a:pPr>
              <a:lnSpc>
                <a:spcPct val="107000"/>
              </a:lnSpc>
              <a:spcAft>
                <a:spcPts val="800"/>
              </a:spcAft>
            </a:pPr>
            <a:r>
              <a:rPr sz="1650">
                <a:solidFill>
                  <a:srgbClr val="4A3FFF"/>
                </a:solidFill>
                <a:latin typeface="Segoe UI"/>
              </a:rPr>
              <a:t>▸  </a:t>
            </a:r>
            <a:r>
              <a:rPr b="1" sz="1650">
                <a:solidFill>
                  <a:srgbClr val="1B1B33"/>
                </a:solidFill>
                <a:latin typeface="Segoe UI"/>
              </a:rPr>
              <a:t>Governance travels:   </a:t>
            </a:r>
            <a:r>
              <a:rPr sz="1650">
                <a:solidFill>
                  <a:srgbClr val="1B1B33"/>
                </a:solidFill>
                <a:latin typeface="Segoe UI"/>
              </a:rPr>
              <a:t>An apply_column_tags post-hook carries the PII_FINANCIAL tag onto built columns in preprod/prod.</a:t>
            </a:r>
          </a:p>
        </p:txBody>
      </p:sp>
      <p:sp>
        <p:nvSpPr>
          <p:cNvPr id="7" name="Rounded Rectangle 6"/>
          <p:cNvSpPr/>
          <p:nvPr/>
        </p:nvSpPr>
        <p:spPr>
          <a:xfrm>
            <a:off x="502920" y="5806440"/>
            <a:ext cx="11183112" cy="457200"/>
          </a:xfrm>
          <a:prstGeom prst="roundRect">
            <a:avLst/>
          </a:prstGeom>
          <a:solidFill>
            <a:srgbClr val="ECE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06440"/>
            <a:ext cx="82296" cy="457200"/>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806440"/>
            <a:ext cx="10789920" cy="457200"/>
          </a:xfrm>
          <a:prstGeom prst="rect">
            <a:avLst/>
          </a:prstGeom>
          <a:noFill/>
        </p:spPr>
        <p:txBody>
          <a:bodyPr wrap="square" lIns="36576" rIns="36576" tIns="18288" bIns="18288" anchor="ctr">
            <a:spAutoFit/>
          </a:bodyPr>
          <a:lstStyle/>
          <a:p>
            <a:r>
              <a:rPr b="1" sz="1300">
                <a:solidFill>
                  <a:srgbClr val="3B34B8"/>
                </a:solidFill>
                <a:latin typeface="Segoe UI"/>
              </a:rPr>
              <a:t>Takeaway   </a:t>
            </a:r>
            <a:r>
              <a:rPr sz="1300">
                <a:solidFill>
                  <a:srgbClr val="1B1B33"/>
                </a:solidFill>
                <a:latin typeface="Segoe UI"/>
              </a:rPr>
              <a:t>One project, layered + contracted, incremental where volume demands it, mesh-public where consumers depend on it.</a:t>
            </a:r>
          </a:p>
        </p:txBody>
      </p:sp>
      <p:sp>
        <p:nvSpPr>
          <p:cNvPr id="10" name="TextBox 9"/>
          <p:cNvSpPr txBox="1"/>
          <p:nvPr/>
        </p:nvSpPr>
        <p:spPr>
          <a:xfrm>
            <a:off x="502920" y="6455664"/>
            <a:ext cx="7315200" cy="320040"/>
          </a:xfrm>
          <a:prstGeom prst="rect">
            <a:avLst/>
          </a:prstGeom>
          <a:noFill/>
        </p:spPr>
        <p:txBody>
          <a:bodyPr wrap="square" lIns="36576" rIns="36576" tIns="18288" bIns="18288">
            <a:spAutoFit/>
          </a:bodyPr>
          <a:lstStyle/>
          <a:p>
            <a:r>
              <a:rPr sz="900">
                <a:solidFill>
                  <a:srgbClr val="5C5B77"/>
                </a:solidFill>
                <a:latin typeface="Segoe UI"/>
              </a:rPr>
              <a:t>OpenGov Data Platform  ·  Case Study  ·  Akash Pahilwan</a:t>
            </a:r>
          </a:p>
        </p:txBody>
      </p:sp>
      <p:sp>
        <p:nvSpPr>
          <p:cNvPr id="11" name="TextBox 10"/>
          <p:cNvSpPr txBox="1"/>
          <p:nvPr/>
        </p:nvSpPr>
        <p:spPr>
          <a:xfrm>
            <a:off x="10911535" y="6455664"/>
            <a:ext cx="822960" cy="320040"/>
          </a:xfrm>
          <a:prstGeom prst="rect">
            <a:avLst/>
          </a:prstGeom>
          <a:noFill/>
        </p:spPr>
        <p:txBody>
          <a:bodyPr wrap="square" lIns="36576" rIns="36576" tIns="18288" bIns="18288">
            <a:spAutoFit/>
          </a:bodyPr>
          <a:lstStyle/>
          <a:p>
            <a:pPr algn="r"/>
            <a:r>
              <a:rPr sz="900">
                <a:solidFill>
                  <a:srgbClr val="5C5B77"/>
                </a:solidFill>
                <a:latin typeface="Segoe UI"/>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191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292"/>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875520" cy="841248"/>
          </a:xfrm>
          <a:prstGeom prst="rect">
            <a:avLst/>
          </a:prstGeom>
          <a:noFill/>
        </p:spPr>
        <p:txBody>
          <a:bodyPr wrap="square" lIns="36576" rIns="36576" tIns="18288" bIns="18288" anchor="ctr">
            <a:spAutoFit/>
          </a:bodyPr>
          <a:lstStyle/>
          <a:p>
            <a:pPr>
              <a:spcAft>
                <a:spcPts val="100"/>
              </a:spcAft>
            </a:pPr>
            <a:r>
              <a:rPr sz="1100" b="1">
                <a:solidFill>
                  <a:srgbClr val="A79FFF"/>
                </a:solidFill>
                <a:latin typeface="Segoe UI"/>
              </a:rPr>
              <a:t>HANDS-ON BUILD</a:t>
            </a:r>
          </a:p>
          <a:p>
            <a:r>
              <a:rPr sz="2600" b="1">
                <a:solidFill>
                  <a:srgbClr val="FFFFFF"/>
                </a:solidFill>
                <a:latin typeface="Segoe UI"/>
              </a:rPr>
              <a:t>CI/CD, how code becomes DEV, QA &amp; PROD</a:t>
            </a:r>
          </a:p>
        </p:txBody>
      </p:sp>
      <p:pic>
        <p:nvPicPr>
          <p:cNvPr id="5" name="Picture 4" descr="image.png"/>
          <p:cNvPicPr>
            <a:picLocks noChangeAspect="1"/>
          </p:cNvPicPr>
          <p:nvPr/>
        </p:nvPicPr>
        <p:blipFill>
          <a:blip r:embed="rId2"/>
          <a:stretch>
            <a:fillRect/>
          </a:stretch>
        </p:blipFill>
        <p:spPr>
          <a:xfrm>
            <a:off x="11259006" y="237744"/>
            <a:ext cx="548640" cy="548640"/>
          </a:xfrm>
          <a:prstGeom prst="ellipse">
            <a:avLst/>
          </a:prstGeom>
        </p:spPr>
      </p:pic>
      <p:sp>
        <p:nvSpPr>
          <p:cNvPr id="6" name="TextBox 5"/>
          <p:cNvSpPr txBox="1"/>
          <p:nvPr/>
        </p:nvSpPr>
        <p:spPr>
          <a:xfrm>
            <a:off x="502920" y="1325880"/>
            <a:ext cx="2011680" cy="274320"/>
          </a:xfrm>
          <a:prstGeom prst="rect">
            <a:avLst/>
          </a:prstGeom>
          <a:noFill/>
        </p:spPr>
        <p:txBody>
          <a:bodyPr wrap="square" lIns="36576" rIns="36576" tIns="18288" bIns="18288">
            <a:spAutoFit/>
          </a:bodyPr>
          <a:lstStyle/>
          <a:p>
            <a:pPr algn="ctr"/>
            <a:r>
              <a:rPr sz="1100" b="1">
                <a:solidFill>
                  <a:srgbClr val="4A3FFF"/>
                </a:solidFill>
                <a:latin typeface="Segoe UI"/>
              </a:rPr>
              <a:t>DBT (MODELS)</a:t>
            </a:r>
          </a:p>
        </p:txBody>
      </p:sp>
      <p:sp>
        <p:nvSpPr>
          <p:cNvPr id="7" name="Rounded Rectangle 6"/>
          <p:cNvSpPr/>
          <p:nvPr/>
        </p:nvSpPr>
        <p:spPr>
          <a:xfrm>
            <a:off x="502920" y="1645920"/>
            <a:ext cx="2331720" cy="868680"/>
          </a:xfrm>
          <a:prstGeom prst="roundRect">
            <a:avLst/>
          </a:prstGeom>
          <a:solidFill>
            <a:srgbClr val="2A24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a:solidFill>
                  <a:srgbClr val="FFFFFF"/>
                </a:solidFill>
                <a:latin typeface="Segoe UI"/>
              </a:rPr>
              <a:t>feature/&lt;you&gt;
→ target dev</a:t>
            </a:r>
          </a:p>
        </p:txBody>
      </p:sp>
      <p:sp>
        <p:nvSpPr>
          <p:cNvPr id="8" name="Right Arrow 7"/>
          <p:cNvSpPr/>
          <p:nvPr/>
        </p:nvSpPr>
        <p:spPr>
          <a:xfrm>
            <a:off x="2926080" y="1965960"/>
            <a:ext cx="274320" cy="219456"/>
          </a:xfrm>
          <a:prstGeom prst="rightArrow">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291840" y="1645920"/>
            <a:ext cx="2743200" cy="868680"/>
          </a:xfrm>
          <a:prstGeom prst="roundRect">
            <a:avLst/>
          </a:prstGeom>
          <a:solidFill>
            <a:srgbClr val="2EA0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a:solidFill>
                  <a:srgbClr val="FFFFFF"/>
                </a:solidFill>
                <a:latin typeface="Segoe UI"/>
              </a:rPr>
              <a:t>your SANDBOX
REVOPS_DEV_&lt;NAME&gt;
(OG_DEV_DB)</a:t>
            </a:r>
          </a:p>
        </p:txBody>
      </p:sp>
      <p:sp>
        <p:nvSpPr>
          <p:cNvPr id="10" name="Right Arrow 9"/>
          <p:cNvSpPr/>
          <p:nvPr/>
        </p:nvSpPr>
        <p:spPr>
          <a:xfrm>
            <a:off x="6126480" y="1965960"/>
            <a:ext cx="274320" cy="219456"/>
          </a:xfrm>
          <a:prstGeom prst="rightArrow">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92240" y="1645920"/>
            <a:ext cx="2377440" cy="868680"/>
          </a:xfrm>
          <a:prstGeom prst="roundRect">
            <a:avLst/>
          </a:prstGeom>
          <a:solidFill>
            <a:srgbClr val="3B34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a:solidFill>
                  <a:srgbClr val="FFFFFF"/>
                </a:solidFill>
                <a:latin typeface="Segoe UI"/>
              </a:rPr>
              <a:t>push dev
→ target preprod
(OG_DEV_DB real schemas)</a:t>
            </a:r>
          </a:p>
        </p:txBody>
      </p:sp>
      <p:sp>
        <p:nvSpPr>
          <p:cNvPr id="12" name="Right Arrow 11"/>
          <p:cNvSpPr/>
          <p:nvPr/>
        </p:nvSpPr>
        <p:spPr>
          <a:xfrm>
            <a:off x="8961120" y="1965960"/>
            <a:ext cx="274320" cy="219456"/>
          </a:xfrm>
          <a:prstGeom prst="rightArrow">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326880" y="1645920"/>
            <a:ext cx="2331720" cy="868680"/>
          </a:xfrm>
          <a:prstGeom prst="roundRect">
            <a:avLst/>
          </a:prstGeom>
          <a:solidFill>
            <a:srgbClr val="1915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a:solidFill>
                  <a:srgbClr val="FFFFFF"/>
                </a:solidFill>
                <a:latin typeface="Segoe UI"/>
              </a:rPr>
              <a:t>push main
→ target prod
(OG_PROD_DB)</a:t>
            </a:r>
          </a:p>
        </p:txBody>
      </p:sp>
      <p:sp>
        <p:nvSpPr>
          <p:cNvPr id="14" name="TextBox 13"/>
          <p:cNvSpPr txBox="1"/>
          <p:nvPr/>
        </p:nvSpPr>
        <p:spPr>
          <a:xfrm>
            <a:off x="502920" y="2880360"/>
            <a:ext cx="2011680" cy="274320"/>
          </a:xfrm>
          <a:prstGeom prst="rect">
            <a:avLst/>
          </a:prstGeom>
          <a:noFill/>
        </p:spPr>
        <p:txBody>
          <a:bodyPr wrap="square" lIns="36576" rIns="36576" tIns="18288" bIns="18288">
            <a:spAutoFit/>
          </a:bodyPr>
          <a:lstStyle/>
          <a:p>
            <a:pPr algn="ctr"/>
            <a:r>
              <a:rPr sz="1100" b="1">
                <a:solidFill>
                  <a:srgbClr val="4A3FFF"/>
                </a:solidFill>
                <a:latin typeface="Segoe UI"/>
              </a:rPr>
              <a:t>INFRA (RBAC/GOV)</a:t>
            </a:r>
          </a:p>
        </p:txBody>
      </p:sp>
      <p:sp>
        <p:nvSpPr>
          <p:cNvPr id="15" name="Rounded Rectangle 14"/>
          <p:cNvSpPr/>
          <p:nvPr/>
        </p:nvSpPr>
        <p:spPr>
          <a:xfrm>
            <a:off x="502920" y="3200400"/>
            <a:ext cx="2743200" cy="868680"/>
          </a:xfrm>
          <a:prstGeom prst="roundRect">
            <a:avLst/>
          </a:prstGeom>
          <a:solidFill>
            <a:srgbClr val="2A24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a:solidFill>
                  <a:srgbClr val="FFFFFF"/>
                </a:solidFill>
                <a:latin typeface="Segoe UI"/>
              </a:rPr>
              <a:t>PR to main
→ plan + drift check
(posted as PR comment)</a:t>
            </a:r>
          </a:p>
        </p:txBody>
      </p:sp>
      <p:sp>
        <p:nvSpPr>
          <p:cNvPr id="16" name="Right Arrow 15"/>
          <p:cNvSpPr/>
          <p:nvPr/>
        </p:nvSpPr>
        <p:spPr>
          <a:xfrm>
            <a:off x="3337560" y="3520440"/>
            <a:ext cx="274320" cy="219456"/>
          </a:xfrm>
          <a:prstGeom prst="rightArrow">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703320" y="3200400"/>
            <a:ext cx="3108960" cy="868680"/>
          </a:xfrm>
          <a:prstGeom prst="roundRect">
            <a:avLst/>
          </a:prstGeom>
          <a:solidFill>
            <a:srgbClr val="3B34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a:solidFill>
                  <a:srgbClr val="FFFFFF"/>
                </a:solidFill>
                <a:latin typeface="Segoe UI"/>
              </a:rPr>
              <a:t>merge main
→ terraform apply
+ apply_pii_tags (per env)</a:t>
            </a:r>
          </a:p>
        </p:txBody>
      </p:sp>
      <p:sp>
        <p:nvSpPr>
          <p:cNvPr id="18" name="Right Arrow 17"/>
          <p:cNvSpPr/>
          <p:nvPr/>
        </p:nvSpPr>
        <p:spPr>
          <a:xfrm>
            <a:off x="6903720" y="3520440"/>
            <a:ext cx="274320" cy="219456"/>
          </a:xfrm>
          <a:prstGeom prst="rightArrow">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269480" y="3200400"/>
            <a:ext cx="4389120" cy="868680"/>
          </a:xfrm>
          <a:prstGeom prst="roundRect">
            <a:avLst/>
          </a:prstGeom>
          <a:solidFill>
            <a:srgbClr val="1915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a:solidFill>
                  <a:srgbClr val="FFFFFF"/>
                </a:solidFill>
                <a:latin typeface="Segoe UI"/>
              </a:rPr>
              <a:t>Snowflake OG_DEV_DB + OG_PROD_DB
roles · grants · masking · stages</a:t>
            </a:r>
          </a:p>
        </p:txBody>
      </p:sp>
      <p:sp>
        <p:nvSpPr>
          <p:cNvPr id="20" name="Rounded Rectangle 19"/>
          <p:cNvSpPr/>
          <p:nvPr/>
        </p:nvSpPr>
        <p:spPr>
          <a:xfrm>
            <a:off x="502920" y="4526280"/>
            <a:ext cx="11155680" cy="914400"/>
          </a:xfrm>
          <a:prstGeom prst="roundRect">
            <a:avLst/>
          </a:prstGeom>
          <a:solidFill>
            <a:srgbClr val="ECE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617720"/>
            <a:ext cx="10789920" cy="777240"/>
          </a:xfrm>
          <a:prstGeom prst="rect">
            <a:avLst/>
          </a:prstGeom>
          <a:noFill/>
        </p:spPr>
        <p:txBody>
          <a:bodyPr wrap="square" lIns="36576" rIns="36576" tIns="18288" bIns="18288">
            <a:spAutoFit/>
          </a:bodyPr>
          <a:lstStyle/>
          <a:p>
            <a:pPr>
              <a:lnSpc>
                <a:spcPct val="105000"/>
              </a:lnSpc>
            </a:pPr>
            <a:r>
              <a:rPr b="1" sz="1100">
                <a:solidFill>
                  <a:srgbClr val="3B34B8"/>
                </a:solidFill>
                <a:latin typeface="Segoe UI"/>
              </a:rPr>
              <a:t>DEV:  </a:t>
            </a:r>
            <a:r>
              <a:rPr sz="1100">
                <a:solidFill>
                  <a:srgbClr val="1B1B33"/>
                </a:solidFill>
                <a:latin typeface="Segoe UI"/>
              </a:rPr>
              <a:t>per-developer sandboxes in OG_DEV_DB; build and iterate freely</a:t>
            </a:r>
          </a:p>
          <a:p>
            <a:pPr>
              <a:lnSpc>
                <a:spcPct val="105000"/>
              </a:lnSpc>
            </a:pPr>
            <a:r>
              <a:rPr b="1" sz="1100">
                <a:solidFill>
                  <a:srgbClr val="3B34B8"/>
                </a:solidFill>
                <a:latin typeface="Segoe UI"/>
              </a:rPr>
              <a:t>QA / preprod:  </a:t>
            </a:r>
            <a:r>
              <a:rPr sz="1100">
                <a:solidFill>
                  <a:srgbClr val="1B1B33"/>
                </a:solidFill>
                <a:latin typeface="Segoe UI"/>
              </a:rPr>
              <a:t>real STAGING/MARTS in OG_DEV_DB; integration build on merge to dev</a:t>
            </a:r>
          </a:p>
          <a:p>
            <a:pPr>
              <a:lnSpc>
                <a:spcPct val="105000"/>
              </a:lnSpc>
            </a:pPr>
            <a:r>
              <a:rPr b="1" sz="1100">
                <a:solidFill>
                  <a:srgbClr val="3B34B8"/>
                </a:solidFill>
                <a:latin typeface="Segoe UI"/>
              </a:rPr>
              <a:t>PROD:  </a:t>
            </a:r>
            <a:r>
              <a:rPr sz="1100">
                <a:solidFill>
                  <a:srgbClr val="1B1B33"/>
                </a:solidFill>
                <a:latin typeface="Segoe UI"/>
              </a:rPr>
              <a:t>OG_PROD_DB; built on merge to main, protected environment + approval</a:t>
            </a:r>
          </a:p>
        </p:txBody>
      </p:sp>
      <p:sp>
        <p:nvSpPr>
          <p:cNvPr id="22" name="TextBox 21"/>
          <p:cNvSpPr txBox="1"/>
          <p:nvPr/>
        </p:nvSpPr>
        <p:spPr>
          <a:xfrm>
            <a:off x="502920" y="6455664"/>
            <a:ext cx="7315200" cy="320040"/>
          </a:xfrm>
          <a:prstGeom prst="rect">
            <a:avLst/>
          </a:prstGeom>
          <a:noFill/>
        </p:spPr>
        <p:txBody>
          <a:bodyPr wrap="square" lIns="36576" rIns="36576" tIns="18288" bIns="18288">
            <a:spAutoFit/>
          </a:bodyPr>
          <a:lstStyle/>
          <a:p>
            <a:r>
              <a:rPr sz="900">
                <a:solidFill>
                  <a:srgbClr val="5C5B77"/>
                </a:solidFill>
                <a:latin typeface="Segoe UI"/>
              </a:rPr>
              <a:t>OpenGov Data Platform  ·  Case Study  ·  Akash Pahilwan</a:t>
            </a:r>
          </a:p>
        </p:txBody>
      </p:sp>
      <p:sp>
        <p:nvSpPr>
          <p:cNvPr id="23" name="TextBox 22"/>
          <p:cNvSpPr txBox="1"/>
          <p:nvPr/>
        </p:nvSpPr>
        <p:spPr>
          <a:xfrm>
            <a:off x="10911535" y="6455664"/>
            <a:ext cx="822960" cy="320040"/>
          </a:xfrm>
          <a:prstGeom prst="rect">
            <a:avLst/>
          </a:prstGeom>
          <a:noFill/>
        </p:spPr>
        <p:txBody>
          <a:bodyPr wrap="square" lIns="36576" rIns="36576" tIns="18288" bIns="18288">
            <a:spAutoFit/>
          </a:bodyPr>
          <a:lstStyle/>
          <a:p>
            <a:pPr algn="r"/>
            <a:r>
              <a:rPr sz="900">
                <a:solidFill>
                  <a:srgbClr val="5C5B77"/>
                </a:solidFill>
                <a:latin typeface="Segoe UI"/>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191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292"/>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875520" cy="841248"/>
          </a:xfrm>
          <a:prstGeom prst="rect">
            <a:avLst/>
          </a:prstGeom>
          <a:noFill/>
        </p:spPr>
        <p:txBody>
          <a:bodyPr wrap="square" lIns="36576" rIns="36576" tIns="18288" bIns="18288" anchor="ctr">
            <a:spAutoFit/>
          </a:bodyPr>
          <a:lstStyle/>
          <a:p>
            <a:pPr>
              <a:spcAft>
                <a:spcPts val="100"/>
              </a:spcAft>
            </a:pPr>
            <a:r>
              <a:rPr sz="1100" b="1">
                <a:solidFill>
                  <a:srgbClr val="A79FFF"/>
                </a:solidFill>
                <a:latin typeface="Segoe UI"/>
              </a:rPr>
              <a:t>HANDS-ON BUILD</a:t>
            </a:r>
          </a:p>
          <a:p>
            <a:r>
              <a:rPr sz="2600" b="1">
                <a:solidFill>
                  <a:srgbClr val="FFFFFF"/>
                </a:solidFill>
                <a:latin typeface="Segoe UI"/>
              </a:rPr>
              <a:t>Developer self-service, safely isolated</a:t>
            </a:r>
          </a:p>
        </p:txBody>
      </p:sp>
      <p:pic>
        <p:nvPicPr>
          <p:cNvPr id="5" name="Picture 4" descr="image.png"/>
          <p:cNvPicPr>
            <a:picLocks noChangeAspect="1"/>
          </p:cNvPicPr>
          <p:nvPr/>
        </p:nvPicPr>
        <p:blipFill>
          <a:blip r:embed="rId2"/>
          <a:stretch>
            <a:fillRect/>
          </a:stretch>
        </p:blipFill>
        <p:spPr>
          <a:xfrm>
            <a:off x="11259006" y="237744"/>
            <a:ext cx="548640" cy="548640"/>
          </a:xfrm>
          <a:prstGeom prst="ellipse">
            <a:avLst/>
          </a:prstGeom>
        </p:spPr>
      </p:pic>
      <p:sp>
        <p:nvSpPr>
          <p:cNvPr id="6" name="TextBox 5"/>
          <p:cNvSpPr txBox="1"/>
          <p:nvPr/>
        </p:nvSpPr>
        <p:spPr>
          <a:xfrm>
            <a:off x="640080" y="1371600"/>
            <a:ext cx="10972800" cy="4206240"/>
          </a:xfrm>
          <a:prstGeom prst="rect">
            <a:avLst/>
          </a:prstGeom>
          <a:noFill/>
        </p:spPr>
        <p:txBody>
          <a:bodyPr wrap="square" lIns="36576" rIns="36576" tIns="18288" bIns="18288">
            <a:spAutoFit/>
          </a:bodyPr>
          <a:lstStyle/>
          <a:p>
            <a:pPr>
              <a:lnSpc>
                <a:spcPct val="107000"/>
              </a:lnSpc>
              <a:spcAft>
                <a:spcPts val="800"/>
              </a:spcAft>
            </a:pPr>
            <a:r>
              <a:rPr sz="1650">
                <a:solidFill>
                  <a:srgbClr val="4A3FFF"/>
                </a:solidFill>
                <a:latin typeface="Segoe UI"/>
              </a:rPr>
              <a:t>▸  </a:t>
            </a:r>
            <a:r>
              <a:rPr b="1" sz="1650">
                <a:solidFill>
                  <a:srgbClr val="1B1B33"/>
                </a:solidFill>
                <a:latin typeface="Segoe UI"/>
              </a:rPr>
              <a:t>One composite role per developer:   </a:t>
            </a:r>
            <a:r>
              <a:rPr sz="1650">
                <a:solidFill>
                  <a:srgbClr val="1B1B33"/>
                </a:solidFill>
                <a:latin typeface="Segoe UI"/>
              </a:rPr>
              <a:t>DEV_&lt;NAME&gt; = REVOPS_READER (read all) + write to only their own sandbox REVOPS_DEV_&lt;NAME&gt;.</a:t>
            </a:r>
          </a:p>
          <a:p>
            <a:pPr>
              <a:lnSpc>
                <a:spcPct val="107000"/>
              </a:lnSpc>
              <a:spcAft>
                <a:spcPts val="800"/>
              </a:spcAft>
            </a:pPr>
            <a:r>
              <a:rPr sz="1650">
                <a:solidFill>
                  <a:srgbClr val="4A3FFF"/>
                </a:solidFill>
                <a:latin typeface="Segoe UI"/>
              </a:rPr>
              <a:t>▸  </a:t>
            </a:r>
            <a:r>
              <a:rPr b="1" sz="1650">
                <a:solidFill>
                  <a:srgbClr val="1B1B33"/>
                </a:solidFill>
                <a:latin typeface="Segoe UI"/>
              </a:rPr>
              <a:t>Single active role:   </a:t>
            </a:r>
            <a:r>
              <a:rPr sz="1650">
                <a:solidFill>
                  <a:srgbClr val="1B1B33"/>
                </a:solidFill>
                <a:latin typeface="Segoe UI"/>
              </a:rPr>
              <a:t>It's their default role and secondary roles are OFF, every session is exactly one role, so masking checks are unambiguous.</a:t>
            </a:r>
          </a:p>
          <a:p>
            <a:pPr>
              <a:lnSpc>
                <a:spcPct val="107000"/>
              </a:lnSpc>
              <a:spcAft>
                <a:spcPts val="800"/>
              </a:spcAft>
            </a:pPr>
            <a:r>
              <a:rPr sz="1650">
                <a:solidFill>
                  <a:srgbClr val="4A3FFF"/>
                </a:solidFill>
                <a:latin typeface="Segoe UI"/>
              </a:rPr>
              <a:t>▸  </a:t>
            </a:r>
            <a:r>
              <a:rPr b="1" sz="1650">
                <a:solidFill>
                  <a:srgbClr val="1B1B33"/>
                </a:solidFill>
                <a:latin typeface="Segoe UI"/>
              </a:rPr>
              <a:t>Two developers never collide:   </a:t>
            </a:r>
            <a:r>
              <a:rPr sz="1650">
                <a:solidFill>
                  <a:srgbClr val="1B1B33"/>
                </a:solidFill>
                <a:latin typeface="Segoe UI"/>
              </a:rPr>
              <a:t>Separate sandboxes, &lt;schema&gt;__&lt;model&gt; naming; can't touch shared STAGING/MARTS or anything in PROD.</a:t>
            </a:r>
          </a:p>
          <a:p>
            <a:pPr>
              <a:lnSpc>
                <a:spcPct val="107000"/>
              </a:lnSpc>
              <a:spcAft>
                <a:spcPts val="800"/>
              </a:spcAft>
            </a:pPr>
            <a:r>
              <a:rPr sz="1650">
                <a:solidFill>
                  <a:srgbClr val="4A3FFF"/>
                </a:solidFill>
                <a:latin typeface="Segoe UI"/>
              </a:rPr>
              <a:t>▸  </a:t>
            </a:r>
            <a:r>
              <a:rPr b="1" sz="1650">
                <a:solidFill>
                  <a:srgbClr val="1B1B33"/>
                </a:solidFill>
                <a:latin typeface="Segoe UI"/>
              </a:rPr>
              <a:t>Local or Snowsight:   </a:t>
            </a:r>
            <a:r>
              <a:rPr sz="1650">
                <a:solidFill>
                  <a:srgbClr val="1B1B33"/>
                </a:solidFill>
                <a:latin typeface="Segoe UI"/>
              </a:rPr>
              <a:t>dbt-core locally (username+password, build --target dev) or a Snowsight Workspace on a feature branch.</a:t>
            </a:r>
          </a:p>
          <a:p>
            <a:pPr>
              <a:lnSpc>
                <a:spcPct val="107000"/>
              </a:lnSpc>
              <a:spcAft>
                <a:spcPts val="800"/>
              </a:spcAft>
            </a:pPr>
            <a:r>
              <a:rPr sz="1650">
                <a:solidFill>
                  <a:srgbClr val="4A3FFF"/>
                </a:solidFill>
                <a:latin typeface="Segoe UI"/>
              </a:rPr>
              <a:t>▸  </a:t>
            </a:r>
            <a:r>
              <a:rPr b="1" sz="1650">
                <a:solidFill>
                  <a:srgbClr val="1B1B33"/>
                </a:solidFill>
                <a:latin typeface="Segoe UI"/>
              </a:rPr>
              <a:t>Onboard = two CSV rows:   </a:t>
            </a:r>
            <a:r>
              <a:rPr sz="1650">
                <a:solidFill>
                  <a:srgbClr val="1B1B33"/>
                </a:solidFill>
                <a:latin typeface="Segoe UI"/>
              </a:rPr>
              <a:t>Add to environments.csv developers + human_users.csv → composite role + sandbox generated by Terraform in a PR.</a:t>
            </a:r>
          </a:p>
        </p:txBody>
      </p:sp>
      <p:sp>
        <p:nvSpPr>
          <p:cNvPr id="7" name="Rounded Rectangle 6"/>
          <p:cNvSpPr/>
          <p:nvPr/>
        </p:nvSpPr>
        <p:spPr>
          <a:xfrm>
            <a:off x="502920" y="5806440"/>
            <a:ext cx="11183112" cy="457200"/>
          </a:xfrm>
          <a:prstGeom prst="roundRect">
            <a:avLst/>
          </a:prstGeom>
          <a:solidFill>
            <a:srgbClr val="ECE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06440"/>
            <a:ext cx="82296" cy="457200"/>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806440"/>
            <a:ext cx="10789920" cy="457200"/>
          </a:xfrm>
          <a:prstGeom prst="rect">
            <a:avLst/>
          </a:prstGeom>
          <a:noFill/>
        </p:spPr>
        <p:txBody>
          <a:bodyPr wrap="square" lIns="36576" rIns="36576" tIns="18288" bIns="18288" anchor="ctr">
            <a:spAutoFit/>
          </a:bodyPr>
          <a:lstStyle/>
          <a:p>
            <a:r>
              <a:rPr b="1" sz="1300">
                <a:solidFill>
                  <a:srgbClr val="3B34B8"/>
                </a:solidFill>
                <a:latin typeface="Segoe UI"/>
              </a:rPr>
              <a:t>Takeaway   </a:t>
            </a:r>
            <a:r>
              <a:rPr sz="1300">
                <a:solidFill>
                  <a:srgbClr val="1B1B33"/>
                </a:solidFill>
                <a:latin typeface="Segoe UI"/>
              </a:rPr>
              <a:t>Developers move fast in their own sandbox; the platform guarantees they can't break shared or production data.</a:t>
            </a:r>
          </a:p>
        </p:txBody>
      </p:sp>
      <p:sp>
        <p:nvSpPr>
          <p:cNvPr id="10" name="TextBox 9"/>
          <p:cNvSpPr txBox="1"/>
          <p:nvPr/>
        </p:nvSpPr>
        <p:spPr>
          <a:xfrm>
            <a:off x="502920" y="6455664"/>
            <a:ext cx="7315200" cy="320040"/>
          </a:xfrm>
          <a:prstGeom prst="rect">
            <a:avLst/>
          </a:prstGeom>
          <a:noFill/>
        </p:spPr>
        <p:txBody>
          <a:bodyPr wrap="square" lIns="36576" rIns="36576" tIns="18288" bIns="18288">
            <a:spAutoFit/>
          </a:bodyPr>
          <a:lstStyle/>
          <a:p>
            <a:r>
              <a:rPr sz="900">
                <a:solidFill>
                  <a:srgbClr val="5C5B77"/>
                </a:solidFill>
                <a:latin typeface="Segoe UI"/>
              </a:rPr>
              <a:t>OpenGov Data Platform  ·  Case Study  ·  Akash Pahilwan</a:t>
            </a:r>
          </a:p>
        </p:txBody>
      </p:sp>
      <p:sp>
        <p:nvSpPr>
          <p:cNvPr id="11" name="TextBox 10"/>
          <p:cNvSpPr txBox="1"/>
          <p:nvPr/>
        </p:nvSpPr>
        <p:spPr>
          <a:xfrm>
            <a:off x="10911535" y="6455664"/>
            <a:ext cx="822960" cy="320040"/>
          </a:xfrm>
          <a:prstGeom prst="rect">
            <a:avLst/>
          </a:prstGeom>
          <a:noFill/>
        </p:spPr>
        <p:txBody>
          <a:bodyPr wrap="square" lIns="36576" rIns="36576" tIns="18288" bIns="18288">
            <a:spAutoFit/>
          </a:bodyPr>
          <a:lstStyle/>
          <a:p>
            <a:pPr algn="r"/>
            <a:r>
              <a:rPr sz="900">
                <a:solidFill>
                  <a:srgbClr val="5C5B77"/>
                </a:solidFill>
                <a:latin typeface="Segoe UI"/>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191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292"/>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875520" cy="841248"/>
          </a:xfrm>
          <a:prstGeom prst="rect">
            <a:avLst/>
          </a:prstGeom>
          <a:noFill/>
        </p:spPr>
        <p:txBody>
          <a:bodyPr wrap="square" lIns="36576" rIns="36576" tIns="18288" bIns="18288" anchor="ctr">
            <a:spAutoFit/>
          </a:bodyPr>
          <a:lstStyle/>
          <a:p>
            <a:pPr>
              <a:spcAft>
                <a:spcPts val="100"/>
              </a:spcAft>
            </a:pPr>
            <a:r>
              <a:rPr sz="1100" b="1">
                <a:solidFill>
                  <a:srgbClr val="A79FFF"/>
                </a:solidFill>
                <a:latin typeface="Segoe UI"/>
              </a:rPr>
              <a:t>WRAP-UP</a:t>
            </a:r>
          </a:p>
          <a:p>
            <a:r>
              <a:rPr sz="2600" b="1">
                <a:solidFill>
                  <a:srgbClr val="FFFFFF"/>
                </a:solidFill>
                <a:latin typeface="Segoe UI"/>
              </a:rPr>
              <a:t>Close: one governed foundation, analytics &amp; AI on top</a:t>
            </a:r>
          </a:p>
        </p:txBody>
      </p:sp>
      <p:pic>
        <p:nvPicPr>
          <p:cNvPr id="5" name="Picture 4" descr="image.png"/>
          <p:cNvPicPr>
            <a:picLocks noChangeAspect="1"/>
          </p:cNvPicPr>
          <p:nvPr/>
        </p:nvPicPr>
        <p:blipFill>
          <a:blip r:embed="rId2"/>
          <a:stretch>
            <a:fillRect/>
          </a:stretch>
        </p:blipFill>
        <p:spPr>
          <a:xfrm>
            <a:off x="11259006" y="237744"/>
            <a:ext cx="548640" cy="548640"/>
          </a:xfrm>
          <a:prstGeom prst="ellipse">
            <a:avLst/>
          </a:prstGeom>
        </p:spPr>
      </p:pic>
      <p:sp>
        <p:nvSpPr>
          <p:cNvPr id="6" name="TextBox 5"/>
          <p:cNvSpPr txBox="1"/>
          <p:nvPr/>
        </p:nvSpPr>
        <p:spPr>
          <a:xfrm>
            <a:off x="640080" y="1371600"/>
            <a:ext cx="10972800" cy="4206240"/>
          </a:xfrm>
          <a:prstGeom prst="rect">
            <a:avLst/>
          </a:prstGeom>
          <a:noFill/>
        </p:spPr>
        <p:txBody>
          <a:bodyPr wrap="square" lIns="36576" rIns="36576" tIns="18288" bIns="18288">
            <a:spAutoFit/>
          </a:bodyPr>
          <a:lstStyle/>
          <a:p>
            <a:pPr>
              <a:lnSpc>
                <a:spcPct val="107000"/>
              </a:lnSpc>
              <a:spcAft>
                <a:spcPts val="800"/>
              </a:spcAft>
            </a:pPr>
            <a:r>
              <a:rPr sz="1700">
                <a:solidFill>
                  <a:srgbClr val="4A3FFF"/>
                </a:solidFill>
                <a:latin typeface="Segoe UI"/>
              </a:rPr>
              <a:t>▸  </a:t>
            </a:r>
            <a:r>
              <a:rPr b="1" sz="1700">
                <a:solidFill>
                  <a:srgbClr val="1B1B33"/>
                </a:solidFill>
                <a:latin typeface="Segoe UI"/>
              </a:rPr>
              <a:t>Foundation → pipelines → self-service → trust:   </a:t>
            </a:r>
            <a:r>
              <a:rPr sz="1700">
                <a:solidFill>
                  <a:srgbClr val="1B1B33"/>
                </a:solidFill>
                <a:latin typeface="Segoe UI"/>
              </a:rPr>
              <a:t>One IaC-first, governed platform, and it's running, not just drawn.</a:t>
            </a:r>
          </a:p>
          <a:p>
            <a:pPr>
              <a:lnSpc>
                <a:spcPct val="107000"/>
              </a:lnSpc>
              <a:spcAft>
                <a:spcPts val="800"/>
              </a:spcAft>
            </a:pPr>
            <a:r>
              <a:rPr sz="1700">
                <a:solidFill>
                  <a:srgbClr val="4A3FFF"/>
                </a:solidFill>
                <a:latin typeface="Segoe UI"/>
              </a:rPr>
              <a:t>▸  </a:t>
            </a:r>
            <a:r>
              <a:rPr b="1" sz="1700">
                <a:solidFill>
                  <a:srgbClr val="1B1B33"/>
                </a:solidFill>
                <a:latin typeface="Segoe UI"/>
              </a:rPr>
              <a:t>Buy the commodity, build the differentiator:   </a:t>
            </a:r>
            <a:r>
              <a:rPr sz="1700">
                <a:solidFill>
                  <a:srgbClr val="1B1B33"/>
                </a:solidFill>
                <a:latin typeface="Segoe UI"/>
              </a:rPr>
              <a:t>Fivetran for SaaS; custom Python for telemetry; native dbt for transforms.</a:t>
            </a:r>
          </a:p>
          <a:p>
            <a:pPr>
              <a:lnSpc>
                <a:spcPct val="107000"/>
              </a:lnSpc>
              <a:spcAft>
                <a:spcPts val="800"/>
              </a:spcAft>
            </a:pPr>
            <a:r>
              <a:rPr sz="1700">
                <a:solidFill>
                  <a:srgbClr val="4A3FFF"/>
                </a:solidFill>
                <a:latin typeface="Segoe UI"/>
              </a:rPr>
              <a:t>▸  </a:t>
            </a:r>
            <a:r>
              <a:rPr b="1" sz="1700">
                <a:solidFill>
                  <a:srgbClr val="1B1B33"/>
                </a:solidFill>
                <a:latin typeface="Segoe UI"/>
              </a:rPr>
              <a:t>Guardrails as paved paths:   </a:t>
            </a:r>
            <a:r>
              <a:rPr sz="1700">
                <a:solidFill>
                  <a:srgbClr val="1B1B33"/>
                </a:solidFill>
                <a:latin typeface="Segoe UI"/>
              </a:rPr>
              <a:t>Config-driven RBAC + tag masking, per-developer sandboxes, CI/CD to DEV &amp; PROD.</a:t>
            </a:r>
          </a:p>
          <a:p>
            <a:pPr>
              <a:lnSpc>
                <a:spcPct val="107000"/>
              </a:lnSpc>
              <a:spcAft>
                <a:spcPts val="800"/>
              </a:spcAft>
            </a:pPr>
            <a:r>
              <a:rPr sz="1700">
                <a:solidFill>
                  <a:srgbClr val="4A3FFF"/>
                </a:solidFill>
                <a:latin typeface="Segoe UI"/>
              </a:rPr>
              <a:t>▸  </a:t>
            </a:r>
            <a:r>
              <a:rPr b="1" sz="1700">
                <a:solidFill>
                  <a:srgbClr val="1B1B33"/>
                </a:solidFill>
                <a:latin typeface="Segoe UI"/>
              </a:rPr>
              <a:t>Tradeoffs I'll defend:   </a:t>
            </a:r>
            <a:r>
              <a:rPr sz="1700">
                <a:solidFill>
                  <a:srgbClr val="1B1B33"/>
                </a:solidFill>
                <a:latin typeface="Segoe UI"/>
              </a:rPr>
              <a:t>Buy vs build · incremental vs full-refresh · centralized vs federated (dbt Mesh) · key-pair/OIDC secrets.</a:t>
            </a:r>
          </a:p>
          <a:p>
            <a:pPr>
              <a:lnSpc>
                <a:spcPct val="107000"/>
              </a:lnSpc>
              <a:spcAft>
                <a:spcPts val="800"/>
              </a:spcAft>
            </a:pPr>
            <a:r>
              <a:rPr sz="1700">
                <a:solidFill>
                  <a:srgbClr val="4A3FFF"/>
                </a:solidFill>
                <a:latin typeface="Segoe UI"/>
              </a:rPr>
              <a:t>▸  </a:t>
            </a:r>
            <a:r>
              <a:rPr b="1" sz="1700">
                <a:solidFill>
                  <a:srgbClr val="1B1B33"/>
                </a:solidFill>
                <a:latin typeface="Segoe UI"/>
              </a:rPr>
              <a:t>Scales by construction:   </a:t>
            </a:r>
            <a:r>
              <a:rPr sz="1700">
                <a:solidFill>
                  <a:srgbClr val="1B1B33"/>
                </a:solidFill>
                <a:latin typeface="Segoe UI"/>
              </a:rPr>
              <a:t>A 10th domain is the same CSV rows + module, roles, masking, and CI all generated.</a:t>
            </a:r>
          </a:p>
        </p:txBody>
      </p:sp>
      <p:sp>
        <p:nvSpPr>
          <p:cNvPr id="7" name="Rounded Rectangle 6"/>
          <p:cNvSpPr/>
          <p:nvPr/>
        </p:nvSpPr>
        <p:spPr>
          <a:xfrm>
            <a:off x="502920" y="5806440"/>
            <a:ext cx="11183112" cy="457200"/>
          </a:xfrm>
          <a:prstGeom prst="roundRect">
            <a:avLst/>
          </a:prstGeom>
          <a:solidFill>
            <a:srgbClr val="ECE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06440"/>
            <a:ext cx="82296" cy="457200"/>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806440"/>
            <a:ext cx="10789920" cy="457200"/>
          </a:xfrm>
          <a:prstGeom prst="rect">
            <a:avLst/>
          </a:prstGeom>
          <a:noFill/>
        </p:spPr>
        <p:txBody>
          <a:bodyPr wrap="square" lIns="36576" rIns="36576" tIns="18288" bIns="18288" anchor="ctr">
            <a:spAutoFit/>
          </a:bodyPr>
          <a:lstStyle/>
          <a:p>
            <a:r>
              <a:rPr b="1" sz="1300">
                <a:solidFill>
                  <a:srgbClr val="3B34B8"/>
                </a:solidFill>
                <a:latin typeface="Segoe UI"/>
              </a:rPr>
              <a:t>Takeaway   </a:t>
            </a:r>
            <a:r>
              <a:rPr sz="1300">
                <a:solidFill>
                  <a:srgbClr val="1B1B33"/>
                </a:solidFill>
                <a:latin typeface="Segoe UI"/>
              </a:rPr>
              <a:t>The measure of the platform: how fast a federated team ships something trustworthy on top of it, safely, and on their own.</a:t>
            </a:r>
          </a:p>
        </p:txBody>
      </p:sp>
      <p:sp>
        <p:nvSpPr>
          <p:cNvPr id="10" name="TextBox 9"/>
          <p:cNvSpPr txBox="1"/>
          <p:nvPr/>
        </p:nvSpPr>
        <p:spPr>
          <a:xfrm>
            <a:off x="502920" y="6455664"/>
            <a:ext cx="7315200" cy="320040"/>
          </a:xfrm>
          <a:prstGeom prst="rect">
            <a:avLst/>
          </a:prstGeom>
          <a:noFill/>
        </p:spPr>
        <p:txBody>
          <a:bodyPr wrap="square" lIns="36576" rIns="36576" tIns="18288" bIns="18288">
            <a:spAutoFit/>
          </a:bodyPr>
          <a:lstStyle/>
          <a:p>
            <a:r>
              <a:rPr sz="900">
                <a:solidFill>
                  <a:srgbClr val="5C5B77"/>
                </a:solidFill>
                <a:latin typeface="Segoe UI"/>
              </a:rPr>
              <a:t>OpenGov Data Platform  ·  Case Study  ·  Akash Pahilwan</a:t>
            </a:r>
          </a:p>
        </p:txBody>
      </p:sp>
      <p:sp>
        <p:nvSpPr>
          <p:cNvPr id="11" name="TextBox 10"/>
          <p:cNvSpPr txBox="1"/>
          <p:nvPr/>
        </p:nvSpPr>
        <p:spPr>
          <a:xfrm>
            <a:off x="10911535" y="6455664"/>
            <a:ext cx="822960" cy="320040"/>
          </a:xfrm>
          <a:prstGeom prst="rect">
            <a:avLst/>
          </a:prstGeom>
          <a:noFill/>
        </p:spPr>
        <p:txBody>
          <a:bodyPr wrap="square" lIns="36576" rIns="36576" tIns="18288" bIns="18288">
            <a:spAutoFit/>
          </a:bodyPr>
          <a:lstStyle/>
          <a:p>
            <a:pPr algn="r"/>
            <a:r>
              <a:rPr sz="900">
                <a:solidFill>
                  <a:srgbClr val="5C5B77"/>
                </a:solidFill>
                <a:latin typeface="Segoe UI"/>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91552"/>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10561320" y="594360"/>
            <a:ext cx="640080" cy="640080"/>
          </a:xfrm>
          <a:prstGeom prst="ellipse">
            <a:avLst/>
          </a:prstGeom>
        </p:spPr>
      </p:pic>
      <p:sp>
        <p:nvSpPr>
          <p:cNvPr id="4" name="TextBox 3"/>
          <p:cNvSpPr txBox="1"/>
          <p:nvPr/>
        </p:nvSpPr>
        <p:spPr>
          <a:xfrm>
            <a:off x="1005840" y="2468880"/>
            <a:ext cx="10241280" cy="2194560"/>
          </a:xfrm>
          <a:prstGeom prst="rect">
            <a:avLst/>
          </a:prstGeom>
          <a:noFill/>
        </p:spPr>
        <p:txBody>
          <a:bodyPr wrap="square" lIns="36576" rIns="36576" tIns="18288" bIns="18288">
            <a:spAutoFit/>
          </a:bodyPr>
          <a:lstStyle/>
          <a:p>
            <a:r>
              <a:rPr sz="3800" b="1">
                <a:solidFill>
                  <a:srgbClr val="FFFFFF"/>
                </a:solidFill>
                <a:latin typeface="Segoe UI"/>
              </a:rPr>
              <a:t>Technical Appendix</a:t>
            </a:r>
          </a:p>
          <a:p>
            <a:pPr>
              <a:spcBef>
                <a:spcPts val="1000"/>
              </a:spcBef>
            </a:pPr>
            <a:r>
              <a:rPr sz="1700">
                <a:solidFill>
                  <a:srgbClr val="A79FFF"/>
                </a:solidFill>
                <a:latin typeface="Segoe UI"/>
              </a:rPr>
              <a:t>Deep dives for the panel's probes. Pull these up on demand.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191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292"/>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875520" cy="841248"/>
          </a:xfrm>
          <a:prstGeom prst="rect">
            <a:avLst/>
          </a:prstGeom>
          <a:noFill/>
        </p:spPr>
        <p:txBody>
          <a:bodyPr wrap="square" lIns="36576" rIns="36576" tIns="18288" bIns="18288" anchor="ctr">
            <a:spAutoFit/>
          </a:bodyPr>
          <a:lstStyle/>
          <a:p>
            <a:pPr>
              <a:spcAft>
                <a:spcPts val="100"/>
              </a:spcAft>
            </a:pPr>
            <a:r>
              <a:rPr sz="1100" b="1">
                <a:solidFill>
                  <a:srgbClr val="A79FFF"/>
                </a:solidFill>
                <a:latin typeface="Segoe UI"/>
              </a:rPr>
              <a:t>APPENDIX · GOVERNANCE</a:t>
            </a:r>
          </a:p>
          <a:p>
            <a:r>
              <a:rPr sz="2600" b="1">
                <a:solidFill>
                  <a:srgbClr val="FFFFFF"/>
                </a:solidFill>
                <a:latin typeface="Segoe UI"/>
              </a:rPr>
              <a:t>Scaling RBAC to 10 domains, least privilege by construction</a:t>
            </a:r>
          </a:p>
        </p:txBody>
      </p:sp>
      <p:pic>
        <p:nvPicPr>
          <p:cNvPr id="5" name="Picture 4" descr="image.png"/>
          <p:cNvPicPr>
            <a:picLocks noChangeAspect="1"/>
          </p:cNvPicPr>
          <p:nvPr/>
        </p:nvPicPr>
        <p:blipFill>
          <a:blip r:embed="rId2"/>
          <a:stretch>
            <a:fillRect/>
          </a:stretch>
        </p:blipFill>
        <p:spPr>
          <a:xfrm>
            <a:off x="11259006" y="237744"/>
            <a:ext cx="548640" cy="548640"/>
          </a:xfrm>
          <a:prstGeom prst="ellipse">
            <a:avLst/>
          </a:prstGeom>
        </p:spPr>
      </p:pic>
      <p:sp>
        <p:nvSpPr>
          <p:cNvPr id="6" name="TextBox 5"/>
          <p:cNvSpPr txBox="1"/>
          <p:nvPr/>
        </p:nvSpPr>
        <p:spPr>
          <a:xfrm>
            <a:off x="640080" y="1371600"/>
            <a:ext cx="10972800" cy="4206240"/>
          </a:xfrm>
          <a:prstGeom prst="rect">
            <a:avLst/>
          </a:prstGeom>
          <a:noFill/>
        </p:spPr>
        <p:txBody>
          <a:bodyPr wrap="square" lIns="36576" rIns="36576" tIns="18288" bIns="18288">
            <a:spAutoFit/>
          </a:bodyPr>
          <a:lstStyle/>
          <a:p>
            <a:pPr>
              <a:lnSpc>
                <a:spcPct val="107000"/>
              </a:lnSpc>
              <a:spcAft>
                <a:spcPts val="800"/>
              </a:spcAft>
            </a:pPr>
            <a:r>
              <a:rPr sz="1650">
                <a:solidFill>
                  <a:srgbClr val="4A3FFF"/>
                </a:solidFill>
                <a:latin typeface="Segoe UI"/>
              </a:rPr>
              <a:t>▸  </a:t>
            </a:r>
            <a:r>
              <a:rPr b="1" sz="1650">
                <a:solidFill>
                  <a:srgbClr val="1B1B33"/>
                </a:solidFill>
                <a:latin typeface="Segoe UI"/>
              </a:rPr>
              <a:t>Access roles are reusable primitives:   </a:t>
            </a:r>
            <a:r>
              <a:rPr sz="1650">
                <a:solidFill>
                  <a:srgbClr val="1B1B33"/>
                </a:solidFill>
                <a:latin typeface="Segoe UI"/>
              </a:rPr>
              <a:t>AR_&lt;ENV&gt;_&lt;SCHEMA&gt;_R/W hold the grants; a new domain = a generated set, never bespoke grant spaghetti.</a:t>
            </a:r>
          </a:p>
          <a:p>
            <a:pPr>
              <a:lnSpc>
                <a:spcPct val="107000"/>
              </a:lnSpc>
              <a:spcAft>
                <a:spcPts val="800"/>
              </a:spcAft>
            </a:pPr>
            <a:r>
              <a:rPr sz="1650">
                <a:solidFill>
                  <a:srgbClr val="4A3FFF"/>
                </a:solidFill>
                <a:latin typeface="Segoe UI"/>
              </a:rPr>
              <a:t>▸  </a:t>
            </a:r>
            <a:r>
              <a:rPr b="1" sz="1650">
                <a:solidFill>
                  <a:srgbClr val="1B1B33"/>
                </a:solidFill>
                <a:latin typeface="Segoe UI"/>
              </a:rPr>
              <a:t>Domain-scoped analysts:   </a:t>
            </a:r>
            <a:r>
              <a:rPr sz="1650">
                <a:solidFill>
                  <a:srgbClr val="1B1B33"/>
                </a:solidFill>
                <a:latin typeface="Segoe UI"/>
              </a:rPr>
              <a:t>REVOPS_ANALYST reads MARTS_* (all marts); FINANCE_ANALYST reads MARTS_FINANCE ONLY, an exact-schema grant, not the wildcard.</a:t>
            </a:r>
          </a:p>
          <a:p>
            <a:pPr>
              <a:lnSpc>
                <a:spcPct val="107000"/>
              </a:lnSpc>
              <a:spcAft>
                <a:spcPts val="800"/>
              </a:spcAft>
            </a:pPr>
            <a:r>
              <a:rPr sz="1650">
                <a:solidFill>
                  <a:srgbClr val="4A3FFF"/>
                </a:solidFill>
                <a:latin typeface="Segoe UI"/>
              </a:rPr>
              <a:t>▸  </a:t>
            </a:r>
            <a:r>
              <a:rPr b="1" sz="1650">
                <a:solidFill>
                  <a:srgbClr val="1B1B33"/>
                </a:solidFill>
                <a:latin typeface="Segoe UI"/>
              </a:rPr>
              <a:t>Proven live:   </a:t>
            </a:r>
            <a:r>
              <a:rPr sz="1650">
                <a:solidFill>
                  <a:srgbClr val="1B1B33"/>
                </a:solidFill>
                <a:latin typeface="Segoe UI"/>
              </a:rPr>
              <a:t>FINANCE_ANALYST sees only MARTS_FINANCE and is DENIED MARTS_REVOPS; the RevOps analyst still sees both.</a:t>
            </a:r>
          </a:p>
          <a:p>
            <a:pPr>
              <a:lnSpc>
                <a:spcPct val="107000"/>
              </a:lnSpc>
              <a:spcAft>
                <a:spcPts val="800"/>
              </a:spcAft>
            </a:pPr>
            <a:r>
              <a:rPr sz="1650">
                <a:solidFill>
                  <a:srgbClr val="4A3FFF"/>
                </a:solidFill>
                <a:latin typeface="Segoe UI"/>
              </a:rPr>
              <a:t>▸  </a:t>
            </a:r>
            <a:r>
              <a:rPr b="1" sz="1650">
                <a:solidFill>
                  <a:srgbClr val="1B1B33"/>
                </a:solidFill>
                <a:latin typeface="Segoe UI"/>
              </a:rPr>
              <a:t>Service vs human:   </a:t>
            </a:r>
            <a:r>
              <a:rPr sz="1650">
                <a:solidFill>
                  <a:srgbClr val="1B1B33"/>
                </a:solidFill>
                <a:latin typeface="Segoe UI"/>
              </a:rPr>
              <a:t>REVOPS_DEVELOPER (write, incl PROD) is service-only, sync_config.py rejects granting it to a human; humans get read + their own sandbox.</a:t>
            </a:r>
          </a:p>
          <a:p>
            <a:pPr>
              <a:lnSpc>
                <a:spcPct val="107000"/>
              </a:lnSpc>
              <a:spcAft>
                <a:spcPts val="800"/>
              </a:spcAft>
            </a:pPr>
            <a:r>
              <a:rPr sz="1650">
                <a:solidFill>
                  <a:srgbClr val="4A3FFF"/>
                </a:solidFill>
                <a:latin typeface="Segoe UI"/>
              </a:rPr>
              <a:t>▸  </a:t>
            </a:r>
            <a:r>
              <a:rPr b="1" sz="1650">
                <a:solidFill>
                  <a:srgbClr val="1B1B33"/>
                </a:solidFill>
                <a:latin typeface="Segoe UI"/>
              </a:rPr>
              <a:t>Audit:   </a:t>
            </a:r>
            <a:r>
              <a:rPr sz="1650">
                <a:solidFill>
                  <a:srgbClr val="1B1B33"/>
                </a:solidFill>
                <a:latin typeface="Segoe UI"/>
              </a:rPr>
              <a:t>ACCESS_HISTORY answers 'who read ACCOUNT.ARR and when'; POLICY_REFERENCES proves the mask was attached at read time.</a:t>
            </a:r>
          </a:p>
        </p:txBody>
      </p:sp>
      <p:sp>
        <p:nvSpPr>
          <p:cNvPr id="7" name="Rounded Rectangle 6"/>
          <p:cNvSpPr/>
          <p:nvPr/>
        </p:nvSpPr>
        <p:spPr>
          <a:xfrm>
            <a:off x="502920" y="5806440"/>
            <a:ext cx="11183112" cy="457200"/>
          </a:xfrm>
          <a:prstGeom prst="roundRect">
            <a:avLst/>
          </a:prstGeom>
          <a:solidFill>
            <a:srgbClr val="ECE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06440"/>
            <a:ext cx="82296" cy="457200"/>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806440"/>
            <a:ext cx="10789920" cy="457200"/>
          </a:xfrm>
          <a:prstGeom prst="rect">
            <a:avLst/>
          </a:prstGeom>
          <a:noFill/>
        </p:spPr>
        <p:txBody>
          <a:bodyPr wrap="square" lIns="36576" rIns="36576" tIns="18288" bIns="18288" anchor="ctr">
            <a:spAutoFit/>
          </a:bodyPr>
          <a:lstStyle/>
          <a:p>
            <a:r>
              <a:rPr b="1" sz="1300">
                <a:solidFill>
                  <a:srgbClr val="3B34B8"/>
                </a:solidFill>
                <a:latin typeface="Segoe UI"/>
              </a:rPr>
              <a:t>Takeaway   </a:t>
            </a:r>
            <a:r>
              <a:rPr sz="1300">
                <a:solidFill>
                  <a:srgbClr val="1B1B33"/>
                </a:solidFill>
                <a:latin typeface="Segoe UI"/>
              </a:rPr>
              <a:t>Least privilege scales because it's generated from config, each domain analyst is confined to that domain's marts by an exact grant.</a:t>
            </a:r>
          </a:p>
        </p:txBody>
      </p:sp>
      <p:sp>
        <p:nvSpPr>
          <p:cNvPr id="10" name="TextBox 9"/>
          <p:cNvSpPr txBox="1"/>
          <p:nvPr/>
        </p:nvSpPr>
        <p:spPr>
          <a:xfrm>
            <a:off x="502920" y="6455664"/>
            <a:ext cx="7315200" cy="320040"/>
          </a:xfrm>
          <a:prstGeom prst="rect">
            <a:avLst/>
          </a:prstGeom>
          <a:noFill/>
        </p:spPr>
        <p:txBody>
          <a:bodyPr wrap="square" lIns="36576" rIns="36576" tIns="18288" bIns="18288">
            <a:spAutoFit/>
          </a:bodyPr>
          <a:lstStyle/>
          <a:p>
            <a:r>
              <a:rPr sz="900">
                <a:solidFill>
                  <a:srgbClr val="5C5B77"/>
                </a:solidFill>
                <a:latin typeface="Segoe UI"/>
              </a:rPr>
              <a:t>OpenGov Data Platform  ·  Case Study  ·  Akash Pahilwan</a:t>
            </a:r>
          </a:p>
        </p:txBody>
      </p:sp>
      <p:sp>
        <p:nvSpPr>
          <p:cNvPr id="11" name="TextBox 10"/>
          <p:cNvSpPr txBox="1"/>
          <p:nvPr/>
        </p:nvSpPr>
        <p:spPr>
          <a:xfrm>
            <a:off x="10911535" y="6455664"/>
            <a:ext cx="822960" cy="320040"/>
          </a:xfrm>
          <a:prstGeom prst="rect">
            <a:avLst/>
          </a:prstGeom>
          <a:noFill/>
        </p:spPr>
        <p:txBody>
          <a:bodyPr wrap="square" lIns="36576" rIns="36576" tIns="18288" bIns="18288">
            <a:spAutoFit/>
          </a:bodyPr>
          <a:lstStyle/>
          <a:p>
            <a:pPr algn="r"/>
            <a:r>
              <a:rPr sz="900">
                <a:solidFill>
                  <a:srgbClr val="5C5B77"/>
                </a:solidFill>
                <a:latin typeface="Segoe UI"/>
              </a:rPr>
              <a:t>21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191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292"/>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875520" cy="841248"/>
          </a:xfrm>
          <a:prstGeom prst="rect">
            <a:avLst/>
          </a:prstGeom>
          <a:noFill/>
        </p:spPr>
        <p:txBody>
          <a:bodyPr wrap="square" lIns="36576" rIns="36576" tIns="18288" bIns="18288" anchor="ctr">
            <a:spAutoFit/>
          </a:bodyPr>
          <a:lstStyle/>
          <a:p>
            <a:pPr>
              <a:spcAft>
                <a:spcPts val="100"/>
              </a:spcAft>
            </a:pPr>
            <a:r>
              <a:rPr sz="1100" b="1">
                <a:solidFill>
                  <a:srgbClr val="A79FFF"/>
                </a:solidFill>
                <a:latin typeface="Segoe UI"/>
              </a:rPr>
              <a:t>APPENDIX · DBT</a:t>
            </a:r>
          </a:p>
          <a:p>
            <a:r>
              <a:rPr sz="2600" b="1">
                <a:solidFill>
                  <a:srgbClr val="FFFFFF"/>
                </a:solidFill>
                <a:latin typeface="Segoe UI"/>
              </a:rPr>
              <a:t>Incremental vs full-refresh, and fixing incrementals</a:t>
            </a:r>
          </a:p>
        </p:txBody>
      </p:sp>
      <p:pic>
        <p:nvPicPr>
          <p:cNvPr id="5" name="Picture 4" descr="image.png"/>
          <p:cNvPicPr>
            <a:picLocks noChangeAspect="1"/>
          </p:cNvPicPr>
          <p:nvPr/>
        </p:nvPicPr>
        <p:blipFill>
          <a:blip r:embed="rId2"/>
          <a:stretch>
            <a:fillRect/>
          </a:stretch>
        </p:blipFill>
        <p:spPr>
          <a:xfrm>
            <a:off x="11259006" y="237744"/>
            <a:ext cx="548640" cy="548640"/>
          </a:xfrm>
          <a:prstGeom prst="ellipse">
            <a:avLst/>
          </a:prstGeom>
        </p:spPr>
      </p:pic>
      <p:sp>
        <p:nvSpPr>
          <p:cNvPr id="6" name="TextBox 5"/>
          <p:cNvSpPr txBox="1"/>
          <p:nvPr/>
        </p:nvSpPr>
        <p:spPr>
          <a:xfrm>
            <a:off x="640080" y="1371600"/>
            <a:ext cx="10972800" cy="4206240"/>
          </a:xfrm>
          <a:prstGeom prst="rect">
            <a:avLst/>
          </a:prstGeom>
          <a:noFill/>
        </p:spPr>
        <p:txBody>
          <a:bodyPr wrap="square" lIns="36576" rIns="36576" tIns="18288" bIns="18288">
            <a:spAutoFit/>
          </a:bodyPr>
          <a:lstStyle/>
          <a:p>
            <a:pPr>
              <a:lnSpc>
                <a:spcPct val="107000"/>
              </a:lnSpc>
              <a:spcAft>
                <a:spcPts val="800"/>
              </a:spcAft>
            </a:pPr>
            <a:r>
              <a:rPr sz="1650">
                <a:solidFill>
                  <a:srgbClr val="4A3FFF"/>
                </a:solidFill>
                <a:latin typeface="Segoe UI"/>
              </a:rPr>
              <a:t>▸  </a:t>
            </a:r>
            <a:r>
              <a:rPr b="1" sz="1650">
                <a:solidFill>
                  <a:srgbClr val="1B1B33"/>
                </a:solidFill>
                <a:latin typeface="Segoe UI"/>
              </a:rPr>
              <a:t>Incremental (merge):   </a:t>
            </a:r>
            <a:r>
              <a:rPr sz="1650">
                <a:solidFill>
                  <a:srgbClr val="1B1B33"/>
                </a:solidFill>
                <a:latin typeface="Segoe UI"/>
              </a:rPr>
              <a:t>High-volume/append sources (telemetry, CDC tables), build only rows since the last watermark; cheap, fast.</a:t>
            </a:r>
          </a:p>
          <a:p>
            <a:pPr>
              <a:lnSpc>
                <a:spcPct val="107000"/>
              </a:lnSpc>
              <a:spcAft>
                <a:spcPts val="800"/>
              </a:spcAft>
            </a:pPr>
            <a:r>
              <a:rPr sz="1650">
                <a:solidFill>
                  <a:srgbClr val="4A3FFF"/>
                </a:solidFill>
                <a:latin typeface="Segoe UI"/>
              </a:rPr>
              <a:t>▸  </a:t>
            </a:r>
            <a:r>
              <a:rPr b="1" sz="1650">
                <a:solidFill>
                  <a:srgbClr val="1B1B33"/>
                </a:solidFill>
                <a:latin typeface="Segoe UI"/>
              </a:rPr>
              <a:t>Full-refresh:   </a:t>
            </a:r>
            <a:r>
              <a:rPr sz="1650">
                <a:solidFill>
                  <a:srgbClr val="1B1B33"/>
                </a:solidFill>
                <a:latin typeface="Segoe UI"/>
              </a:rPr>
              <a:t>Small dimensions, or after a logic change, rebuild from scratch.</a:t>
            </a:r>
          </a:p>
          <a:p>
            <a:pPr>
              <a:lnSpc>
                <a:spcPct val="107000"/>
              </a:lnSpc>
              <a:spcAft>
                <a:spcPts val="800"/>
              </a:spcAft>
            </a:pPr>
            <a:r>
              <a:rPr sz="1650">
                <a:solidFill>
                  <a:srgbClr val="4A3FFF"/>
                </a:solidFill>
                <a:latin typeface="Segoe UI"/>
              </a:rPr>
              <a:t>▸  </a:t>
            </a:r>
            <a:r>
              <a:rPr b="1" sz="1650">
                <a:solidFill>
                  <a:srgbClr val="1B1B33"/>
                </a:solidFill>
                <a:latin typeface="Segoe UI"/>
              </a:rPr>
              <a:t>The trap:   </a:t>
            </a:r>
            <a:r>
              <a:rPr sz="1650">
                <a:solidFill>
                  <a:srgbClr val="1B1B33"/>
                </a:solidFill>
                <a:latin typeface="Segoe UI"/>
              </a:rPr>
              <a:t>A normal build only merges NEW rows, so a logic fix to an incremental model never re-cleans already-materialized rows.</a:t>
            </a:r>
          </a:p>
          <a:p>
            <a:pPr>
              <a:lnSpc>
                <a:spcPct val="107000"/>
              </a:lnSpc>
              <a:spcAft>
                <a:spcPts val="800"/>
              </a:spcAft>
            </a:pPr>
            <a:r>
              <a:rPr sz="1650">
                <a:solidFill>
                  <a:srgbClr val="4A3FFF"/>
                </a:solidFill>
                <a:latin typeface="Segoe UI"/>
              </a:rPr>
              <a:t>▸  </a:t>
            </a:r>
            <a:r>
              <a:rPr b="1" sz="1650">
                <a:solidFill>
                  <a:srgbClr val="1B1B33"/>
                </a:solidFill>
                <a:latin typeface="Segoe UI"/>
              </a:rPr>
              <a:t>The fix, as a button:   </a:t>
            </a:r>
            <a:r>
              <a:rPr sz="1650">
                <a:solidFill>
                  <a:srgbClr val="1B1B33"/>
                </a:solidFill>
                <a:latin typeface="Segoe UI"/>
              </a:rPr>
              <a:t>A manual full-refresh workflow, branch (dev→preprod / main→prod) × scope (all | only models changed in the last commit).</a:t>
            </a:r>
          </a:p>
          <a:p>
            <a:pPr>
              <a:lnSpc>
                <a:spcPct val="107000"/>
              </a:lnSpc>
              <a:spcAft>
                <a:spcPts val="800"/>
              </a:spcAft>
            </a:pPr>
            <a:r>
              <a:rPr sz="1650">
                <a:solidFill>
                  <a:srgbClr val="4A3FFF"/>
                </a:solidFill>
                <a:latin typeface="Segoe UI"/>
              </a:rPr>
              <a:t>▸  </a:t>
            </a:r>
            <a:r>
              <a:rPr b="1" sz="1650">
                <a:solidFill>
                  <a:srgbClr val="1B1B33"/>
                </a:solidFill>
                <a:latin typeface="Segoe UI"/>
              </a:rPr>
              <a:t>Real example:   </a:t>
            </a:r>
            <a:r>
              <a:rPr sz="1650">
                <a:solidFill>
                  <a:srgbClr val="1B1B33"/>
                </a:solidFill>
                <a:latin typeface="Segoe UI"/>
              </a:rPr>
              <a:t>The page_views user_id VARIANT-null fix needed a full-refresh to purge 2 historical bad rows from PROD.</a:t>
            </a:r>
          </a:p>
        </p:txBody>
      </p:sp>
      <p:sp>
        <p:nvSpPr>
          <p:cNvPr id="7" name="Rounded Rectangle 6"/>
          <p:cNvSpPr/>
          <p:nvPr/>
        </p:nvSpPr>
        <p:spPr>
          <a:xfrm>
            <a:off x="502920" y="5806440"/>
            <a:ext cx="11183112" cy="457200"/>
          </a:xfrm>
          <a:prstGeom prst="roundRect">
            <a:avLst/>
          </a:prstGeom>
          <a:solidFill>
            <a:srgbClr val="ECE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06440"/>
            <a:ext cx="82296" cy="457200"/>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806440"/>
            <a:ext cx="10789920" cy="457200"/>
          </a:xfrm>
          <a:prstGeom prst="rect">
            <a:avLst/>
          </a:prstGeom>
          <a:noFill/>
        </p:spPr>
        <p:txBody>
          <a:bodyPr wrap="square" lIns="36576" rIns="36576" tIns="18288" bIns="18288" anchor="ctr">
            <a:spAutoFit/>
          </a:bodyPr>
          <a:lstStyle/>
          <a:p>
            <a:r>
              <a:rPr b="1" sz="1300">
                <a:solidFill>
                  <a:srgbClr val="3B34B8"/>
                </a:solidFill>
                <a:latin typeface="Segoe UI"/>
              </a:rPr>
              <a:t>Takeaway   </a:t>
            </a:r>
            <a:r>
              <a:rPr sz="1300">
                <a:solidFill>
                  <a:srgbClr val="1B1B33"/>
                </a:solidFill>
                <a:latin typeface="Segoe UI"/>
              </a:rPr>
              <a:t>Pick incremental for volume, full-refresh for correctness, and make the full-refresh a one-click, scoped workflow.</a:t>
            </a:r>
          </a:p>
        </p:txBody>
      </p:sp>
      <p:sp>
        <p:nvSpPr>
          <p:cNvPr id="10" name="TextBox 9"/>
          <p:cNvSpPr txBox="1"/>
          <p:nvPr/>
        </p:nvSpPr>
        <p:spPr>
          <a:xfrm>
            <a:off x="502920" y="6455664"/>
            <a:ext cx="7315200" cy="320040"/>
          </a:xfrm>
          <a:prstGeom prst="rect">
            <a:avLst/>
          </a:prstGeom>
          <a:noFill/>
        </p:spPr>
        <p:txBody>
          <a:bodyPr wrap="square" lIns="36576" rIns="36576" tIns="18288" bIns="18288">
            <a:spAutoFit/>
          </a:bodyPr>
          <a:lstStyle/>
          <a:p>
            <a:r>
              <a:rPr sz="900">
                <a:solidFill>
                  <a:srgbClr val="5C5B77"/>
                </a:solidFill>
                <a:latin typeface="Segoe UI"/>
              </a:rPr>
              <a:t>OpenGov Data Platform  ·  Case Study  ·  Akash Pahilwan</a:t>
            </a:r>
          </a:p>
        </p:txBody>
      </p:sp>
      <p:sp>
        <p:nvSpPr>
          <p:cNvPr id="11" name="TextBox 10"/>
          <p:cNvSpPr txBox="1"/>
          <p:nvPr/>
        </p:nvSpPr>
        <p:spPr>
          <a:xfrm>
            <a:off x="10911535" y="6455664"/>
            <a:ext cx="822960" cy="320040"/>
          </a:xfrm>
          <a:prstGeom prst="rect">
            <a:avLst/>
          </a:prstGeom>
          <a:noFill/>
        </p:spPr>
        <p:txBody>
          <a:bodyPr wrap="square" lIns="36576" rIns="36576" tIns="18288" bIns="18288">
            <a:spAutoFit/>
          </a:bodyPr>
          <a:lstStyle/>
          <a:p>
            <a:pPr algn="r"/>
            <a:r>
              <a:rPr sz="900">
                <a:solidFill>
                  <a:srgbClr val="5C5B77"/>
                </a:solidFill>
                <a:latin typeface="Segoe UI"/>
              </a:rPr>
              <a:t>22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191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292"/>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875520" cy="841248"/>
          </a:xfrm>
          <a:prstGeom prst="rect">
            <a:avLst/>
          </a:prstGeom>
          <a:noFill/>
        </p:spPr>
        <p:txBody>
          <a:bodyPr wrap="square" lIns="36576" rIns="36576" tIns="18288" bIns="18288" anchor="ctr">
            <a:spAutoFit/>
          </a:bodyPr>
          <a:lstStyle/>
          <a:p>
            <a:pPr>
              <a:spcAft>
                <a:spcPts val="100"/>
              </a:spcAft>
            </a:pPr>
            <a:r>
              <a:rPr sz="1100" b="1">
                <a:solidFill>
                  <a:srgbClr val="A79FFF"/>
                </a:solidFill>
                <a:latin typeface="Segoe UI"/>
              </a:rPr>
              <a:t>APPENDIX · DELIVERY</a:t>
            </a:r>
          </a:p>
          <a:p>
            <a:r>
              <a:rPr sz="2600" b="1">
                <a:solidFill>
                  <a:srgbClr val="FFFFFF"/>
                </a:solidFill>
                <a:latin typeface="Segoe UI"/>
              </a:rPr>
              <a:t>CI/CD security, idempotency &amp; standards</a:t>
            </a:r>
          </a:p>
        </p:txBody>
      </p:sp>
      <p:pic>
        <p:nvPicPr>
          <p:cNvPr id="5" name="Picture 4" descr="image.png"/>
          <p:cNvPicPr>
            <a:picLocks noChangeAspect="1"/>
          </p:cNvPicPr>
          <p:nvPr/>
        </p:nvPicPr>
        <p:blipFill>
          <a:blip r:embed="rId2"/>
          <a:stretch>
            <a:fillRect/>
          </a:stretch>
        </p:blipFill>
        <p:spPr>
          <a:xfrm>
            <a:off x="11259006" y="237744"/>
            <a:ext cx="548640" cy="548640"/>
          </a:xfrm>
          <a:prstGeom prst="ellipse">
            <a:avLst/>
          </a:prstGeom>
        </p:spPr>
      </p:pic>
      <p:sp>
        <p:nvSpPr>
          <p:cNvPr id="6" name="TextBox 5"/>
          <p:cNvSpPr txBox="1"/>
          <p:nvPr/>
        </p:nvSpPr>
        <p:spPr>
          <a:xfrm>
            <a:off x="640080" y="1371600"/>
            <a:ext cx="10972800" cy="4206240"/>
          </a:xfrm>
          <a:prstGeom prst="rect">
            <a:avLst/>
          </a:prstGeom>
          <a:noFill/>
        </p:spPr>
        <p:txBody>
          <a:bodyPr wrap="square" lIns="36576" rIns="36576" tIns="18288" bIns="18288">
            <a:spAutoFit/>
          </a:bodyPr>
          <a:lstStyle/>
          <a:p>
            <a:pPr>
              <a:lnSpc>
                <a:spcPct val="107000"/>
              </a:lnSpc>
              <a:spcAft>
                <a:spcPts val="800"/>
              </a:spcAft>
            </a:pPr>
            <a:r>
              <a:rPr sz="1650">
                <a:solidFill>
                  <a:srgbClr val="4A3FFF"/>
                </a:solidFill>
                <a:latin typeface="Segoe UI"/>
              </a:rPr>
              <a:t>▸  </a:t>
            </a:r>
            <a:r>
              <a:rPr b="1" sz="1650">
                <a:solidFill>
                  <a:srgbClr val="1B1B33"/>
                </a:solidFill>
                <a:latin typeface="Segoe UI"/>
              </a:rPr>
              <a:t>No static secrets:   </a:t>
            </a:r>
            <a:r>
              <a:rPr sz="1650">
                <a:solidFill>
                  <a:srgbClr val="1B1B33"/>
                </a:solidFill>
                <a:latin typeface="Segoe UI"/>
              </a:rPr>
              <a:t>Key-pair (JWT) for Snowflake, storage key for the TF backend, all GitHub secrets; the private key touches only a temp file in the job.</a:t>
            </a:r>
          </a:p>
          <a:p>
            <a:pPr>
              <a:lnSpc>
                <a:spcPct val="107000"/>
              </a:lnSpc>
              <a:spcAft>
                <a:spcPts val="800"/>
              </a:spcAft>
            </a:pPr>
            <a:r>
              <a:rPr sz="1650">
                <a:solidFill>
                  <a:srgbClr val="4A3FFF"/>
                </a:solidFill>
                <a:latin typeface="Segoe UI"/>
              </a:rPr>
              <a:t>▸  </a:t>
            </a:r>
            <a:r>
              <a:rPr b="1" sz="1650">
                <a:solidFill>
                  <a:srgbClr val="1B1B33"/>
                </a:solidFill>
                <a:latin typeface="Segoe UI"/>
              </a:rPr>
              <a:t>Malicious-PR safe:   </a:t>
            </a:r>
            <a:r>
              <a:rPr sz="1650">
                <a:solidFill>
                  <a:srgbClr val="1B1B33"/>
                </a:solidFill>
                <a:latin typeface="Segoe UI"/>
              </a:rPr>
              <a:t>Secrets are exposed only to post-merge apply jobs; PR-triggered plan never sees them; PROD gated by a protected Environment + approval.</a:t>
            </a:r>
          </a:p>
          <a:p>
            <a:pPr>
              <a:lnSpc>
                <a:spcPct val="107000"/>
              </a:lnSpc>
              <a:spcAft>
                <a:spcPts val="800"/>
              </a:spcAft>
            </a:pPr>
            <a:r>
              <a:rPr sz="1650">
                <a:solidFill>
                  <a:srgbClr val="4A3FFF"/>
                </a:solidFill>
                <a:latin typeface="Segoe UI"/>
              </a:rPr>
              <a:t>▸  </a:t>
            </a:r>
            <a:r>
              <a:rPr b="1" sz="1650">
                <a:solidFill>
                  <a:srgbClr val="1B1B33"/>
                </a:solidFill>
                <a:latin typeface="Segoe UI"/>
              </a:rPr>
              <a:t>Remote state:   </a:t>
            </a:r>
            <a:r>
              <a:rPr sz="1650">
                <a:solidFill>
                  <a:srgbClr val="1B1B33"/>
                </a:solidFill>
                <a:latin typeface="Segoe UI"/>
              </a:rPr>
              <a:t>Terraform state in an azurerm backend (ADLS), so CI and local share one source of truth, no drift, no local state to lose.</a:t>
            </a:r>
          </a:p>
          <a:p>
            <a:pPr>
              <a:lnSpc>
                <a:spcPct val="107000"/>
              </a:lnSpc>
              <a:spcAft>
                <a:spcPts val="800"/>
              </a:spcAft>
            </a:pPr>
            <a:r>
              <a:rPr sz="1650">
                <a:solidFill>
                  <a:srgbClr val="4A3FFF"/>
                </a:solidFill>
                <a:latin typeface="Segoe UI"/>
              </a:rPr>
              <a:t>▸  </a:t>
            </a:r>
            <a:r>
              <a:rPr b="1" sz="1650">
                <a:solidFill>
                  <a:srgbClr val="1B1B33"/>
                </a:solidFill>
                <a:latin typeface="Segoe UI"/>
              </a:rPr>
              <a:t>Idempotent &amp; half-failure safe:   </a:t>
            </a:r>
            <a:r>
              <a:rPr sz="1650">
                <a:solidFill>
                  <a:srgbClr val="1B1B33"/>
                </a:solidFill>
                <a:latin typeface="Segoe UI"/>
              </a:rPr>
              <a:t>config→JSON→for_each reruns cleanly; a drift check fails the PR if CSVs and generated JSON disagree; apply_pii_tags skips absent objects.</a:t>
            </a:r>
          </a:p>
          <a:p>
            <a:pPr>
              <a:lnSpc>
                <a:spcPct val="107000"/>
              </a:lnSpc>
              <a:spcAft>
                <a:spcPts val="800"/>
              </a:spcAft>
            </a:pPr>
            <a:r>
              <a:rPr sz="1650">
                <a:solidFill>
                  <a:srgbClr val="4A3FFF"/>
                </a:solidFill>
                <a:latin typeface="Segoe UI"/>
              </a:rPr>
              <a:t>▸  </a:t>
            </a:r>
            <a:r>
              <a:rPr b="1" sz="1650">
                <a:solidFill>
                  <a:srgbClr val="1B1B33"/>
                </a:solidFill>
                <a:latin typeface="Segoe UI"/>
              </a:rPr>
              <a:t>Standards enforced:   </a:t>
            </a:r>
            <a:r>
              <a:rPr sz="1650">
                <a:solidFill>
                  <a:srgbClr val="1B1B33"/>
                </a:solidFill>
                <a:latin typeface="Segoe UI"/>
              </a:rPr>
              <a:t>sync_config.py validates every reference (unknown role/schema/env) and rejects a service-only role reaching a human, the linter is the reviewer.</a:t>
            </a:r>
          </a:p>
        </p:txBody>
      </p:sp>
      <p:sp>
        <p:nvSpPr>
          <p:cNvPr id="7" name="Rounded Rectangle 6"/>
          <p:cNvSpPr/>
          <p:nvPr/>
        </p:nvSpPr>
        <p:spPr>
          <a:xfrm>
            <a:off x="502920" y="5806440"/>
            <a:ext cx="11183112" cy="457200"/>
          </a:xfrm>
          <a:prstGeom prst="roundRect">
            <a:avLst/>
          </a:prstGeom>
          <a:solidFill>
            <a:srgbClr val="ECE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06440"/>
            <a:ext cx="82296" cy="457200"/>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806440"/>
            <a:ext cx="10789920" cy="457200"/>
          </a:xfrm>
          <a:prstGeom prst="rect">
            <a:avLst/>
          </a:prstGeom>
          <a:noFill/>
        </p:spPr>
        <p:txBody>
          <a:bodyPr wrap="square" lIns="36576" rIns="36576" tIns="18288" bIns="18288" anchor="ctr">
            <a:spAutoFit/>
          </a:bodyPr>
          <a:lstStyle/>
          <a:p>
            <a:r>
              <a:rPr b="1" sz="1300">
                <a:solidFill>
                  <a:srgbClr val="3B34B8"/>
                </a:solidFill>
                <a:latin typeface="Segoe UI"/>
              </a:rPr>
              <a:t>Takeaway   </a:t>
            </a:r>
            <a:r>
              <a:rPr sz="1300">
                <a:solidFill>
                  <a:srgbClr val="1B1B33"/>
                </a:solidFill>
                <a:latin typeface="Segoe UI"/>
              </a:rPr>
              <a:t>The pipeline is the control plane: reviewed, idempotent, secret-safe, and standards-enforcing, provisioning you can trust.</a:t>
            </a:r>
          </a:p>
        </p:txBody>
      </p:sp>
      <p:sp>
        <p:nvSpPr>
          <p:cNvPr id="10" name="TextBox 9"/>
          <p:cNvSpPr txBox="1"/>
          <p:nvPr/>
        </p:nvSpPr>
        <p:spPr>
          <a:xfrm>
            <a:off x="502920" y="6455664"/>
            <a:ext cx="7315200" cy="320040"/>
          </a:xfrm>
          <a:prstGeom prst="rect">
            <a:avLst/>
          </a:prstGeom>
          <a:noFill/>
        </p:spPr>
        <p:txBody>
          <a:bodyPr wrap="square" lIns="36576" rIns="36576" tIns="18288" bIns="18288">
            <a:spAutoFit/>
          </a:bodyPr>
          <a:lstStyle/>
          <a:p>
            <a:r>
              <a:rPr sz="900">
                <a:solidFill>
                  <a:srgbClr val="5C5B77"/>
                </a:solidFill>
                <a:latin typeface="Segoe UI"/>
              </a:rPr>
              <a:t>OpenGov Data Platform  ·  Case Study  ·  Akash Pahilwan</a:t>
            </a:r>
          </a:p>
        </p:txBody>
      </p:sp>
      <p:sp>
        <p:nvSpPr>
          <p:cNvPr id="11" name="TextBox 10"/>
          <p:cNvSpPr txBox="1"/>
          <p:nvPr/>
        </p:nvSpPr>
        <p:spPr>
          <a:xfrm>
            <a:off x="10911535" y="6455664"/>
            <a:ext cx="822960" cy="320040"/>
          </a:xfrm>
          <a:prstGeom prst="rect">
            <a:avLst/>
          </a:prstGeom>
          <a:noFill/>
        </p:spPr>
        <p:txBody>
          <a:bodyPr wrap="square" lIns="36576" rIns="36576" tIns="18288" bIns="18288">
            <a:spAutoFit/>
          </a:bodyPr>
          <a:lstStyle/>
          <a:p>
            <a:pPr algn="r"/>
            <a:r>
              <a:rPr sz="900">
                <a:solidFill>
                  <a:srgbClr val="5C5B77"/>
                </a:solidFill>
                <a:latin typeface="Segoe UI"/>
              </a:rPr>
              <a:t>23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191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292"/>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875520" cy="841248"/>
          </a:xfrm>
          <a:prstGeom prst="rect">
            <a:avLst/>
          </a:prstGeom>
          <a:noFill/>
        </p:spPr>
        <p:txBody>
          <a:bodyPr wrap="square" lIns="36576" rIns="36576" tIns="18288" bIns="18288" anchor="ctr">
            <a:spAutoFit/>
          </a:bodyPr>
          <a:lstStyle/>
          <a:p>
            <a:pPr>
              <a:spcAft>
                <a:spcPts val="100"/>
              </a:spcAft>
            </a:pPr>
            <a:r>
              <a:rPr sz="1100" b="1">
                <a:solidFill>
                  <a:srgbClr val="A79FFF"/>
                </a:solidFill>
                <a:latin typeface="Segoe UI"/>
              </a:rPr>
              <a:t>APPENDIX · INTERNALS</a:t>
            </a:r>
          </a:p>
          <a:p>
            <a:r>
              <a:rPr sz="2600" b="1">
                <a:solidFill>
                  <a:srgbClr val="FFFFFF"/>
                </a:solidFill>
                <a:latin typeface="Segoe UI"/>
              </a:rPr>
              <a:t>Why VARIANT stays fast at scale</a:t>
            </a:r>
          </a:p>
        </p:txBody>
      </p:sp>
      <p:pic>
        <p:nvPicPr>
          <p:cNvPr id="5" name="Picture 4" descr="image.png"/>
          <p:cNvPicPr>
            <a:picLocks noChangeAspect="1"/>
          </p:cNvPicPr>
          <p:nvPr/>
        </p:nvPicPr>
        <p:blipFill>
          <a:blip r:embed="rId2"/>
          <a:stretch>
            <a:fillRect/>
          </a:stretch>
        </p:blipFill>
        <p:spPr>
          <a:xfrm>
            <a:off x="11259006" y="237744"/>
            <a:ext cx="548640" cy="548640"/>
          </a:xfrm>
          <a:prstGeom prst="ellipse">
            <a:avLst/>
          </a:prstGeom>
        </p:spPr>
      </p:pic>
      <p:sp>
        <p:nvSpPr>
          <p:cNvPr id="6" name="TextBox 5"/>
          <p:cNvSpPr txBox="1"/>
          <p:nvPr/>
        </p:nvSpPr>
        <p:spPr>
          <a:xfrm>
            <a:off x="594360" y="1371600"/>
            <a:ext cx="6446520" cy="4297680"/>
          </a:xfrm>
          <a:prstGeom prst="rect">
            <a:avLst/>
          </a:prstGeom>
          <a:noFill/>
        </p:spPr>
        <p:txBody>
          <a:bodyPr wrap="square" lIns="36576" rIns="36576" tIns="18288" bIns="18288">
            <a:spAutoFit/>
          </a:bodyPr>
          <a:lstStyle/>
          <a:p>
            <a:pPr>
              <a:lnSpc>
                <a:spcPct val="107000"/>
              </a:lnSpc>
              <a:spcAft>
                <a:spcPts val="800"/>
              </a:spcAft>
            </a:pPr>
            <a:r>
              <a:rPr sz="1650">
                <a:solidFill>
                  <a:srgbClr val="4A3FFF"/>
                </a:solidFill>
                <a:latin typeface="Segoe UI"/>
              </a:rPr>
              <a:t>▸  </a:t>
            </a:r>
            <a:r>
              <a:rPr b="1" sz="1650">
                <a:solidFill>
                  <a:srgbClr val="1B1B33"/>
                </a:solidFill>
                <a:latin typeface="Segoe UI"/>
              </a:rPr>
              <a:t>Not a text blob:   </a:t>
            </a:r>
            <a:r>
              <a:rPr sz="1650">
                <a:solidFill>
                  <a:srgbClr val="1B1B33"/>
                </a:solidFill>
                <a:latin typeface="Segoe UI"/>
              </a:rPr>
              <a:t>Each micro-partition shreds consistent JSON paths into typed, compressed sub-columns with min/max stats, native-column treatment.</a:t>
            </a:r>
          </a:p>
          <a:p>
            <a:pPr>
              <a:lnSpc>
                <a:spcPct val="107000"/>
              </a:lnSpc>
              <a:spcAft>
                <a:spcPts val="800"/>
              </a:spcAft>
            </a:pPr>
            <a:r>
              <a:rPr sz="1650">
                <a:solidFill>
                  <a:srgbClr val="4A3FFF"/>
                </a:solidFill>
                <a:latin typeface="Segoe UI"/>
              </a:rPr>
              <a:t>▸  </a:t>
            </a:r>
            <a:r>
              <a:rPr b="1" sz="1650">
                <a:solidFill>
                  <a:srgbClr val="1B1B33"/>
                </a:solidFill>
                <a:latin typeface="Segoe UI"/>
              </a:rPr>
              <a:t>Projection works:   </a:t>
            </a:r>
            <a:r>
              <a:rPr sz="1650">
                <a:solidFill>
                  <a:srgbClr val="1B1B33"/>
                </a:solidFill>
                <a:latin typeface="Segoe UI"/>
              </a:rPr>
              <a:t>Selecting payload:properties.duration_ms reads only that sub-column off disk, never the whole document.</a:t>
            </a:r>
          </a:p>
          <a:p>
            <a:pPr>
              <a:lnSpc>
                <a:spcPct val="107000"/>
              </a:lnSpc>
              <a:spcAft>
                <a:spcPts val="800"/>
              </a:spcAft>
            </a:pPr>
            <a:r>
              <a:rPr sz="1650">
                <a:solidFill>
                  <a:srgbClr val="4A3FFF"/>
                </a:solidFill>
                <a:latin typeface="Segoe UI"/>
              </a:rPr>
              <a:t>▸  </a:t>
            </a:r>
            <a:r>
              <a:rPr b="1" sz="1650">
                <a:solidFill>
                  <a:srgbClr val="1B1B33"/>
                </a:solidFill>
                <a:latin typeface="Segoe UI"/>
              </a:rPr>
              <a:t>Pruning works:   </a:t>
            </a:r>
            <a:r>
              <a:rPr sz="1650">
                <a:solidFill>
                  <a:srgbClr val="1B1B33"/>
                </a:solidFill>
                <a:latin typeface="Segoe UI"/>
              </a:rPr>
              <a:t>Filters on extracted paths skip whole micro-partitions via metadata, scan cost tracks the answer, not the table.</a:t>
            </a:r>
          </a:p>
          <a:p>
            <a:pPr>
              <a:lnSpc>
                <a:spcPct val="107000"/>
              </a:lnSpc>
              <a:spcAft>
                <a:spcPts val="800"/>
              </a:spcAft>
            </a:pPr>
            <a:r>
              <a:rPr sz="1650">
                <a:solidFill>
                  <a:srgbClr val="4A3FFF"/>
                </a:solidFill>
                <a:latin typeface="Segoe UI"/>
              </a:rPr>
              <a:t>▸  </a:t>
            </a:r>
            <a:r>
              <a:rPr b="1" sz="1650">
                <a:solidFill>
                  <a:srgbClr val="1B1B33"/>
                </a:solidFill>
                <a:latin typeface="Segoe UI"/>
              </a:rPr>
              <a:t>When it degrades:   </a:t>
            </a:r>
            <a:r>
              <a:rPr sz="1650">
                <a:solidFill>
                  <a:srgbClr val="1B1B33"/>
                </a:solidFill>
                <a:latin typeface="Segoe UI"/>
              </a:rPr>
              <a:t>Wildly heterogeneous keys defeat sub-columnarization, promote hot filter / dedup keys to real columns (event_id).</a:t>
            </a:r>
          </a:p>
          <a:p>
            <a:pPr>
              <a:lnSpc>
                <a:spcPct val="107000"/>
              </a:lnSpc>
              <a:spcAft>
                <a:spcPts val="800"/>
              </a:spcAft>
            </a:pPr>
            <a:r>
              <a:rPr sz="1650">
                <a:solidFill>
                  <a:srgbClr val="4A3FFF"/>
                </a:solidFill>
                <a:latin typeface="Segoe UI"/>
              </a:rPr>
              <a:t>▸  </a:t>
            </a:r>
            <a:r>
              <a:rPr b="1" sz="1650">
                <a:solidFill>
                  <a:srgbClr val="1B1B33"/>
                </a:solidFill>
                <a:latin typeface="Segoe UI"/>
              </a:rPr>
              <a:t>Discipline &amp; limits:   </a:t>
            </a:r>
            <a:r>
              <a:rPr sz="1650">
                <a:solidFill>
                  <a:srgbClr val="1B1B33"/>
                </a:solidFill>
                <a:latin typeface="Segoe UI"/>
              </a:rPr>
              <a:t>16 MB per value (events are KBs); missing key → NULL, never an error; TRY_CAST + tests absorb type drift; marts never read payload.</a:t>
            </a:r>
          </a:p>
        </p:txBody>
      </p:sp>
      <p:sp>
        <p:nvSpPr>
          <p:cNvPr id="7" name="Rounded Rectangle 6"/>
          <p:cNvSpPr/>
          <p:nvPr/>
        </p:nvSpPr>
        <p:spPr>
          <a:xfrm>
            <a:off x="7315200" y="1463040"/>
            <a:ext cx="4370832" cy="4160520"/>
          </a:xfrm>
          <a:prstGeom prst="roundRect">
            <a:avLst/>
          </a:prstGeom>
          <a:solidFill>
            <a:srgbClr val="191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61504" y="1572768"/>
            <a:ext cx="4078224" cy="3941063"/>
          </a:xfrm>
          <a:prstGeom prst="rect">
            <a:avLst/>
          </a:prstGeom>
          <a:noFill/>
        </p:spPr>
        <p:txBody>
          <a:bodyPr wrap="none" lIns="36576" rIns="36576" tIns="18288" bIns="18288" anchor="t">
            <a:spAutoFit/>
          </a:bodyPr>
          <a:lstStyle/>
          <a:p>
            <a:pPr>
              <a:spcAft>
                <a:spcPts val="600"/>
              </a:spcAft>
            </a:pPr>
            <a:r>
              <a:rPr sz="1000" b="1">
                <a:solidFill>
                  <a:srgbClr val="A79FFF"/>
                </a:solidFill>
                <a:latin typeface="Consolas"/>
              </a:rPr>
              <a:t>VARIANT internals (sketch)</a:t>
            </a:r>
          </a:p>
          <a:p>
            <a:pPr>
              <a:lnSpc>
                <a:spcPct val="100000"/>
              </a:lnSpc>
              <a:spcAft>
                <a:spcPts val="100"/>
              </a:spcAft>
            </a:pPr>
            <a:r>
              <a:rPr sz="1000">
                <a:solidFill>
                  <a:srgbClr val="8ED6B0"/>
                </a:solidFill>
                <a:latin typeface="Consolas"/>
              </a:rPr>
              <a:t>-- inside one micro-partition,</a:t>
            </a:r>
          </a:p>
          <a:p>
            <a:pPr>
              <a:lnSpc>
                <a:spcPct val="100000"/>
              </a:lnSpc>
              <a:spcAft>
                <a:spcPts val="100"/>
              </a:spcAft>
            </a:pPr>
            <a:r>
              <a:rPr sz="1000">
                <a:solidFill>
                  <a:srgbClr val="8ED6B0"/>
                </a:solidFill>
                <a:latin typeface="Consolas"/>
              </a:rPr>
              <a:t>-- payload VARIANT is stored as:</a:t>
            </a:r>
          </a:p>
          <a:p>
            <a:pPr>
              <a:lnSpc>
                <a:spcPct val="100000"/>
              </a:lnSpc>
              <a:spcAft>
                <a:spcPts val="100"/>
              </a:spcAft>
            </a:pPr>
            <a:r>
              <a:rPr sz="1000">
                <a:solidFill>
                  <a:srgbClr val="8ED6B0"/>
                </a:solidFill>
                <a:latin typeface="Consolas"/>
              </a:rPr>
              <a:t>--  :event_id            -&gt; sub-col</a:t>
            </a:r>
          </a:p>
          <a:p>
            <a:pPr>
              <a:lnSpc>
                <a:spcPct val="100000"/>
              </a:lnSpc>
              <a:spcAft>
                <a:spcPts val="100"/>
              </a:spcAft>
            </a:pPr>
            <a:r>
              <a:rPr sz="1000">
                <a:solidFill>
                  <a:srgbClr val="8ED6B0"/>
                </a:solidFill>
                <a:latin typeface="Consolas"/>
              </a:rPr>
              <a:t>--  :account_id          -&gt; sub-col</a:t>
            </a:r>
          </a:p>
          <a:p>
            <a:pPr>
              <a:lnSpc>
                <a:spcPct val="100000"/>
              </a:lnSpc>
              <a:spcAft>
                <a:spcPts val="100"/>
              </a:spcAft>
            </a:pPr>
            <a:r>
              <a:rPr sz="1000">
                <a:solidFill>
                  <a:srgbClr val="8ED6B0"/>
                </a:solidFill>
                <a:latin typeface="Consolas"/>
              </a:rPr>
              <a:t>--  :properties.duration_ms -&gt; sub-col</a:t>
            </a:r>
          </a:p>
          <a:p>
            <a:pPr>
              <a:lnSpc>
                <a:spcPct val="100000"/>
              </a:lnSpc>
              <a:spcAft>
                <a:spcPts val="100"/>
              </a:spcAft>
            </a:pPr>
            <a:r>
              <a:rPr sz="1000">
                <a:solidFill>
                  <a:srgbClr val="8ED6B0"/>
                </a:solidFill>
                <a:latin typeface="Consolas"/>
              </a:rPr>
              <a:t>--  ...each with min/max stats</a:t>
            </a:r>
          </a:p>
          <a:p>
            <a:pPr>
              <a:lnSpc>
                <a:spcPct val="100000"/>
              </a:lnSpc>
              <a:spcAft>
                <a:spcPts val="100"/>
              </a:spcAft>
            </a:pPr>
          </a:p>
          <a:p>
            <a:pPr>
              <a:lnSpc>
                <a:spcPct val="100000"/>
              </a:lnSpc>
              <a:spcAft>
                <a:spcPts val="100"/>
              </a:spcAft>
            </a:pPr>
            <a:r>
              <a:rPr sz="1000">
                <a:solidFill>
                  <a:srgbClr val="8ED6B0"/>
                </a:solidFill>
                <a:latin typeface="Consolas"/>
              </a:rPr>
              <a:t>-- projection: reads ONE sub-column</a:t>
            </a:r>
          </a:p>
          <a:p>
            <a:pPr>
              <a:lnSpc>
                <a:spcPct val="100000"/>
              </a:lnSpc>
              <a:spcAft>
                <a:spcPts val="100"/>
              </a:spcAft>
            </a:pPr>
            <a:r>
              <a:rPr sz="1000">
                <a:solidFill>
                  <a:srgbClr val="E6E9F5"/>
                </a:solidFill>
                <a:latin typeface="Consolas"/>
              </a:rPr>
              <a:t>SELECT payload:properties.duration_ms</a:t>
            </a:r>
          </a:p>
          <a:p>
            <a:pPr>
              <a:lnSpc>
                <a:spcPct val="100000"/>
              </a:lnSpc>
              <a:spcAft>
                <a:spcPts val="100"/>
              </a:spcAft>
            </a:pPr>
            <a:r>
              <a:rPr sz="1000">
                <a:solidFill>
                  <a:srgbClr val="E6E9F5"/>
                </a:solidFill>
                <a:latin typeface="Consolas"/>
              </a:rPr>
              <a:t>FROM raw.product_events.page_views</a:t>
            </a:r>
          </a:p>
          <a:p>
            <a:pPr>
              <a:lnSpc>
                <a:spcPct val="100000"/>
              </a:lnSpc>
              <a:spcAft>
                <a:spcPts val="100"/>
              </a:spcAft>
            </a:pPr>
          </a:p>
          <a:p>
            <a:pPr>
              <a:lnSpc>
                <a:spcPct val="100000"/>
              </a:lnSpc>
              <a:spcAft>
                <a:spcPts val="100"/>
              </a:spcAft>
            </a:pPr>
            <a:r>
              <a:rPr sz="1000">
                <a:solidFill>
                  <a:srgbClr val="8ED6B0"/>
                </a:solidFill>
                <a:latin typeface="Consolas"/>
              </a:rPr>
              <a:t>-- pruning: skips micro-partitions</a:t>
            </a:r>
          </a:p>
          <a:p>
            <a:pPr>
              <a:lnSpc>
                <a:spcPct val="100000"/>
              </a:lnSpc>
              <a:spcAft>
                <a:spcPts val="100"/>
              </a:spcAft>
            </a:pPr>
            <a:r>
              <a:rPr sz="1000">
                <a:solidFill>
                  <a:srgbClr val="E6E9F5"/>
                </a:solidFill>
                <a:latin typeface="Consolas"/>
              </a:rPr>
              <a:t>WHERE payload:event_timestamp</a:t>
            </a:r>
          </a:p>
          <a:p>
            <a:pPr>
              <a:lnSpc>
                <a:spcPct val="100000"/>
              </a:lnSpc>
              <a:spcAft>
                <a:spcPts val="100"/>
              </a:spcAft>
            </a:pPr>
            <a:r>
              <a:rPr sz="1000">
                <a:solidFill>
                  <a:srgbClr val="E6E9F5"/>
                </a:solidFill>
                <a:latin typeface="Consolas"/>
              </a:rPr>
              <a:t>      ::timestamp_ntz &gt;= '2026-07-01'</a:t>
            </a:r>
          </a:p>
          <a:p>
            <a:pPr>
              <a:lnSpc>
                <a:spcPct val="100000"/>
              </a:lnSpc>
              <a:spcAft>
                <a:spcPts val="100"/>
              </a:spcAft>
            </a:pPr>
          </a:p>
          <a:p>
            <a:pPr>
              <a:lnSpc>
                <a:spcPct val="100000"/>
              </a:lnSpc>
              <a:spcAft>
                <a:spcPts val="100"/>
              </a:spcAft>
            </a:pPr>
            <a:r>
              <a:rPr sz="1000">
                <a:solidFill>
                  <a:srgbClr val="8ED6B0"/>
                </a:solidFill>
                <a:latin typeface="Consolas"/>
              </a:rPr>
              <a:t>-- drift-safe typing in staging</a:t>
            </a:r>
          </a:p>
          <a:p>
            <a:pPr>
              <a:lnSpc>
                <a:spcPct val="100000"/>
              </a:lnSpc>
              <a:spcAft>
                <a:spcPts val="100"/>
              </a:spcAft>
            </a:pPr>
            <a:r>
              <a:rPr sz="1000">
                <a:solidFill>
                  <a:srgbClr val="E6E9F5"/>
                </a:solidFill>
                <a:latin typeface="Consolas"/>
              </a:rPr>
              <a:t>TRY_CAST(payload:properties.duration_ms</a:t>
            </a:r>
          </a:p>
          <a:p>
            <a:pPr>
              <a:lnSpc>
                <a:spcPct val="100000"/>
              </a:lnSpc>
              <a:spcAft>
                <a:spcPts val="100"/>
              </a:spcAft>
            </a:pPr>
            <a:r>
              <a:rPr sz="1000">
                <a:solidFill>
                  <a:srgbClr val="E6E9F5"/>
                </a:solidFill>
                <a:latin typeface="Consolas"/>
              </a:rPr>
              <a:t>         AS INT)  </a:t>
            </a:r>
            <a:r>
              <a:rPr sz="1000">
                <a:solidFill>
                  <a:srgbClr val="8ED6B0"/>
                </a:solidFill>
                <a:latin typeface="Consolas"/>
              </a:rPr>
              <a:t>-- bad value -&gt; NULL</a:t>
            </a:r>
          </a:p>
        </p:txBody>
      </p:sp>
      <p:sp>
        <p:nvSpPr>
          <p:cNvPr id="9" name="Rounded Rectangle 8"/>
          <p:cNvSpPr/>
          <p:nvPr/>
        </p:nvSpPr>
        <p:spPr>
          <a:xfrm>
            <a:off x="502920" y="5806440"/>
            <a:ext cx="11183112" cy="457200"/>
          </a:xfrm>
          <a:prstGeom prst="roundRect">
            <a:avLst/>
          </a:prstGeom>
          <a:solidFill>
            <a:srgbClr val="ECE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806440"/>
            <a:ext cx="82296" cy="457200"/>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806440"/>
            <a:ext cx="10789920" cy="457200"/>
          </a:xfrm>
          <a:prstGeom prst="rect">
            <a:avLst/>
          </a:prstGeom>
          <a:noFill/>
        </p:spPr>
        <p:txBody>
          <a:bodyPr wrap="square" lIns="36576" rIns="36576" tIns="18288" bIns="18288" anchor="ctr">
            <a:spAutoFit/>
          </a:bodyPr>
          <a:lstStyle/>
          <a:p>
            <a:r>
              <a:rPr b="1" sz="1300">
                <a:solidFill>
                  <a:srgbClr val="3B34B8"/>
                </a:solidFill>
                <a:latin typeface="Segoe UI"/>
              </a:rPr>
              <a:t>Takeaway   </a:t>
            </a:r>
            <a:r>
              <a:rPr sz="1300">
                <a:solidFill>
                  <a:srgbClr val="1B1B33"/>
                </a:solidFill>
                <a:latin typeface="Segoe UI"/>
              </a:rPr>
              <a:t>Schema-on-read is nearly free at query time, consistent paths are columnarized on write; type once in staging, downstream never parses JSON.</a:t>
            </a:r>
          </a:p>
        </p:txBody>
      </p:sp>
      <p:sp>
        <p:nvSpPr>
          <p:cNvPr id="12" name="TextBox 11"/>
          <p:cNvSpPr txBox="1"/>
          <p:nvPr/>
        </p:nvSpPr>
        <p:spPr>
          <a:xfrm>
            <a:off x="502920" y="6455664"/>
            <a:ext cx="7315200" cy="320040"/>
          </a:xfrm>
          <a:prstGeom prst="rect">
            <a:avLst/>
          </a:prstGeom>
          <a:noFill/>
        </p:spPr>
        <p:txBody>
          <a:bodyPr wrap="square" lIns="36576" rIns="36576" tIns="18288" bIns="18288">
            <a:spAutoFit/>
          </a:bodyPr>
          <a:lstStyle/>
          <a:p>
            <a:r>
              <a:rPr sz="900">
                <a:solidFill>
                  <a:srgbClr val="5C5B77"/>
                </a:solidFill>
                <a:latin typeface="Segoe UI"/>
              </a:rPr>
              <a:t>OpenGov Data Platform  ·  Case Study  ·  Akash Pahilwan</a:t>
            </a:r>
          </a:p>
        </p:txBody>
      </p:sp>
      <p:sp>
        <p:nvSpPr>
          <p:cNvPr id="13" name="TextBox 12"/>
          <p:cNvSpPr txBox="1"/>
          <p:nvPr/>
        </p:nvSpPr>
        <p:spPr>
          <a:xfrm>
            <a:off x="10911535" y="6455664"/>
            <a:ext cx="822960" cy="320040"/>
          </a:xfrm>
          <a:prstGeom prst="rect">
            <a:avLst/>
          </a:prstGeom>
          <a:noFill/>
        </p:spPr>
        <p:txBody>
          <a:bodyPr wrap="square" lIns="36576" rIns="36576" tIns="18288" bIns="18288">
            <a:spAutoFit/>
          </a:bodyPr>
          <a:lstStyle/>
          <a:p>
            <a:pPr algn="r"/>
            <a:r>
              <a:rPr sz="900">
                <a:solidFill>
                  <a:srgbClr val="5C5B77"/>
                </a:solidFill>
                <a:latin typeface="Segoe UI"/>
              </a:rPr>
              <a:t>24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191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292"/>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875520" cy="841248"/>
          </a:xfrm>
          <a:prstGeom prst="rect">
            <a:avLst/>
          </a:prstGeom>
          <a:noFill/>
        </p:spPr>
        <p:txBody>
          <a:bodyPr wrap="square" lIns="36576" rIns="36576" tIns="18288" bIns="18288" anchor="ctr">
            <a:spAutoFit/>
          </a:bodyPr>
          <a:lstStyle/>
          <a:p>
            <a:pPr>
              <a:spcAft>
                <a:spcPts val="100"/>
              </a:spcAft>
            </a:pPr>
            <a:r>
              <a:rPr sz="1100" b="1">
                <a:solidFill>
                  <a:srgbClr val="A79FFF"/>
                </a:solidFill>
                <a:latin typeface="Segoe UI"/>
              </a:rPr>
              <a:t>APPENDIX · INTERNALS</a:t>
            </a:r>
          </a:p>
          <a:p>
            <a:r>
              <a:rPr sz="2600" b="1">
                <a:solidFill>
                  <a:srgbClr val="FFFFFF"/>
                </a:solidFill>
                <a:latin typeface="Segoe UI"/>
              </a:rPr>
              <a:t>ADLS layout &amp; hourly loads, append-only RAW</a:t>
            </a:r>
          </a:p>
        </p:txBody>
      </p:sp>
      <p:pic>
        <p:nvPicPr>
          <p:cNvPr id="5" name="Picture 4" descr="image.png"/>
          <p:cNvPicPr>
            <a:picLocks noChangeAspect="1"/>
          </p:cNvPicPr>
          <p:nvPr/>
        </p:nvPicPr>
        <p:blipFill>
          <a:blip r:embed="rId2"/>
          <a:stretch>
            <a:fillRect/>
          </a:stretch>
        </p:blipFill>
        <p:spPr>
          <a:xfrm>
            <a:off x="11259006" y="237744"/>
            <a:ext cx="548640" cy="548640"/>
          </a:xfrm>
          <a:prstGeom prst="ellipse">
            <a:avLst/>
          </a:prstGeom>
        </p:spPr>
      </p:pic>
      <p:sp>
        <p:nvSpPr>
          <p:cNvPr id="6" name="TextBox 5"/>
          <p:cNvSpPr txBox="1"/>
          <p:nvPr/>
        </p:nvSpPr>
        <p:spPr>
          <a:xfrm>
            <a:off x="594360" y="1371600"/>
            <a:ext cx="6446520" cy="4297680"/>
          </a:xfrm>
          <a:prstGeom prst="rect">
            <a:avLst/>
          </a:prstGeom>
          <a:noFill/>
        </p:spPr>
        <p:txBody>
          <a:bodyPr wrap="square" lIns="36576" rIns="36576" tIns="18288" bIns="18288">
            <a:spAutoFit/>
          </a:bodyPr>
          <a:lstStyle/>
          <a:p>
            <a:pPr>
              <a:lnSpc>
                <a:spcPct val="107000"/>
              </a:lnSpc>
              <a:spcAft>
                <a:spcPts val="800"/>
              </a:spcAft>
            </a:pPr>
            <a:r>
              <a:rPr sz="1650">
                <a:solidFill>
                  <a:srgbClr val="4A3FFF"/>
                </a:solidFill>
                <a:latin typeface="Segoe UI"/>
              </a:rPr>
              <a:t>▸  </a:t>
            </a:r>
            <a:r>
              <a:rPr b="1" sz="1650">
                <a:solidFill>
                  <a:srgbClr val="1B1B33"/>
                </a:solidFill>
                <a:latin typeface="Segoe UI"/>
              </a:rPr>
              <a:t>One prefix per source object:   </a:t>
            </a:r>
            <a:r>
              <a:rPr sz="1650">
                <a:solidFill>
                  <a:srgbClr val="1B1B33"/>
                </a:solidFill>
                <a:latin typeface="Segoe UI"/>
              </a:rPr>
              <a:t>Source/object/dt=YYYY-MM-DD/hr=HH/, hourly runs list one narrow prefix; backfill = re-point at a date range; lifecycle rules attach per prefix.</a:t>
            </a:r>
          </a:p>
          <a:p>
            <a:pPr>
              <a:lnSpc>
                <a:spcPct val="107000"/>
              </a:lnSpc>
              <a:spcAft>
                <a:spcPts val="800"/>
              </a:spcAft>
            </a:pPr>
            <a:r>
              <a:rPr sz="1650">
                <a:solidFill>
                  <a:srgbClr val="4A3FFF"/>
                </a:solidFill>
                <a:latin typeface="Segoe UI"/>
              </a:rPr>
              <a:t>▸  </a:t>
            </a:r>
            <a:r>
              <a:rPr b="1" sz="1650">
                <a:solidFill>
                  <a:srgbClr val="1B1B33"/>
                </a:solidFill>
                <a:latin typeface="Segoe UI"/>
              </a:rPr>
              <a:t>Append new files, never replace:   </a:t>
            </a:r>
            <a:r>
              <a:rPr sz="1650">
                <a:solidFill>
                  <a:srgbClr val="1B1B33"/>
                </a:solidFill>
                <a:latin typeface="Segoe UI"/>
              </a:rPr>
              <a:t>RAW is an immutable log, not a mirror, 'latest' applies to which files we read this run, not to what we keep.</a:t>
            </a:r>
          </a:p>
          <a:p>
            <a:pPr>
              <a:lnSpc>
                <a:spcPct val="107000"/>
              </a:lnSpc>
              <a:spcAft>
                <a:spcPts val="800"/>
              </a:spcAft>
            </a:pPr>
            <a:r>
              <a:rPr sz="1650">
                <a:solidFill>
                  <a:srgbClr val="4A3FFF"/>
                </a:solidFill>
                <a:latin typeface="Segoe UI"/>
              </a:rPr>
              <a:t>▸  </a:t>
            </a:r>
            <a:r>
              <a:rPr b="1" sz="1650">
                <a:solidFill>
                  <a:srgbClr val="1B1B33"/>
                </a:solidFill>
                <a:latin typeface="Segoe UI"/>
              </a:rPr>
              <a:t>Idempotent in three layers:   </a:t>
            </a:r>
            <a:r>
              <a:rPr sz="1650">
                <a:solidFill>
                  <a:srgbClr val="1B1B33"/>
                </a:solidFill>
                <a:latin typeface="Segoe UI"/>
              </a:rPr>
              <a:t>COPY's 64-day file-load history (re-run loads zero) · _LOAD_LOG watermark + trailing-window rescan for late files · event_id dedup in staging.</a:t>
            </a:r>
          </a:p>
          <a:p>
            <a:pPr>
              <a:lnSpc>
                <a:spcPct val="107000"/>
              </a:lnSpc>
              <a:spcAft>
                <a:spcPts val="800"/>
              </a:spcAft>
            </a:pPr>
            <a:r>
              <a:rPr sz="1650">
                <a:solidFill>
                  <a:srgbClr val="4A3FFF"/>
                </a:solidFill>
                <a:latin typeface="Segoe UI"/>
              </a:rPr>
              <a:t>▸  </a:t>
            </a:r>
            <a:r>
              <a:rPr b="1" sz="1650">
                <a:solidFill>
                  <a:srgbClr val="1B1B33"/>
                </a:solidFill>
                <a:latin typeface="Segoe UI"/>
              </a:rPr>
              <a:t>Full refresh without mutation:   </a:t>
            </a:r>
            <a:r>
              <a:rPr sz="1650">
                <a:solidFill>
                  <a:srgbClr val="1B1B33"/>
                </a:solidFill>
                <a:latin typeface="Segoe UI"/>
              </a:rPr>
              <a:t>COPY FORCE=TRUE into a fresh table, then ALTER TABLE SWAP, rebuild history, never edit it.</a:t>
            </a:r>
          </a:p>
          <a:p>
            <a:pPr>
              <a:lnSpc>
                <a:spcPct val="107000"/>
              </a:lnSpc>
              <a:spcAft>
                <a:spcPts val="800"/>
              </a:spcAft>
            </a:pPr>
            <a:r>
              <a:rPr sz="1650">
                <a:solidFill>
                  <a:srgbClr val="4A3FFF"/>
                </a:solidFill>
                <a:latin typeface="Segoe UI"/>
              </a:rPr>
              <a:t>▸  </a:t>
            </a:r>
            <a:r>
              <a:rPr b="1" sz="1650">
                <a:solidFill>
                  <a:srgbClr val="1B1B33"/>
                </a:solidFill>
                <a:latin typeface="Segoe UI"/>
              </a:rPr>
              <a:t>COPY now, Snowpipe next:   </a:t>
            </a:r>
            <a:r>
              <a:rPr sz="1650">
                <a:solidFill>
                  <a:srgbClr val="1B1B33"/>
                </a:solidFill>
                <a:latin typeface="Segoe UI"/>
              </a:rPr>
              <a:t>Scheduled Python + COPY keeps validation / quarantine / _LOAD_LOG in code; production evolution: Snowpipe auto-ingest per S3 event, no scheduler.</a:t>
            </a:r>
          </a:p>
        </p:txBody>
      </p:sp>
      <p:sp>
        <p:nvSpPr>
          <p:cNvPr id="7" name="Rounded Rectangle 6"/>
          <p:cNvSpPr/>
          <p:nvPr/>
        </p:nvSpPr>
        <p:spPr>
          <a:xfrm>
            <a:off x="7315200" y="1463040"/>
            <a:ext cx="4370832" cy="4160520"/>
          </a:xfrm>
          <a:prstGeom prst="roundRect">
            <a:avLst/>
          </a:prstGeom>
          <a:solidFill>
            <a:srgbClr val="191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61504" y="1572768"/>
            <a:ext cx="4078224" cy="3941063"/>
          </a:xfrm>
          <a:prstGeom prst="rect">
            <a:avLst/>
          </a:prstGeom>
          <a:noFill/>
        </p:spPr>
        <p:txBody>
          <a:bodyPr wrap="none" lIns="36576" rIns="36576" tIns="18288" bIns="18288" anchor="t">
            <a:spAutoFit/>
          </a:bodyPr>
          <a:lstStyle/>
          <a:p>
            <a:pPr>
              <a:spcAft>
                <a:spcPts val="600"/>
              </a:spcAft>
            </a:pPr>
            <a:r>
              <a:rPr sz="1000" b="1">
                <a:solidFill>
                  <a:srgbClr val="A79FFF"/>
                </a:solidFill>
                <a:latin typeface="Consolas"/>
              </a:rPr>
              <a:t>land hourly, append-only</a:t>
            </a:r>
          </a:p>
          <a:p>
            <a:pPr>
              <a:lnSpc>
                <a:spcPct val="100000"/>
              </a:lnSpc>
              <a:spcAft>
                <a:spcPts val="100"/>
              </a:spcAft>
            </a:pPr>
            <a:r>
              <a:rPr sz="1000">
                <a:solidFill>
                  <a:srgbClr val="E6E9F5"/>
                </a:solidFill>
                <a:latin typeface="Consolas"/>
              </a:rPr>
              <a:t>azure://snowopssa.blob.core.windows.net/</a:t>
            </a:r>
          </a:p>
          <a:p>
            <a:pPr>
              <a:lnSpc>
                <a:spcPct val="100000"/>
              </a:lnSpc>
              <a:spcAft>
                <a:spcPts val="100"/>
              </a:spcAft>
            </a:pPr>
            <a:r>
              <a:rPr sz="1000">
                <a:solidFill>
                  <a:srgbClr val="E6E9F5"/>
                </a:solidFill>
                <a:latin typeface="Consolas"/>
              </a:rPr>
              <a:t>  og-telemetry/prod/product_events/</a:t>
            </a:r>
          </a:p>
          <a:p>
            <a:pPr>
              <a:lnSpc>
                <a:spcPct val="100000"/>
              </a:lnSpc>
              <a:spcAft>
                <a:spcPts val="100"/>
              </a:spcAft>
            </a:pPr>
            <a:r>
              <a:rPr sz="1000">
                <a:solidFill>
                  <a:srgbClr val="E6E9F5"/>
                </a:solidFill>
                <a:latin typeface="Consolas"/>
              </a:rPr>
              <a:t>    page_views/dt=2026-07-12/hr=14/</a:t>
            </a:r>
          </a:p>
          <a:p>
            <a:pPr>
              <a:lnSpc>
                <a:spcPct val="100000"/>
              </a:lnSpc>
              <a:spcAft>
                <a:spcPts val="100"/>
              </a:spcAft>
            </a:pPr>
            <a:r>
              <a:rPr sz="1000">
                <a:solidFill>
                  <a:srgbClr val="E6E9F5"/>
                </a:solidFill>
                <a:latin typeface="Consolas"/>
              </a:rPr>
              <a:t>      page_views_2026-07-12_14.json</a:t>
            </a:r>
          </a:p>
          <a:p>
            <a:pPr>
              <a:lnSpc>
                <a:spcPct val="100000"/>
              </a:lnSpc>
              <a:spcAft>
                <a:spcPts val="100"/>
              </a:spcAft>
            </a:pPr>
            <a:r>
              <a:rPr sz="1000">
                <a:solidFill>
                  <a:srgbClr val="E6E9F5"/>
                </a:solidFill>
                <a:latin typeface="Consolas"/>
              </a:rPr>
              <a:t>    .../hr=15/ ...</a:t>
            </a:r>
          </a:p>
          <a:p>
            <a:pPr>
              <a:lnSpc>
                <a:spcPct val="100000"/>
              </a:lnSpc>
              <a:spcAft>
                <a:spcPts val="100"/>
              </a:spcAft>
            </a:pPr>
          </a:p>
          <a:p>
            <a:pPr>
              <a:lnSpc>
                <a:spcPct val="100000"/>
              </a:lnSpc>
              <a:spcAft>
                <a:spcPts val="100"/>
              </a:spcAft>
            </a:pPr>
            <a:r>
              <a:rPr sz="1000">
                <a:solidFill>
                  <a:srgbClr val="8ED6B0"/>
                </a:solidFill>
                <a:latin typeface="Consolas"/>
              </a:rPr>
              <a:t>-- hourly job: append new files only</a:t>
            </a:r>
          </a:p>
          <a:p>
            <a:pPr>
              <a:lnSpc>
                <a:spcPct val="100000"/>
              </a:lnSpc>
              <a:spcAft>
                <a:spcPts val="100"/>
              </a:spcAft>
            </a:pPr>
            <a:r>
              <a:rPr sz="1000">
                <a:solidFill>
                  <a:srgbClr val="E6E9F5"/>
                </a:solidFill>
                <a:latin typeface="Consolas"/>
              </a:rPr>
              <a:t>COPY INTO product_events_raw_adls.page_views</a:t>
            </a:r>
          </a:p>
          <a:p>
            <a:pPr>
              <a:lnSpc>
                <a:spcPct val="100000"/>
              </a:lnSpc>
              <a:spcAft>
                <a:spcPts val="100"/>
              </a:spcAft>
            </a:pPr>
            <a:r>
              <a:rPr sz="1000">
                <a:solidFill>
                  <a:srgbClr val="E6E9F5"/>
                </a:solidFill>
                <a:latin typeface="Consolas"/>
              </a:rPr>
              <a:t>FROM @page_views_stage/dt=2026-07-12/</a:t>
            </a:r>
          </a:p>
          <a:p>
            <a:pPr>
              <a:lnSpc>
                <a:spcPct val="100000"/>
              </a:lnSpc>
              <a:spcAft>
                <a:spcPts val="100"/>
              </a:spcAft>
            </a:pPr>
            <a:r>
              <a:rPr sz="1000">
                <a:solidFill>
                  <a:srgbClr val="E6E9F5"/>
                </a:solidFill>
                <a:latin typeface="Consolas"/>
              </a:rPr>
              <a:t>FILE_FORMAT = ff_json;</a:t>
            </a:r>
          </a:p>
          <a:p>
            <a:pPr>
              <a:lnSpc>
                <a:spcPct val="100000"/>
              </a:lnSpc>
              <a:spcAft>
                <a:spcPts val="100"/>
              </a:spcAft>
            </a:pPr>
            <a:r>
              <a:rPr sz="1000">
                <a:solidFill>
                  <a:srgbClr val="8ED6B0"/>
                </a:solidFill>
                <a:latin typeface="Consolas"/>
              </a:rPr>
              <a:t>-- 64-day file history: re-run = 0 rows</a:t>
            </a:r>
          </a:p>
          <a:p>
            <a:pPr>
              <a:lnSpc>
                <a:spcPct val="100000"/>
              </a:lnSpc>
              <a:spcAft>
                <a:spcPts val="100"/>
              </a:spcAft>
            </a:pPr>
          </a:p>
          <a:p>
            <a:pPr>
              <a:lnSpc>
                <a:spcPct val="100000"/>
              </a:lnSpc>
              <a:spcAft>
                <a:spcPts val="100"/>
              </a:spcAft>
            </a:pPr>
            <a:r>
              <a:rPr sz="1000">
                <a:solidFill>
                  <a:srgbClr val="8ED6B0"/>
                </a:solidFill>
                <a:latin typeface="Consolas"/>
              </a:rPr>
              <a:t>-- staging: producer resends -&gt; 1 row</a:t>
            </a:r>
          </a:p>
          <a:p>
            <a:pPr>
              <a:lnSpc>
                <a:spcPct val="100000"/>
              </a:lnSpc>
              <a:spcAft>
                <a:spcPts val="100"/>
              </a:spcAft>
            </a:pPr>
            <a:r>
              <a:rPr sz="1000">
                <a:solidFill>
                  <a:srgbClr val="E6E9F5"/>
                </a:solidFill>
                <a:latin typeface="Consolas"/>
              </a:rPr>
              <a:t>QUALIFY ROW_NUMBER() OVER (</a:t>
            </a:r>
          </a:p>
          <a:p>
            <a:pPr>
              <a:lnSpc>
                <a:spcPct val="100000"/>
              </a:lnSpc>
              <a:spcAft>
                <a:spcPts val="100"/>
              </a:spcAft>
            </a:pPr>
            <a:r>
              <a:rPr sz="1000">
                <a:solidFill>
                  <a:srgbClr val="E6E9F5"/>
                </a:solidFill>
                <a:latin typeface="Consolas"/>
              </a:rPr>
              <a:t>  PARTITION BY event_id</a:t>
            </a:r>
          </a:p>
          <a:p>
            <a:pPr>
              <a:lnSpc>
                <a:spcPct val="100000"/>
              </a:lnSpc>
              <a:spcAft>
                <a:spcPts val="100"/>
              </a:spcAft>
            </a:pPr>
            <a:r>
              <a:rPr sz="1000">
                <a:solidFill>
                  <a:srgbClr val="E6E9F5"/>
                </a:solidFill>
                <a:latin typeface="Consolas"/>
              </a:rPr>
              <a:t>  ORDER BY loaded_at DESC) = 1</a:t>
            </a:r>
          </a:p>
        </p:txBody>
      </p:sp>
      <p:sp>
        <p:nvSpPr>
          <p:cNvPr id="9" name="Rounded Rectangle 8"/>
          <p:cNvSpPr/>
          <p:nvPr/>
        </p:nvSpPr>
        <p:spPr>
          <a:xfrm>
            <a:off x="502920" y="5806440"/>
            <a:ext cx="11183112" cy="457200"/>
          </a:xfrm>
          <a:prstGeom prst="roundRect">
            <a:avLst/>
          </a:prstGeom>
          <a:solidFill>
            <a:srgbClr val="ECE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806440"/>
            <a:ext cx="82296" cy="457200"/>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806440"/>
            <a:ext cx="10789920" cy="457200"/>
          </a:xfrm>
          <a:prstGeom prst="rect">
            <a:avLst/>
          </a:prstGeom>
          <a:noFill/>
        </p:spPr>
        <p:txBody>
          <a:bodyPr wrap="square" lIns="36576" rIns="36576" tIns="18288" bIns="18288" anchor="ctr">
            <a:spAutoFit/>
          </a:bodyPr>
          <a:lstStyle/>
          <a:p>
            <a:r>
              <a:rPr b="1" sz="1300">
                <a:solidFill>
                  <a:srgbClr val="3B34B8"/>
                </a:solidFill>
                <a:latin typeface="Segoe UI"/>
              </a:rPr>
              <a:t>Takeaway   </a:t>
            </a:r>
            <a:r>
              <a:rPr sz="1300">
                <a:solidFill>
                  <a:srgbClr val="1B1B33"/>
                </a:solidFill>
                <a:latin typeface="Segoe UI"/>
              </a:rPr>
              <a:t>Copy only the latest files, keep every row, append-only RAW plus three idempotency layers makes any re-run or backfill safe.</a:t>
            </a:r>
          </a:p>
        </p:txBody>
      </p:sp>
      <p:sp>
        <p:nvSpPr>
          <p:cNvPr id="12" name="TextBox 11"/>
          <p:cNvSpPr txBox="1"/>
          <p:nvPr/>
        </p:nvSpPr>
        <p:spPr>
          <a:xfrm>
            <a:off x="502920" y="6455664"/>
            <a:ext cx="7315200" cy="320040"/>
          </a:xfrm>
          <a:prstGeom prst="rect">
            <a:avLst/>
          </a:prstGeom>
          <a:noFill/>
        </p:spPr>
        <p:txBody>
          <a:bodyPr wrap="square" lIns="36576" rIns="36576" tIns="18288" bIns="18288">
            <a:spAutoFit/>
          </a:bodyPr>
          <a:lstStyle/>
          <a:p>
            <a:r>
              <a:rPr sz="900">
                <a:solidFill>
                  <a:srgbClr val="5C5B77"/>
                </a:solidFill>
                <a:latin typeface="Segoe UI"/>
              </a:rPr>
              <a:t>OpenGov Data Platform  ·  Case Study  ·  Akash Pahilwan</a:t>
            </a:r>
          </a:p>
        </p:txBody>
      </p:sp>
      <p:sp>
        <p:nvSpPr>
          <p:cNvPr id="13" name="TextBox 12"/>
          <p:cNvSpPr txBox="1"/>
          <p:nvPr/>
        </p:nvSpPr>
        <p:spPr>
          <a:xfrm>
            <a:off x="10911535" y="6455664"/>
            <a:ext cx="822960" cy="320040"/>
          </a:xfrm>
          <a:prstGeom prst="rect">
            <a:avLst/>
          </a:prstGeom>
          <a:noFill/>
        </p:spPr>
        <p:txBody>
          <a:bodyPr wrap="square" lIns="36576" rIns="36576" tIns="18288" bIns="18288">
            <a:spAutoFit/>
          </a:bodyPr>
          <a:lstStyle/>
          <a:p>
            <a:pPr algn="r"/>
            <a:r>
              <a:rPr sz="900">
                <a:solidFill>
                  <a:srgbClr val="5C5B77"/>
                </a:solidFill>
                <a:latin typeface="Segoe UI"/>
              </a:rPr>
              <a:t>25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191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292"/>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875520" cy="841248"/>
          </a:xfrm>
          <a:prstGeom prst="rect">
            <a:avLst/>
          </a:prstGeom>
          <a:noFill/>
        </p:spPr>
        <p:txBody>
          <a:bodyPr wrap="square" lIns="36576" rIns="36576" tIns="18288" bIns="18288" anchor="ctr">
            <a:spAutoFit/>
          </a:bodyPr>
          <a:lstStyle/>
          <a:p>
            <a:pPr>
              <a:spcAft>
                <a:spcPts val="100"/>
              </a:spcAft>
            </a:pPr>
            <a:r>
              <a:rPr sz="1100" b="1">
                <a:solidFill>
                  <a:srgbClr val="A79FFF"/>
                </a:solidFill>
                <a:latin typeface="Segoe UI"/>
              </a:rPr>
              <a:t>APPENDIX · INTERNALS</a:t>
            </a:r>
          </a:p>
          <a:p>
            <a:r>
              <a:rPr sz="2600" b="1">
                <a:solidFill>
                  <a:srgbClr val="FFFFFF"/>
                </a:solidFill>
                <a:latin typeface="Segoe UI"/>
              </a:rPr>
              <a:t>COPY INTO, load logs &amp; the 64-day horizon</a:t>
            </a:r>
          </a:p>
        </p:txBody>
      </p:sp>
      <p:pic>
        <p:nvPicPr>
          <p:cNvPr id="5" name="Picture 4" descr="image.png"/>
          <p:cNvPicPr>
            <a:picLocks noChangeAspect="1"/>
          </p:cNvPicPr>
          <p:nvPr/>
        </p:nvPicPr>
        <p:blipFill>
          <a:blip r:embed="rId2"/>
          <a:stretch>
            <a:fillRect/>
          </a:stretch>
        </p:blipFill>
        <p:spPr>
          <a:xfrm>
            <a:off x="11259006" y="237744"/>
            <a:ext cx="548640" cy="548640"/>
          </a:xfrm>
          <a:prstGeom prst="ellipse">
            <a:avLst/>
          </a:prstGeom>
        </p:spPr>
      </p:pic>
      <p:sp>
        <p:nvSpPr>
          <p:cNvPr id="6" name="TextBox 5"/>
          <p:cNvSpPr txBox="1"/>
          <p:nvPr/>
        </p:nvSpPr>
        <p:spPr>
          <a:xfrm>
            <a:off x="594360" y="1371600"/>
            <a:ext cx="6446520" cy="4297680"/>
          </a:xfrm>
          <a:prstGeom prst="rect">
            <a:avLst/>
          </a:prstGeom>
          <a:noFill/>
        </p:spPr>
        <p:txBody>
          <a:bodyPr wrap="square" lIns="36576" rIns="36576" tIns="18288" bIns="18288">
            <a:spAutoFit/>
          </a:bodyPr>
          <a:lstStyle/>
          <a:p>
            <a:pPr>
              <a:lnSpc>
                <a:spcPct val="107000"/>
              </a:lnSpc>
              <a:spcAft>
                <a:spcPts val="800"/>
              </a:spcAft>
            </a:pPr>
            <a:r>
              <a:rPr sz="1650">
                <a:solidFill>
                  <a:srgbClr val="4A3FFF"/>
                </a:solidFill>
                <a:latin typeface="Segoe UI"/>
              </a:rPr>
              <a:t>▸  </a:t>
            </a:r>
            <a:r>
              <a:rPr b="1" sz="1650">
                <a:solidFill>
                  <a:srgbClr val="1B1B33"/>
                </a:solidFill>
                <a:latin typeface="Segoe UI"/>
              </a:rPr>
              <a:t>COPY returns a per-file result set:   </a:t>
            </a:r>
            <a:r>
              <a:rPr sz="1650">
                <a:solidFill>
                  <a:srgbClr val="1B1B33"/>
                </a:solidFill>
                <a:latin typeface="Segoe UI"/>
              </a:rPr>
              <a:t>rows_parsed / rows_loaded / errors per file, the Python job persists it to _LOAD_LOG; ours never expires.</a:t>
            </a:r>
          </a:p>
          <a:p>
            <a:pPr>
              <a:lnSpc>
                <a:spcPct val="107000"/>
              </a:lnSpc>
              <a:spcAft>
                <a:spcPts val="800"/>
              </a:spcAft>
            </a:pPr>
            <a:r>
              <a:rPr sz="1650">
                <a:solidFill>
                  <a:srgbClr val="4A3FFF"/>
                </a:solidFill>
                <a:latin typeface="Segoe UI"/>
              </a:rPr>
              <a:t>▸  </a:t>
            </a:r>
            <a:r>
              <a:rPr b="1" sz="1650">
                <a:solidFill>
                  <a:srgbClr val="1B1B33"/>
                </a:solidFill>
                <a:latin typeface="Segoe UI"/>
              </a:rPr>
              <a:t>Built-in audit views:   </a:t>
            </a:r>
            <a:r>
              <a:rPr sz="1650">
                <a:solidFill>
                  <a:srgbClr val="1B1B33"/>
                </a:solidFill>
                <a:latin typeface="Segoe UI"/>
              </a:rPr>
              <a:t>COPY_HISTORY table function = 14 days, per table; ACCOUNT_USAGE = 365 days, account-wide (~90 min lag).</a:t>
            </a:r>
          </a:p>
          <a:p>
            <a:pPr>
              <a:lnSpc>
                <a:spcPct val="107000"/>
              </a:lnSpc>
              <a:spcAft>
                <a:spcPts val="800"/>
              </a:spcAft>
            </a:pPr>
            <a:r>
              <a:rPr sz="1650">
                <a:solidFill>
                  <a:srgbClr val="4A3FFF"/>
                </a:solidFill>
                <a:latin typeface="Segoe UI"/>
              </a:rPr>
              <a:t>▸  </a:t>
            </a:r>
            <a:r>
              <a:rPr b="1" sz="1650">
                <a:solidFill>
                  <a:srgbClr val="1B1B33"/>
                </a:solidFill>
                <a:latin typeface="Segoe UI"/>
              </a:rPr>
              <a:t>The 64-day dedup horizon:   </a:t>
            </a:r>
            <a:r>
              <a:rPr sz="1650">
                <a:solidFill>
                  <a:srgbClr val="1B1B33"/>
                </a:solidFill>
                <a:latin typeface="Segoe UI"/>
              </a:rPr>
              <a:t>The internal metadata COPY uses to skip already-loaded files expires after 64 days, separate from the audit views.</a:t>
            </a:r>
          </a:p>
          <a:p>
            <a:pPr>
              <a:lnSpc>
                <a:spcPct val="107000"/>
              </a:lnSpc>
              <a:spcAft>
                <a:spcPts val="800"/>
              </a:spcAft>
            </a:pPr>
            <a:r>
              <a:rPr sz="1650">
                <a:solidFill>
                  <a:srgbClr val="4A3FFF"/>
                </a:solidFill>
                <a:latin typeface="Segoe UI"/>
              </a:rPr>
              <a:t>▸  </a:t>
            </a:r>
            <a:r>
              <a:rPr b="1" sz="1650">
                <a:solidFill>
                  <a:srgbClr val="1B1B33"/>
                </a:solidFill>
                <a:latin typeface="Segoe UI"/>
              </a:rPr>
              <a:t>Beyond 64 days = silent skip:   </a:t>
            </a:r>
            <a:r>
              <a:rPr sz="1650">
                <a:solidFill>
                  <a:srgbClr val="1B1B33"/>
                </a:solidFill>
                <a:latin typeface="Segoe UI"/>
              </a:rPr>
              <a:t>Unknown-status files are skipped, a silent gap, not duplicates; backfill via LOAD_UNCERTAIN_FILES=TRUE or FORCE + SWAP.</a:t>
            </a:r>
          </a:p>
          <a:p>
            <a:pPr>
              <a:lnSpc>
                <a:spcPct val="107000"/>
              </a:lnSpc>
              <a:spcAft>
                <a:spcPts val="800"/>
              </a:spcAft>
            </a:pPr>
            <a:r>
              <a:rPr sz="1650">
                <a:solidFill>
                  <a:srgbClr val="4A3FFF"/>
                </a:solidFill>
                <a:latin typeface="Segoe UI"/>
              </a:rPr>
              <a:t>▸  </a:t>
            </a:r>
            <a:r>
              <a:rPr b="1" sz="1650">
                <a:solidFill>
                  <a:srgbClr val="1B1B33"/>
                </a:solidFill>
                <a:latin typeface="Segoe UI"/>
              </a:rPr>
              <a:t>Why three layers:   </a:t>
            </a:r>
            <a:r>
              <a:rPr sz="1650">
                <a:solidFill>
                  <a:srgbClr val="1B1B33"/>
                </a:solidFill>
                <a:latin typeface="Segoe UI"/>
              </a:rPr>
              <a:t>COPY history expires · watermarks miss late files · event_id dedup in staging never expires.</a:t>
            </a:r>
          </a:p>
        </p:txBody>
      </p:sp>
      <p:sp>
        <p:nvSpPr>
          <p:cNvPr id="7" name="Rounded Rectangle 6"/>
          <p:cNvSpPr/>
          <p:nvPr/>
        </p:nvSpPr>
        <p:spPr>
          <a:xfrm>
            <a:off x="7315200" y="1463040"/>
            <a:ext cx="4370832" cy="4160520"/>
          </a:xfrm>
          <a:prstGeom prst="roundRect">
            <a:avLst/>
          </a:prstGeom>
          <a:solidFill>
            <a:srgbClr val="191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61504" y="1572768"/>
            <a:ext cx="4078224" cy="3941063"/>
          </a:xfrm>
          <a:prstGeom prst="rect">
            <a:avLst/>
          </a:prstGeom>
          <a:noFill/>
        </p:spPr>
        <p:txBody>
          <a:bodyPr wrap="none" lIns="36576" rIns="36576" tIns="18288" bIns="18288" anchor="t">
            <a:spAutoFit/>
          </a:bodyPr>
          <a:lstStyle/>
          <a:p>
            <a:pPr>
              <a:spcAft>
                <a:spcPts val="600"/>
              </a:spcAft>
            </a:pPr>
            <a:r>
              <a:rPr sz="1000" b="1">
                <a:solidFill>
                  <a:srgbClr val="A79FFF"/>
                </a:solidFill>
                <a:latin typeface="Consolas"/>
              </a:rPr>
              <a:t>every load is observable</a:t>
            </a:r>
          </a:p>
          <a:p>
            <a:pPr>
              <a:lnSpc>
                <a:spcPct val="100000"/>
              </a:lnSpc>
              <a:spcAft>
                <a:spcPts val="100"/>
              </a:spcAft>
            </a:pPr>
            <a:r>
              <a:rPr sz="1000">
                <a:solidFill>
                  <a:srgbClr val="8ED6B0"/>
                </a:solidFill>
                <a:latin typeface="Consolas"/>
              </a:rPr>
              <a:t>-- COPY's return: per-file summary</a:t>
            </a:r>
          </a:p>
          <a:p>
            <a:pPr>
              <a:lnSpc>
                <a:spcPct val="100000"/>
              </a:lnSpc>
              <a:spcAft>
                <a:spcPts val="100"/>
              </a:spcAft>
            </a:pPr>
            <a:r>
              <a:rPr sz="1000">
                <a:solidFill>
                  <a:srgbClr val="8ED6B0"/>
                </a:solidFill>
                <a:latin typeface="Consolas"/>
              </a:rPr>
              <a:t>--  file | status | rows_parsed |</a:t>
            </a:r>
          </a:p>
          <a:p>
            <a:pPr>
              <a:lnSpc>
                <a:spcPct val="100000"/>
              </a:lnSpc>
              <a:spcAft>
                <a:spcPts val="100"/>
              </a:spcAft>
            </a:pPr>
            <a:r>
              <a:rPr sz="1000">
                <a:solidFill>
                  <a:srgbClr val="8ED6B0"/>
                </a:solidFill>
                <a:latin typeface="Consolas"/>
              </a:rPr>
              <a:t>--  rows_loaded | first_error ...</a:t>
            </a:r>
          </a:p>
          <a:p>
            <a:pPr>
              <a:lnSpc>
                <a:spcPct val="100000"/>
              </a:lnSpc>
              <a:spcAft>
                <a:spcPts val="100"/>
              </a:spcAft>
            </a:pPr>
            <a:r>
              <a:rPr sz="1000">
                <a:solidFill>
                  <a:srgbClr val="8ED6B0"/>
                </a:solidFill>
                <a:latin typeface="Consolas"/>
              </a:rPr>
              <a:t>--  -&gt; Python writes it to _LOAD_LOG</a:t>
            </a:r>
          </a:p>
          <a:p>
            <a:pPr>
              <a:lnSpc>
                <a:spcPct val="100000"/>
              </a:lnSpc>
              <a:spcAft>
                <a:spcPts val="100"/>
              </a:spcAft>
            </a:pPr>
          </a:p>
          <a:p>
            <a:pPr>
              <a:lnSpc>
                <a:spcPct val="100000"/>
              </a:lnSpc>
              <a:spcAft>
                <a:spcPts val="100"/>
              </a:spcAft>
            </a:pPr>
            <a:r>
              <a:rPr sz="1000">
                <a:solidFill>
                  <a:srgbClr val="8ED6B0"/>
                </a:solidFill>
                <a:latin typeface="Consolas"/>
              </a:rPr>
              <a:t>-- audit: last 14 days, this table</a:t>
            </a:r>
          </a:p>
          <a:p>
            <a:pPr>
              <a:lnSpc>
                <a:spcPct val="100000"/>
              </a:lnSpc>
              <a:spcAft>
                <a:spcPts val="100"/>
              </a:spcAft>
            </a:pPr>
            <a:r>
              <a:rPr sz="1000">
                <a:solidFill>
                  <a:srgbClr val="E6E9F5"/>
                </a:solidFill>
                <a:latin typeface="Consolas"/>
              </a:rPr>
              <a:t>SELECT file_name, last_load_time,</a:t>
            </a:r>
          </a:p>
          <a:p>
            <a:pPr>
              <a:lnSpc>
                <a:spcPct val="100000"/>
              </a:lnSpc>
              <a:spcAft>
                <a:spcPts val="100"/>
              </a:spcAft>
            </a:pPr>
            <a:r>
              <a:rPr sz="1000">
                <a:solidFill>
                  <a:srgbClr val="E6E9F5"/>
                </a:solidFill>
                <a:latin typeface="Consolas"/>
              </a:rPr>
              <a:t>       row_count, error_count</a:t>
            </a:r>
          </a:p>
          <a:p>
            <a:pPr>
              <a:lnSpc>
                <a:spcPct val="100000"/>
              </a:lnSpc>
              <a:spcAft>
                <a:spcPts val="100"/>
              </a:spcAft>
            </a:pPr>
            <a:r>
              <a:rPr sz="1000">
                <a:solidFill>
                  <a:srgbClr val="E6E9F5"/>
                </a:solidFill>
                <a:latin typeface="Consolas"/>
              </a:rPr>
              <a:t>FROM TABLE(information_schema</a:t>
            </a:r>
          </a:p>
          <a:p>
            <a:pPr>
              <a:lnSpc>
                <a:spcPct val="100000"/>
              </a:lnSpc>
              <a:spcAft>
                <a:spcPts val="100"/>
              </a:spcAft>
            </a:pPr>
            <a:r>
              <a:rPr sz="1000">
                <a:solidFill>
                  <a:srgbClr val="E6E9F5"/>
                </a:solidFill>
                <a:latin typeface="Consolas"/>
              </a:rPr>
              <a:t>  .copy_history(</a:t>
            </a:r>
          </a:p>
          <a:p>
            <a:pPr>
              <a:lnSpc>
                <a:spcPct val="100000"/>
              </a:lnSpc>
              <a:spcAft>
                <a:spcPts val="100"/>
              </a:spcAft>
            </a:pPr>
            <a:r>
              <a:rPr sz="1000">
                <a:solidFill>
                  <a:srgbClr val="E6E9F5"/>
                </a:solidFill>
                <a:latin typeface="Consolas"/>
              </a:rPr>
              <a:t>   table_name =&gt; 'PAGE_VIEWS',</a:t>
            </a:r>
          </a:p>
          <a:p>
            <a:pPr>
              <a:lnSpc>
                <a:spcPct val="100000"/>
              </a:lnSpc>
              <a:spcAft>
                <a:spcPts val="100"/>
              </a:spcAft>
            </a:pPr>
            <a:r>
              <a:rPr sz="1000">
                <a:solidFill>
                  <a:srgbClr val="E6E9F5"/>
                </a:solidFill>
                <a:latin typeface="Consolas"/>
              </a:rPr>
              <a:t>   start_time =&gt; dateadd(day, -14,</a:t>
            </a:r>
          </a:p>
          <a:p>
            <a:pPr>
              <a:lnSpc>
                <a:spcPct val="100000"/>
              </a:lnSpc>
              <a:spcAft>
                <a:spcPts val="100"/>
              </a:spcAft>
            </a:pPr>
            <a:r>
              <a:rPr sz="1000">
                <a:solidFill>
                  <a:srgbClr val="E6E9F5"/>
                </a:solidFill>
                <a:latin typeface="Consolas"/>
              </a:rPr>
              <a:t>     current_timestamp())));</a:t>
            </a:r>
          </a:p>
          <a:p>
            <a:pPr>
              <a:lnSpc>
                <a:spcPct val="100000"/>
              </a:lnSpc>
              <a:spcAft>
                <a:spcPts val="100"/>
              </a:spcAft>
            </a:pPr>
          </a:p>
          <a:p>
            <a:pPr>
              <a:lnSpc>
                <a:spcPct val="100000"/>
              </a:lnSpc>
              <a:spcAft>
                <a:spcPts val="100"/>
              </a:spcAft>
            </a:pPr>
            <a:r>
              <a:rPr sz="1000">
                <a:solidFill>
                  <a:srgbClr val="8ED6B0"/>
                </a:solidFill>
                <a:latin typeface="Consolas"/>
              </a:rPr>
              <a:t>-- audit: 365 days, account-wide</a:t>
            </a:r>
          </a:p>
          <a:p>
            <a:pPr>
              <a:lnSpc>
                <a:spcPct val="100000"/>
              </a:lnSpc>
              <a:spcAft>
                <a:spcPts val="100"/>
              </a:spcAft>
            </a:pPr>
            <a:r>
              <a:rPr sz="1000">
                <a:solidFill>
                  <a:srgbClr val="E6E9F5"/>
                </a:solidFill>
                <a:latin typeface="Consolas"/>
              </a:rPr>
              <a:t>SELECT * FROM snowflake</a:t>
            </a:r>
          </a:p>
          <a:p>
            <a:pPr>
              <a:lnSpc>
                <a:spcPct val="100000"/>
              </a:lnSpc>
              <a:spcAft>
                <a:spcPts val="100"/>
              </a:spcAft>
            </a:pPr>
            <a:r>
              <a:rPr sz="1000">
                <a:solidFill>
                  <a:srgbClr val="E6E9F5"/>
                </a:solidFill>
                <a:latin typeface="Consolas"/>
              </a:rPr>
              <a:t>  .account_usage.copy_history;</a:t>
            </a:r>
          </a:p>
          <a:p>
            <a:pPr>
              <a:lnSpc>
                <a:spcPct val="100000"/>
              </a:lnSpc>
              <a:spcAft>
                <a:spcPts val="100"/>
              </a:spcAft>
            </a:pPr>
          </a:p>
          <a:p>
            <a:pPr>
              <a:lnSpc>
                <a:spcPct val="100000"/>
              </a:lnSpc>
              <a:spcAft>
                <a:spcPts val="100"/>
              </a:spcAft>
            </a:pPr>
            <a:r>
              <a:rPr sz="1000">
                <a:solidFill>
                  <a:srgbClr val="8ED6B0"/>
                </a:solidFill>
                <a:latin typeface="Consolas"/>
              </a:rPr>
              <a:t>-- backfill older than 64 days</a:t>
            </a:r>
          </a:p>
          <a:p>
            <a:pPr>
              <a:lnSpc>
                <a:spcPct val="100000"/>
              </a:lnSpc>
              <a:spcAft>
                <a:spcPts val="100"/>
              </a:spcAft>
            </a:pPr>
            <a:r>
              <a:rPr sz="1000">
                <a:solidFill>
                  <a:srgbClr val="E6E9F5"/>
                </a:solidFill>
                <a:latin typeface="Consolas"/>
              </a:rPr>
              <a:t>COPY INTO ...</a:t>
            </a:r>
          </a:p>
          <a:p>
            <a:pPr>
              <a:lnSpc>
                <a:spcPct val="100000"/>
              </a:lnSpc>
              <a:spcAft>
                <a:spcPts val="100"/>
              </a:spcAft>
            </a:pPr>
            <a:r>
              <a:rPr sz="1000">
                <a:solidFill>
                  <a:srgbClr val="E6E9F5"/>
                </a:solidFill>
                <a:latin typeface="Consolas"/>
              </a:rPr>
              <a:t>  LOAD_UNCERTAIN_FILES = TRUE;</a:t>
            </a:r>
          </a:p>
        </p:txBody>
      </p:sp>
      <p:sp>
        <p:nvSpPr>
          <p:cNvPr id="9" name="Rounded Rectangle 8"/>
          <p:cNvSpPr/>
          <p:nvPr/>
        </p:nvSpPr>
        <p:spPr>
          <a:xfrm>
            <a:off x="502920" y="5806440"/>
            <a:ext cx="11183112" cy="457200"/>
          </a:xfrm>
          <a:prstGeom prst="roundRect">
            <a:avLst/>
          </a:prstGeom>
          <a:solidFill>
            <a:srgbClr val="ECE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806440"/>
            <a:ext cx="82296" cy="457200"/>
          </a:xfrm>
          <a:prstGeom prst="rect">
            <a:avLst/>
          </a:prstGeom>
          <a:solidFill>
            <a:srgbClr val="4A3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806440"/>
            <a:ext cx="10789920" cy="457200"/>
          </a:xfrm>
          <a:prstGeom prst="rect">
            <a:avLst/>
          </a:prstGeom>
          <a:noFill/>
        </p:spPr>
        <p:txBody>
          <a:bodyPr wrap="square" lIns="36576" rIns="36576" tIns="18288" bIns="18288" anchor="ctr">
            <a:spAutoFit/>
          </a:bodyPr>
          <a:lstStyle/>
          <a:p>
            <a:r>
              <a:rPr b="1" sz="1300">
                <a:solidFill>
                  <a:srgbClr val="3B34B8"/>
                </a:solidFill>
                <a:latin typeface="Segoe UI"/>
              </a:rPr>
              <a:t>Takeaway   </a:t>
            </a:r>
            <a:r>
              <a:rPr sz="1300">
                <a:solidFill>
                  <a:srgbClr val="1B1B33"/>
                </a:solidFill>
                <a:latin typeface="Segoe UI"/>
              </a:rPr>
              <a:t>Snowflake logs every COPY (14-day / 365-day views) and returns a per-file summary, persisting it in _LOAD_LOG gives an audit trail that outlives every retention window.</a:t>
            </a:r>
          </a:p>
        </p:txBody>
      </p:sp>
      <p:sp>
        <p:nvSpPr>
          <p:cNvPr id="12" name="TextBox 11"/>
          <p:cNvSpPr txBox="1"/>
          <p:nvPr/>
        </p:nvSpPr>
        <p:spPr>
          <a:xfrm>
            <a:off x="502920" y="6455664"/>
            <a:ext cx="7315200" cy="320040"/>
          </a:xfrm>
          <a:prstGeom prst="rect">
            <a:avLst/>
          </a:prstGeom>
          <a:noFill/>
        </p:spPr>
        <p:txBody>
          <a:bodyPr wrap="square" lIns="36576" rIns="36576" tIns="18288" bIns="18288">
            <a:spAutoFit/>
          </a:bodyPr>
          <a:lstStyle/>
          <a:p>
            <a:r>
              <a:rPr sz="900">
                <a:solidFill>
                  <a:srgbClr val="5C5B77"/>
                </a:solidFill>
                <a:latin typeface="Segoe UI"/>
              </a:rPr>
              <a:t>OpenGov Data Platform  ·  Case Study  ·  Akash Pahilwan</a:t>
            </a:r>
          </a:p>
        </p:txBody>
      </p:sp>
      <p:sp>
        <p:nvSpPr>
          <p:cNvPr id="13" name="TextBox 12"/>
          <p:cNvSpPr txBox="1"/>
          <p:nvPr/>
        </p:nvSpPr>
        <p:spPr>
          <a:xfrm>
            <a:off x="10911535" y="6455664"/>
            <a:ext cx="822960" cy="320040"/>
          </a:xfrm>
          <a:prstGeom prst="rect">
            <a:avLst/>
          </a:prstGeom>
          <a:noFill/>
        </p:spPr>
        <p:txBody>
          <a:bodyPr wrap="square" lIns="36576" rIns="36576" tIns="18288" bIns="18288">
            <a:spAutoFit/>
          </a:bodyPr>
          <a:lstStyle/>
          <a:p>
            <a:pPr algn="r"/>
            <a:r>
              <a:rPr sz="900">
                <a:solidFill>
                  <a:srgbClr val="5C5B77"/>
                </a:solidFill>
                <a:latin typeface="Segoe UI"/>
              </a:rPr>
              <a:t>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