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thesis: I build the factory, the governed foundation that lets every domain team ship analytics and AI on top, safely and fast. Today I'll walk foundation -&gt; pipelines -&gt; self-service -&gt; trust &amp; governance, then close with a forward-looking bet on making the platform AI-ready.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role: a platform engineer's customer is other engineers/analysts. The job is to make the right thing the easy thing. Stress federation with guardrails, central team owns the paved path, domains own their data products. These four principles recur on every later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anchor diagram, walk it left to right. Sources land via Fivetran (connectorized SaaS) or a custom Python path on AWS (S3 + Lambda) for telemetry and bespoke APIs. Everything lands in Snowflake RAW, then dbt promotes RAW→STAGING→MARTS, with SANDBOX for exploration. Consumers are BI, AI/ML + LLM/RAG, and reverse ETL. The navy band is the cross-cutting foundation that every layer sits on: IaC, RBAC+masking, observability, CI/CD. Invite the 'why Fivetran here, Lambda there' question, next slide answers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rule: buy vs build on control, cost curve, and whether a reliable connector exists. Fivetran wins for SaaS, someone else maintains the connector and absorbs API changes. Telemetry is the opposite: huge volume, simple shape, cost at Fivetran's per-row pricing would be brutal, and we want near-real-time via S3 events → Lambda. So we own that path. Be ready to defend the cost math.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answers 'we deploy objects via CI/CD, how does drift fit?'. Separate the two schemas. The SOURCE shape is uncontrolled and can change any time; OUR objects are code and change only via a reviewed, tested PR. RAW uses a VARIANT column so upstream additions need no DDL and never break a load, CI/CD does not run on every upstream change. Drift is detected against a contract and surfaced (additive) or quarantined + alerted (breaking), but never auto-alters a deployed table. To make a new field real, an engineer adds one typed column in dbt via a PR; contracts + tests run in CI as the tripwire. Fivetran is the contrast: it is schema-on-WRITE, it types columns and ALTERs its own RAW tables when the source drifts, so the read-time boundary moves one layer down: dbt sources select only the columns we depend on, and the source contract + tests fail CI before bad data flows downstream. Crisp framing if pushed: schema-on-read is a property of the RAW layer. In the custom path we own RAW, so we land VARIANT and type late; in the Fivetran path Fivetran owns and evolves RAW, so our read-time contract is the dbt source. Either way, a new field enters the deployed model only through a reviewed PR. Use CREATE OR ALTER / additive, idempotent migrations so redeploys are safe on half-failures.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is the system of record, never mutate it. Partition for replay and cheap pruning. The quarantine + load-log pattern gives operability: you can always answer 'did the 09:00 file land, and how many rows did we reject?' This maps one-to-one to the PAGE_VIEWS ingestion I build in Part 2, including the intentional null user_id record that gets quarantined.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Database-per-layer (vs schema-per-layer) gives cleaner grants and isolation, and scales to many domains: RAW holds source schemas, MARTS holds domain schemas. Separate warehouses stop a heavy dbt run from starving BI, and make cost attributable. Prod is only ever changed through CI.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1-to-10-domains question lives here. Answer: don't grow one monolith, split by domain with clear ownership, and use dbt Mesh contracts as the interface between domains. Public models are the API; internals can refactor freely. Incremental vs full-refresh is a volume/cost decision. Mention mart_revops__pipeline (Part 2) would be exposed as a PUBLIC contracted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'factory' payoff and a differentiator vs teams that hand-craft each domain. A single opinionated Terraform module encodes all standards, so every new domain is born compliant. Teams self-serve via PR; the platform team reviews the module, not every request. This is how RBAC actually scales to 10 domains, it's generated, not hand-written.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Snowflake's recommended two-tier model: access roles hold object privileges; functional roles (job-based) inherit access roles; users get functional roles. Why it scales: access roles are reusable primitives, so a 10th domain is a generated set of roles, no bespoke grant spaghetti. Service accounts get their own functional roles (dbt vs human analyst). Row-access policies enforce tenant/region isolation on shared tables. This exact model is what I build in Part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REWRITTEN to what we actually built, not generic SLA talk. Concrete artifacts: the PAGE_VIEWS_LOAD_LOG row-per-run + quarantine table give load observability and a reject rate; dbt tests gate every CI build; QUERY_HISTORY / ACCESS_HISTORY / POLICY_REFERENCES are the native audit surfaces (ACCESS_HISTORY answers the ARR probe); per-role warehouses make cost attributable. Full published SLAs (freshness targets, alerting to Slack/on-call) are the honest next step on top of these.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point of view. The trap everyone is walking into: pointing LLMs at raw warehouses. Without a semantic layer, the model guesses join logic and metric definitions, confidently wrong. Solution: a governed metrics/semantic layer as the single interface for humans AND AI, plus data contracts enforced in CI so definitions can't silently drift. Crucially, Snowflake's masking/row policies apply to the LLM's service account, governance isn't bypassed by AI. This is how OpenGov gets trustworthy AI, not just more 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panel: this is the same architecture, now real. Each bullet is a deliverable I can open live. Emphasize config-driven + CI-deployed, no click-ops.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layer: ingestion roles are scoped to exactly their landing schema (Fivetran owns its DDL; the ADLS loader is DML-only against a platform-owned contract). Shared STAGING/MARTS are written ONLY by REVOPS_DEVELOPER through the dbt CI job, no human holds that role. Readers read all; analysts read marts; a domain analyst is scoped to that domain's marts (FINANCE_ANALYST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Demo-able: query ACCOUNT.ARR as REVOPS_READER (NULL) vs the mart as REVOPS_ANALYST (real). Stress the tag→policy re-bind is the one non-declarative step, and CI owns it. Audit via ACCESS_HISTORY answers 'who read ARR, when'.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brief's ingestion task, 1:1, only S3 became ADLS (owner decision, boto3 pattern ported to the Azure Blob SDK). The null-user_id record from the sample payload is exactly what the quarantine catches. Partial-batch: good rows commit, bad rows quarantine, never fail the whole file. Lambda-on-arrival and a second event type (config-driven) are the extension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dbt on Snowflake: the repo runs as a DBT PROJECT object, executed in-account as REVOPS_DEVELOPER, the CI runner never builds models. Incremental vs full-refresh is the volume decision (appendix). mart_revops__pipeline is the mesh public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env story: DEV database hosts BOTH the per-developer sandboxes (target dev) and the QA/preprod integration schemas (target preprod, built on merge to dev). PROD is a separate database, built on merge to main behind a protected GitHub Environment. Auth is key-pair from secrets; secrets are only available post-merge, so a malicious PR can't reach them. A manual full-refresh workflow handles incremental logic fixes.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'paved path' for a person. The composite role is the key design: read everything, write only your sandbox, one role active, no secondary-role ambiguity. Onboarding is a two-line PR (demonstrated live with AKASHPAHILWAN, SOURABH_SHINDE, ANUJKUMAR).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 1. Snowpipe replaces the scheduled COPY once files land continuously (the ingestion design already keeps the same append-only contract). Slim CI + staging contracts + spoke repos complete the dbt Mesh story. Row-access policies and OIDC are the security hardening; env-specific DEV_*/PROD_* roles (SnowOps-style) give per-environment isolation beyond the account-wide functional roles.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 2. Observability grows from the primitives we built (_LOAD_LOG, dbt tests) into published SLAs + alerting. Cost dashboards use the per-role warehouse split for attribution. The AI-readiness bets are the differentiator made concrete: a governed semantic layer as the single interface, contracts across domains, and governance that already travels to any service account including an LLM's.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thesis: platform-as-product, governed by default, self-service, running end-to-end. Invite deep-dive questions, the appendix has the internals.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'how does this scale to 10 domains + how do you handle service vs human + audit'. The FINANCE_ANALYST demo is the concrete proof of domain-scoped least privilege, built and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'incremental vs full-refresh' probe. The non-obvious operational point: an incremental logic fix requires a full-refresh, which is why there's a dedicated workflow with all/modified scope. Grounded in a real bug we fixed.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Hits every CI/CD probe: OIDC/key-pair, protecting secrets from fork PRs, idempotency + half-failure safety, linting/naming. The drift check + sync_config validation are our 'linting'; remote state + post-merge-only secrets are the security spine.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only if the panel digs into VARIANT performance. Key message: VARIANT is not a JSON string column. On write, Snowflake examines paths that occur consistently across rows in a micro-partition and stores each as its own typed, compressed sub-column with min/max metadata, so path projection and partition pruning behave like native columns. It degrades only when keys are wildly inconsistent row-to-row; the fix is promoting hot keys (event_id) to real columns, which we do anyway for dedup. Drift behavior: missing key reads as NULL (never an error), new keys are invisible until a PR selects them, and TRY_CAST + dbt tests turn type drift into a quarantine signal instead of a failed job. 16 MB/value limit is ~4 orders of magnitude above a telemetry event. One-breath close: 'stable RAW DDL, columnarized paths, type once in incremental staging, downstream never touches JSON.'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if asked about bucket layout, hourly cadence, or 'why not COPY / Snowpipe'. The loader does NOT use COPY INTO: it SELECTs records through the external stage (one VARIANT per event via FF_JSON), validates each in Python, then INSERTs the full set append-only, that read -&gt; branch -&gt; write is exactly what lets bad rows go to _QUARANTINE with a reason while the good rows still land, which a single COPY cannot do. Hive-style dt=/hr= prefixes sort by time, so the window scan reads only the relevant day-folders and re-scans a trailing 48h so late files in an old hour still load; --prefill catches older stragglers, --backfill re-reads all, --path one folder. Append-only stance: never 'replace with latest', RAW keeps every landed row; dedup and current-state are computed in staging (QUALIFY on event_id, newest _loaded_at). Idempotency is two honest layers: file-level, the loader skips any file already in _LOAD_LOG (re-run = 0 rows); row-level, event_id dedup in staging, which also catches a producer resend in a DIFFERENT file. Reprocess on purpose with --force-insert (append dups; staging collapses them), there is no COPY FORCE / SWAP in this path. Snowpipe question: for the deliverable I keep a scheduled Python job because the assessed logic, validation, quarantine, _LOAD_LOG, lives in that code, and hourly batch on an XS warehouse is cheap. In production, with files landing continuously, I'd flip to Event Grid -&gt; Snowpipe auto-ingest per file (~1-minute latency, no scheduler), moving validation to a post-load stream/task. Same table, same append-only contract, only the trigger changes.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for 'can we see what loaded?' or the idempotency / 64-day follow-up. This loader logs itself: every file writes one _LOAD_LOG row (file_name, records_processed, records_quarantined, timestamp) in the SAME transaction as the RAW + quarantine inserts, so the load summary is atomic and lives forever in a queryable table, that's the brief's load-summary requirement. Idempotency is explicit, not implicit: each run reads SELECT DISTINCT file_name FROM _LOAD_LOG and skips anything already there, so a re-run loads zero and the authority is our own log, not engine-internal metadata. Contrast with COPY INTO (why the appendix still mentions it): COPY maintains its OWN per-file load history to skip already-loaded files, but that metadata EXPIRES after 64 days, beyond it a file's status is 'unknown' and COPY silently skips it by default (a gap, not dups), which is why COPY-based designs need LOAD_UNCERTAIN_FILES=TRUE or FORCE + SWAP for old backfills. By owning _LOAD_LOG we sidestep that horizon entirely. Native audit still applies to our INSERT path: QUERY_HISTORY + ACCESS_HISTORY (ACCOUNT_USAGE, 365 days, ~90-min lag) answer 'who loaded' and 'who read ACCOUNT.ARR, when'; COPY_HISTORY only records actual COPY loads, so it is not the surface here. One-breath close: 'we track filenames ourselves, so idempotency is a query and the load log never expires.'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211580" y="1531620"/>
            <a:ext cx="1234440" cy="1234440"/>
          </a:xfrm>
          <a:prstGeom prst="ellipse">
            <a:avLst/>
          </a:prstGeom>
        </p:spPr>
      </p:pic>
      <p:sp>
        <p:nvSpPr>
          <p:cNvPr id="4" name="TextBox 3"/>
          <p:cNvSpPr txBox="1"/>
          <p:nvPr/>
        </p:nvSpPr>
        <p:spPr>
          <a:xfrm>
            <a:off x="1737360" y="3154680"/>
            <a:ext cx="9875520" cy="2377440"/>
          </a:xfrm>
          <a:prstGeom prst="rect">
            <a:avLst/>
          </a:prstGeom>
          <a:noFill/>
        </p:spPr>
        <p:txBody>
          <a:bodyPr wrap="square" lIns="36576" rIns="36576" tIns="18288" bIns="18288">
            <a:spAutoFit/>
          </a:bodyPr>
          <a:lstStyle/>
          <a:p>
            <a:r>
              <a:rPr sz="4600" b="1">
                <a:solidFill>
                  <a:srgbClr val="FFFFFF"/>
                </a:solidFill>
                <a:latin typeface="Segoe UI"/>
              </a:rPr>
              <a:t>OpenGov Data Platform</a:t>
            </a:r>
          </a:p>
          <a:p>
            <a:pPr>
              <a:spcBef>
                <a:spcPts val="600"/>
              </a:spcBef>
            </a:pPr>
            <a:r>
              <a:rPr sz="2000">
                <a:solidFill>
                  <a:srgbClr val="A79FFF"/>
                </a:solidFill>
                <a:latin typeface="Segoe UI"/>
              </a:rPr>
              <a:t>Architecture &amp; Data Foundation  ·  Hands-On Build (RevOps)</a:t>
            </a:r>
          </a:p>
          <a:p>
            <a:pPr>
              <a:spcBef>
                <a:spcPts val="1800"/>
              </a:spcBef>
            </a:pPr>
            <a:r>
              <a:rPr sz="1500">
                <a:solidFill>
                  <a:srgbClr val="C7D3E0"/>
                </a:solidFill>
                <a:latin typeface="Segoe UI"/>
              </a:rPr>
              <a:t>Case Study Presentation</a:t>
            </a:r>
          </a:p>
          <a:p>
            <a:r>
              <a:rPr sz="1500" b="1">
                <a:solidFill>
                  <a:srgbClr val="FFFFFF"/>
                </a:solidFill>
                <a:latin typeface="Segoe UI"/>
              </a:rPr>
              <a:t>Akash Pahilwan  ·  Senior Data Platform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The platform is a product, I build the factory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900">
                <a:solidFill>
                  <a:srgbClr val="4A3FFF"/>
                </a:solidFill>
                <a:latin typeface="Segoe UI"/>
              </a:rPr>
              <a:t>▸  </a:t>
            </a:r>
            <a:r>
              <a:rPr b="1" sz="1900">
                <a:solidFill>
                  <a:srgbClr val="1B1B33"/>
                </a:solidFill>
                <a:latin typeface="Segoe UI"/>
              </a:rPr>
              <a:t>The mandate:   </a:t>
            </a:r>
            <a:r>
              <a:rPr sz="1900">
                <a:solidFill>
                  <a:srgbClr val="1B1B33"/>
                </a:solidFill>
                <a:latin typeface="Segoe UI"/>
              </a:rPr>
              <a:t>One governed foundation powering analytics and AI across GTM, Finance, Product, and HR/People.</a:t>
            </a:r>
          </a:p>
          <a:p>
            <a:pPr>
              <a:lnSpc>
                <a:spcPct val="107000"/>
              </a:lnSpc>
              <a:spcAft>
                <a:spcPts val="800"/>
              </a:spcAft>
            </a:pPr>
            <a:r>
              <a:rPr sz="1900">
                <a:solidFill>
                  <a:srgbClr val="4A3FFF"/>
                </a:solidFill>
                <a:latin typeface="Segoe UI"/>
              </a:rPr>
              <a:t>▸  </a:t>
            </a:r>
            <a:r>
              <a:rPr b="1" sz="1900">
                <a:solidFill>
                  <a:srgbClr val="1B1B33"/>
                </a:solidFill>
                <a:latin typeface="Segoe UI"/>
              </a:rPr>
              <a:t>Federated, not centralized:   </a:t>
            </a:r>
            <a:r>
              <a:rPr sz="1900">
                <a:solidFill>
                  <a:srgbClr val="1B1B33"/>
                </a:solidFill>
                <a:latin typeface="Segoe UI"/>
              </a:rPr>
              <a:t>Domain teams build on a paved path with guardrails, self-service, not a ticket queue.</a:t>
            </a:r>
          </a:p>
          <a:p>
            <a:pPr>
              <a:lnSpc>
                <a:spcPct val="107000"/>
              </a:lnSpc>
              <a:spcAft>
                <a:spcPts val="800"/>
              </a:spcAft>
            </a:pPr>
            <a:r>
              <a:rPr sz="1900">
                <a:solidFill>
                  <a:srgbClr val="4A3FFF"/>
                </a:solidFill>
                <a:latin typeface="Segoe UI"/>
              </a:rPr>
              <a:t>▸  </a:t>
            </a:r>
            <a:r>
              <a:rPr b="1" sz="1900">
                <a:solidFill>
                  <a:srgbClr val="1B1B33"/>
                </a:solidFill>
                <a:latin typeface="Segoe UI"/>
              </a:rPr>
              <a:t>Four principles guide every decision:</a:t>
            </a:r>
          </a:p>
          <a:p>
            <a:pPr>
              <a:lnSpc>
                <a:spcPct val="107000"/>
              </a:lnSpc>
              <a:spcAft>
                <a:spcPts val="300"/>
              </a:spcAft>
            </a:pPr>
            <a:r>
              <a:rPr sz="1600">
                <a:solidFill>
                  <a:srgbClr val="5C5B77"/>
                </a:solidFill>
                <a:latin typeface="Segoe UI"/>
              </a:rPr>
              <a:t>        ·  </a:t>
            </a:r>
            <a:r>
              <a:rPr b="1" sz="1600">
                <a:solidFill>
                  <a:srgbClr val="1B1B33"/>
                </a:solidFill>
                <a:latin typeface="Segoe UI"/>
              </a:rPr>
              <a:t>Governed by default   </a:t>
            </a:r>
            <a:r>
              <a:rPr sz="1600">
                <a:solidFill>
                  <a:srgbClr val="3E3D5C"/>
                </a:solidFill>
                <a:latin typeface="Segoe UI"/>
              </a:rPr>
              <a:t>RBAC, masking, and lineage are built in, not bolted on.</a:t>
            </a:r>
          </a:p>
          <a:p>
            <a:pPr>
              <a:lnSpc>
                <a:spcPct val="107000"/>
              </a:lnSpc>
              <a:spcAft>
                <a:spcPts val="300"/>
              </a:spcAft>
            </a:pPr>
            <a:r>
              <a:rPr sz="1600">
                <a:solidFill>
                  <a:srgbClr val="5C5B77"/>
                </a:solidFill>
                <a:latin typeface="Segoe UI"/>
              </a:rPr>
              <a:t>        ·  </a:t>
            </a:r>
            <a:r>
              <a:rPr b="1" sz="1600">
                <a:solidFill>
                  <a:srgbClr val="1B1B33"/>
                </a:solidFill>
                <a:latin typeface="Segoe UI"/>
              </a:rPr>
              <a:t>Self-service paved path   </a:t>
            </a:r>
            <a:r>
              <a:rPr sz="1600">
                <a:solidFill>
                  <a:srgbClr val="3E3D5C"/>
                </a:solidFill>
                <a:latin typeface="Segoe UI"/>
              </a:rPr>
              <a:t>Golden templates + IaC modules; onboard a domain in a PR.</a:t>
            </a:r>
          </a:p>
          <a:p>
            <a:pPr>
              <a:lnSpc>
                <a:spcPct val="107000"/>
              </a:lnSpc>
              <a:spcAft>
                <a:spcPts val="300"/>
              </a:spcAft>
            </a:pPr>
            <a:r>
              <a:rPr sz="1600">
                <a:solidFill>
                  <a:srgbClr val="5C5B77"/>
                </a:solidFill>
                <a:latin typeface="Segoe UI"/>
              </a:rPr>
              <a:t>        ·  </a:t>
            </a:r>
            <a:r>
              <a:rPr b="1" sz="1600">
                <a:solidFill>
                  <a:srgbClr val="1B1B33"/>
                </a:solidFill>
                <a:latin typeface="Segoe UI"/>
              </a:rPr>
              <a:t>Observable &amp; SLA-driven   </a:t>
            </a:r>
            <a:r>
              <a:rPr sz="1600">
                <a:solidFill>
                  <a:srgbClr val="3E3D5C"/>
                </a:solidFill>
                <a:latin typeface="Segoe UI"/>
              </a:rPr>
              <a:t>Freshness, quality, and cost measured from day one.</a:t>
            </a:r>
          </a:p>
          <a:p>
            <a:pPr>
              <a:lnSpc>
                <a:spcPct val="107000"/>
              </a:lnSpc>
              <a:spcAft>
                <a:spcPts val="300"/>
              </a:spcAft>
            </a:pPr>
            <a:r>
              <a:rPr sz="1600">
                <a:solidFill>
                  <a:srgbClr val="5C5B77"/>
                </a:solidFill>
                <a:latin typeface="Segoe UI"/>
              </a:rPr>
              <a:t>        ·  </a:t>
            </a:r>
            <a:r>
              <a:rPr b="1" sz="1600">
                <a:solidFill>
                  <a:srgbClr val="1B1B33"/>
                </a:solidFill>
                <a:latin typeface="Segoe UI"/>
              </a:rPr>
              <a:t>IaC-first &amp; reproducible   </a:t>
            </a:r>
            <a:r>
              <a:rPr sz="1600">
                <a:solidFill>
                  <a:srgbClr val="3E3D5C"/>
                </a:solidFill>
                <a:latin typeface="Segoe UI"/>
              </a:rPr>
              <a:t>Everything is code, tested in CI, rebuildable in any environment.</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 and speed are not a trade-off, the right guardrails deliver both.</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Target-state architecture: source → dashboard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307592"/>
            <a:ext cx="2057400" cy="274320"/>
          </a:xfrm>
          <a:prstGeom prst="rect">
            <a:avLst/>
          </a:prstGeom>
          <a:noFill/>
        </p:spPr>
        <p:txBody>
          <a:bodyPr wrap="square" lIns="36576" rIns="36576" tIns="18288" bIns="18288">
            <a:spAutoFit/>
          </a:bodyPr>
          <a:lstStyle/>
          <a:p>
            <a:pPr algn="ctr"/>
            <a:r>
              <a:rPr sz="1000" b="1">
                <a:solidFill>
                  <a:srgbClr val="3B34B8"/>
                </a:solidFill>
                <a:latin typeface="Segoe UI"/>
              </a:rPr>
              <a:t>SOURCES</a:t>
            </a:r>
          </a:p>
        </p:txBody>
      </p:sp>
      <p:sp>
        <p:nvSpPr>
          <p:cNvPr id="7" name="Rounded Rectangle 6"/>
          <p:cNvSpPr/>
          <p:nvPr/>
        </p:nvSpPr>
        <p:spPr>
          <a:xfrm>
            <a:off x="502920" y="1600200"/>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Salesforce  (GTM)</a:t>
            </a:r>
          </a:p>
        </p:txBody>
      </p:sp>
      <p:sp>
        <p:nvSpPr>
          <p:cNvPr id="8" name="Rounded Rectangle 7"/>
          <p:cNvSpPr/>
          <p:nvPr/>
        </p:nvSpPr>
        <p:spPr>
          <a:xfrm>
            <a:off x="502920" y="2258568"/>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Marketo  (GTM)</a:t>
            </a:r>
          </a:p>
        </p:txBody>
      </p:sp>
      <p:sp>
        <p:nvSpPr>
          <p:cNvPr id="9" name="Rounded Rectangle 8"/>
          <p:cNvSpPr/>
          <p:nvPr/>
        </p:nvSpPr>
        <p:spPr>
          <a:xfrm>
            <a:off x="502920" y="2916936"/>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NetSuite  (Finance)</a:t>
            </a:r>
          </a:p>
        </p:txBody>
      </p:sp>
      <p:sp>
        <p:nvSpPr>
          <p:cNvPr id="10" name="Rounded Rectangle 9"/>
          <p:cNvSpPr/>
          <p:nvPr/>
        </p:nvSpPr>
        <p:spPr>
          <a:xfrm>
            <a:off x="502920" y="3575304"/>
            <a:ext cx="2057400" cy="530352"/>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Telemetry  (Product)</a:t>
            </a:r>
          </a:p>
        </p:txBody>
      </p:sp>
      <p:sp>
        <p:nvSpPr>
          <p:cNvPr id="11" name="Rounded Rectangle 10"/>
          <p:cNvSpPr/>
          <p:nvPr/>
        </p:nvSpPr>
        <p:spPr>
          <a:xfrm>
            <a:off x="502920" y="4233672"/>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Workday  (HR)</a:t>
            </a:r>
          </a:p>
        </p:txBody>
      </p:sp>
      <p:sp>
        <p:nvSpPr>
          <p:cNvPr id="12" name="TextBox 11"/>
          <p:cNvSpPr txBox="1"/>
          <p:nvPr/>
        </p:nvSpPr>
        <p:spPr>
          <a:xfrm>
            <a:off x="2880360" y="1307592"/>
            <a:ext cx="2286000" cy="274320"/>
          </a:xfrm>
          <a:prstGeom prst="rect">
            <a:avLst/>
          </a:prstGeom>
          <a:noFill/>
        </p:spPr>
        <p:txBody>
          <a:bodyPr wrap="square" lIns="36576" rIns="36576" tIns="18288" bIns="18288">
            <a:spAutoFit/>
          </a:bodyPr>
          <a:lstStyle/>
          <a:p>
            <a:pPr algn="ctr"/>
            <a:r>
              <a:rPr sz="1000" b="1">
                <a:solidFill>
                  <a:srgbClr val="3B34B8"/>
                </a:solidFill>
                <a:latin typeface="Segoe UI"/>
              </a:rPr>
              <a:t>INGESTION</a:t>
            </a:r>
          </a:p>
        </p:txBody>
      </p:sp>
      <p:sp>
        <p:nvSpPr>
          <p:cNvPr id="13" name="Rounded Rectangle 12"/>
          <p:cNvSpPr/>
          <p:nvPr/>
        </p:nvSpPr>
        <p:spPr>
          <a:xfrm>
            <a:off x="2880360" y="1737360"/>
            <a:ext cx="2286000" cy="960120"/>
          </a:xfrm>
          <a:prstGeom prst="roundRect">
            <a:avLst/>
          </a:prstGeom>
          <a:solidFill>
            <a:srgbClr val="E08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Fivetran
managed connectors (SaaS)</a:t>
            </a:r>
          </a:p>
        </p:txBody>
      </p:sp>
      <p:sp>
        <p:nvSpPr>
          <p:cNvPr id="14" name="Rounded Rectangle 13"/>
          <p:cNvSpPr/>
          <p:nvPr/>
        </p:nvSpPr>
        <p:spPr>
          <a:xfrm>
            <a:off x="2880360" y="3017520"/>
            <a:ext cx="2286000" cy="123444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Custom Python
AWS S3 + Lambda
(telemetry &amp; APIs)</a:t>
            </a:r>
          </a:p>
        </p:txBody>
      </p:sp>
      <p:sp>
        <p:nvSpPr>
          <p:cNvPr id="15" name="TextBox 14"/>
          <p:cNvSpPr txBox="1"/>
          <p:nvPr/>
        </p:nvSpPr>
        <p:spPr>
          <a:xfrm>
            <a:off x="5532120" y="1307592"/>
            <a:ext cx="3337560" cy="274320"/>
          </a:xfrm>
          <a:prstGeom prst="rect">
            <a:avLst/>
          </a:prstGeom>
          <a:noFill/>
        </p:spPr>
        <p:txBody>
          <a:bodyPr wrap="square" lIns="36576" rIns="36576" tIns="18288" bIns="18288">
            <a:spAutoFit/>
          </a:bodyPr>
          <a:lstStyle/>
          <a:p>
            <a:pPr algn="ctr"/>
            <a:r>
              <a:rPr sz="1000" b="1">
                <a:solidFill>
                  <a:srgbClr val="3B34B8"/>
                </a:solidFill>
                <a:latin typeface="Segoe UI"/>
              </a:rPr>
              <a:t>SNOWFLAKE  +  DBT</a:t>
            </a:r>
          </a:p>
        </p:txBody>
      </p:sp>
      <p:sp>
        <p:nvSpPr>
          <p:cNvPr id="16" name="Rounded Rectangle 15"/>
          <p:cNvSpPr/>
          <p:nvPr/>
        </p:nvSpPr>
        <p:spPr>
          <a:xfrm>
            <a:off x="5532120" y="1600200"/>
            <a:ext cx="3337560" cy="3246120"/>
          </a:xfrm>
          <a:prstGeom prst="roundRect">
            <a:avLst/>
          </a:prstGeom>
          <a:solidFill>
            <a:srgbClr val="ECEBFB"/>
          </a:solidFill>
          <a:ln w="12700">
            <a:solidFill>
              <a:srgbClr val="3B3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42432" y="1819656"/>
            <a:ext cx="2926080" cy="530352"/>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RAW: source-system schemas</a:t>
            </a:r>
          </a:p>
        </p:txBody>
      </p:sp>
      <p:sp>
        <p:nvSpPr>
          <p:cNvPr id="18" name="Rounded Rectangle 17"/>
          <p:cNvSpPr/>
          <p:nvPr/>
        </p:nvSpPr>
        <p:spPr>
          <a:xfrm>
            <a:off x="5742432" y="2478024"/>
            <a:ext cx="292608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STAGING: cleaned / conformed</a:t>
            </a:r>
          </a:p>
        </p:txBody>
      </p:sp>
      <p:sp>
        <p:nvSpPr>
          <p:cNvPr id="19" name="Rounded Rectangle 18"/>
          <p:cNvSpPr/>
          <p:nvPr/>
        </p:nvSpPr>
        <p:spPr>
          <a:xfrm>
            <a:off x="5742432" y="3136391"/>
            <a:ext cx="292608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 domain, business-ready</a:t>
            </a:r>
          </a:p>
        </p:txBody>
      </p:sp>
      <p:sp>
        <p:nvSpPr>
          <p:cNvPr id="20" name="Rounded Rectangle 19"/>
          <p:cNvSpPr/>
          <p:nvPr/>
        </p:nvSpPr>
        <p:spPr>
          <a:xfrm>
            <a:off x="5742432" y="3794760"/>
            <a:ext cx="2926080" cy="530352"/>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SANDBOX: analyst scratch</a:t>
            </a:r>
          </a:p>
        </p:txBody>
      </p:sp>
      <p:sp>
        <p:nvSpPr>
          <p:cNvPr id="21" name="TextBox 20"/>
          <p:cNvSpPr txBox="1"/>
          <p:nvPr/>
        </p:nvSpPr>
        <p:spPr>
          <a:xfrm>
            <a:off x="5742432" y="4361688"/>
            <a:ext cx="2926080" cy="365760"/>
          </a:xfrm>
          <a:prstGeom prst="rect">
            <a:avLst/>
          </a:prstGeom>
          <a:noFill/>
        </p:spPr>
        <p:txBody>
          <a:bodyPr wrap="square" lIns="36576" rIns="36576" tIns="18288" bIns="18288">
            <a:spAutoFit/>
          </a:bodyPr>
          <a:lstStyle/>
          <a:p>
            <a:pPr algn="ctr"/>
            <a:r>
              <a:rPr sz="900" i="1">
                <a:solidFill>
                  <a:srgbClr val="3B34B8"/>
                </a:solidFill>
                <a:latin typeface="Segoe UI"/>
              </a:rPr>
              <a:t>dbt transforms &amp; tests RAW→STAGING→MARTS</a:t>
            </a:r>
          </a:p>
        </p:txBody>
      </p:sp>
      <p:sp>
        <p:nvSpPr>
          <p:cNvPr id="22" name="TextBox 21"/>
          <p:cNvSpPr txBox="1"/>
          <p:nvPr/>
        </p:nvSpPr>
        <p:spPr>
          <a:xfrm>
            <a:off x="9189720" y="1307592"/>
            <a:ext cx="2468880" cy="274320"/>
          </a:xfrm>
          <a:prstGeom prst="rect">
            <a:avLst/>
          </a:prstGeom>
          <a:noFill/>
        </p:spPr>
        <p:txBody>
          <a:bodyPr wrap="square" lIns="36576" rIns="36576" tIns="18288" bIns="18288">
            <a:spAutoFit/>
          </a:bodyPr>
          <a:lstStyle/>
          <a:p>
            <a:pPr algn="ctr"/>
            <a:r>
              <a:rPr sz="1000" b="1">
                <a:solidFill>
                  <a:srgbClr val="3B34B8"/>
                </a:solidFill>
                <a:latin typeface="Segoe UI"/>
              </a:rPr>
              <a:t>CONSUMERS</a:t>
            </a:r>
          </a:p>
        </p:txBody>
      </p:sp>
      <p:sp>
        <p:nvSpPr>
          <p:cNvPr id="23" name="Rounded Rectangle 22"/>
          <p:cNvSpPr/>
          <p:nvPr/>
        </p:nvSpPr>
        <p:spPr>
          <a:xfrm>
            <a:off x="9189720" y="1920240"/>
            <a:ext cx="2468880" cy="65836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FFFFFF"/>
                </a:solidFill>
                <a:latin typeface="Segoe UI"/>
              </a:rPr>
              <a:t>BI &amp; Dashboards</a:t>
            </a:r>
          </a:p>
        </p:txBody>
      </p:sp>
      <p:sp>
        <p:nvSpPr>
          <p:cNvPr id="24" name="Rounded Rectangle 23"/>
          <p:cNvSpPr/>
          <p:nvPr/>
        </p:nvSpPr>
        <p:spPr>
          <a:xfrm>
            <a:off x="9189720" y="2788920"/>
            <a:ext cx="2468880" cy="65836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AI / ML  ·  LLM + RAG</a:t>
            </a:r>
          </a:p>
        </p:txBody>
      </p:sp>
      <p:sp>
        <p:nvSpPr>
          <p:cNvPr id="25" name="Rounded Rectangle 24"/>
          <p:cNvSpPr/>
          <p:nvPr/>
        </p:nvSpPr>
        <p:spPr>
          <a:xfrm>
            <a:off x="9189720" y="3657600"/>
            <a:ext cx="2468880" cy="65836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FFFFFF"/>
                </a:solidFill>
                <a:latin typeface="Segoe UI"/>
              </a:rPr>
              <a:t>Reverse ETL → apps</a:t>
            </a:r>
          </a:p>
        </p:txBody>
      </p:sp>
      <p:sp>
        <p:nvSpPr>
          <p:cNvPr id="26" name="Right Arrow 25"/>
          <p:cNvSpPr/>
          <p:nvPr/>
        </p:nvSpPr>
        <p:spPr>
          <a:xfrm>
            <a:off x="258775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519379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889711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02920" y="5074920"/>
            <a:ext cx="11137392" cy="566928"/>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Segoe UI"/>
              </a:rPr>
              <a:t>FOUNDATION   ·   Terraform (IaC)   ·   RBAC + Dynamic Masking   ·   Observability &amp; Data SLAs   ·   CI/CD</a:t>
            </a:r>
          </a:p>
        </p:txBody>
      </p:sp>
      <p:sp>
        <p:nvSpPr>
          <p:cNvPr id="30" name="TextBox 2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31" name="TextBox 3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Ingestion: buy vs. build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graphicFrame>
        <p:nvGraphicFramePr>
          <p:cNvPr id="6" name="Table 5"/>
          <p:cNvGraphicFramePr>
            <a:graphicFrameLocks noGrp="1"/>
          </p:cNvGraphicFramePr>
          <p:nvPr/>
        </p:nvGraphicFramePr>
        <p:xfrm>
          <a:off x="548640" y="1371600"/>
          <a:ext cx="11091672" cy="3858768"/>
        </p:xfrm>
        <a:graphic>
          <a:graphicData uri="http://schemas.openxmlformats.org/drawingml/2006/table">
            <a:tbl>
              <a:tblPr firstRow="1" bandRow="1">
                <a:tableStyleId>{5C22544A-7EE6-4342-B048-85BDC9FD1C3A}</a:tableStyleId>
              </a:tblPr>
              <a:tblGrid>
                <a:gridCol w="2103120"/>
                <a:gridCol w="4206240"/>
                <a:gridCol w="4782312"/>
              </a:tblGrid>
              <a:tr h="566928">
                <a:tc>
                  <a:txBody>
                    <a:bodyPr/>
                    <a:lstStyle/>
                    <a:p>
                      <a:r>
                        <a:rPr sz="1400" b="1">
                          <a:solidFill>
                            <a:srgbClr val="FFFFFF"/>
                          </a:solidFill>
                          <a:latin typeface="Segoe UI"/>
                        </a:rPr>
                        <a:t>Dimension</a:t>
                      </a:r>
                    </a:p>
                  </a:txBody>
                  <a:tcPr anchor="ctr" marL="109728" marR="73152">
                    <a:solidFill>
                      <a:srgbClr val="191552"/>
                    </a:solidFill>
                  </a:tcPr>
                </a:tc>
                <a:tc>
                  <a:txBody>
                    <a:bodyPr/>
                    <a:lstStyle/>
                    <a:p>
                      <a:r>
                        <a:rPr sz="1400" b="1">
                          <a:solidFill>
                            <a:srgbClr val="FFFFFF"/>
                          </a:solidFill>
                          <a:latin typeface="Segoe UI"/>
                        </a:rPr>
                        <a:t>Fivetran  (buy)</a:t>
                      </a:r>
                    </a:p>
                  </a:txBody>
                  <a:tcPr anchor="ctr" marL="109728" marR="73152">
                    <a:solidFill>
                      <a:srgbClr val="191552"/>
                    </a:solidFill>
                  </a:tcPr>
                </a:tc>
                <a:tc>
                  <a:txBody>
                    <a:bodyPr/>
                    <a:lstStyle/>
                    <a:p>
                      <a:r>
                        <a:rPr sz="1400" b="1">
                          <a:solidFill>
                            <a:srgbClr val="FFFFFF"/>
                          </a:solidFill>
                          <a:latin typeface="Segoe UI"/>
                        </a:rPr>
                        <a:t>Custom Python on AWS  (build)</a:t>
                      </a:r>
                    </a:p>
                  </a:txBody>
                  <a:tcPr anchor="ctr" marL="109728" marR="73152">
                    <a:solidFill>
                      <a:srgbClr val="191552"/>
                    </a:solidFill>
                  </a:tcPr>
                </a:tc>
              </a:tr>
              <a:tr h="548640">
                <a:tc>
                  <a:txBody>
                    <a:bodyPr/>
                    <a:lstStyle/>
                    <a:p>
                      <a:r>
                        <a:rPr sz="1250" b="1">
                          <a:solidFill>
                            <a:srgbClr val="3B34B8"/>
                          </a:solidFill>
                          <a:latin typeface="Segoe UI"/>
                        </a:rPr>
                        <a:t>Best for</a:t>
                      </a:r>
                    </a:p>
                  </a:txBody>
                  <a:tcPr anchor="ctr" marL="109728" marR="73152">
                    <a:solidFill>
                      <a:srgbClr val="FFFFFF"/>
                    </a:solidFill>
                  </a:tcPr>
                </a:tc>
                <a:tc>
                  <a:txBody>
                    <a:bodyPr/>
                    <a:lstStyle/>
                    <a:p>
                      <a:r>
                        <a:rPr sz="1250">
                          <a:solidFill>
                            <a:srgbClr val="E08A2B"/>
                          </a:solidFill>
                          <a:latin typeface="Segoe UI"/>
                        </a:rPr>
                        <a:t>Connectorized SaaS sources</a:t>
                      </a:r>
                    </a:p>
                  </a:txBody>
                  <a:tcPr anchor="ctr" marL="109728" marR="73152">
                    <a:solidFill>
                      <a:srgbClr val="FFFFFF"/>
                    </a:solidFill>
                  </a:tcPr>
                </a:tc>
                <a:tc>
                  <a:txBody>
                    <a:bodyPr/>
                    <a:lstStyle/>
                    <a:p>
                      <a:r>
                        <a:rPr sz="1250">
                          <a:solidFill>
                            <a:srgbClr val="2EA074"/>
                          </a:solidFill>
                          <a:latin typeface="Segoe UI"/>
                        </a:rPr>
                        <a:t>High-volume / bespoke sources, no connector</a:t>
                      </a:r>
                    </a:p>
                  </a:txBody>
                  <a:tcPr anchor="ctr" marL="109728" marR="73152">
                    <a:solidFill>
                      <a:srgbClr val="FFFFFF"/>
                    </a:solidFill>
                  </a:tcPr>
                </a:tc>
              </a:tr>
              <a:tr h="548640">
                <a:tc>
                  <a:txBody>
                    <a:bodyPr/>
                    <a:lstStyle/>
                    <a:p>
                      <a:r>
                        <a:rPr sz="1250" b="1">
                          <a:solidFill>
                            <a:srgbClr val="3B34B8"/>
                          </a:solidFill>
                          <a:latin typeface="Segoe UI"/>
                        </a:rPr>
                        <a:t>Examples</a:t>
                      </a:r>
                    </a:p>
                  </a:txBody>
                  <a:tcPr anchor="ctr" marL="109728" marR="73152">
                    <a:solidFill>
                      <a:srgbClr val="F5F5FC"/>
                    </a:solidFill>
                  </a:tcPr>
                </a:tc>
                <a:tc>
                  <a:txBody>
                    <a:bodyPr/>
                    <a:lstStyle/>
                    <a:p>
                      <a:r>
                        <a:rPr sz="1250">
                          <a:solidFill>
                            <a:srgbClr val="E08A2B"/>
                          </a:solidFill>
                          <a:latin typeface="Segoe UI"/>
                        </a:rPr>
                        <a:t>Salesforce, NetSuite, Workday, Marketo</a:t>
                      </a:r>
                    </a:p>
                  </a:txBody>
                  <a:tcPr anchor="ctr" marL="109728" marR="73152">
                    <a:solidFill>
                      <a:srgbClr val="F5F5FC"/>
                    </a:solidFill>
                  </a:tcPr>
                </a:tc>
                <a:tc>
                  <a:txBody>
                    <a:bodyPr/>
                    <a:lstStyle/>
                    <a:p>
                      <a:r>
                        <a:rPr sz="1250">
                          <a:solidFill>
                            <a:srgbClr val="2EA074"/>
                          </a:solidFill>
                          <a:latin typeface="Segoe UI"/>
                        </a:rPr>
                        <a:t>Product telemetry, operational APIs</a:t>
                      </a:r>
                    </a:p>
                  </a:txBody>
                  <a:tcPr anchor="ctr" marL="109728" marR="73152">
                    <a:solidFill>
                      <a:srgbClr val="F5F5FC"/>
                    </a:solidFill>
                  </a:tcPr>
                </a:tc>
              </a:tr>
              <a:tr h="548640">
                <a:tc>
                  <a:txBody>
                    <a:bodyPr/>
                    <a:lstStyle/>
                    <a:p>
                      <a:r>
                        <a:rPr sz="1250" b="1">
                          <a:solidFill>
                            <a:srgbClr val="3B34B8"/>
                          </a:solidFill>
                          <a:latin typeface="Segoe UI"/>
                        </a:rPr>
                        <a:t>Schema drift</a:t>
                      </a:r>
                    </a:p>
                  </a:txBody>
                  <a:tcPr anchor="ctr" marL="109728" marR="73152">
                    <a:solidFill>
                      <a:srgbClr val="FFFFFF"/>
                    </a:solidFill>
                  </a:tcPr>
                </a:tc>
                <a:tc>
                  <a:txBody>
                    <a:bodyPr/>
                    <a:lstStyle/>
                    <a:p>
                      <a:r>
                        <a:rPr sz="1250">
                          <a:solidFill>
                            <a:srgbClr val="E08A2B"/>
                          </a:solidFill>
                          <a:latin typeface="Segoe UI"/>
                        </a:rPr>
                        <a:t>Schema-on-write, auto-evolves its tables</a:t>
                      </a:r>
                    </a:p>
                  </a:txBody>
                  <a:tcPr anchor="ctr" marL="109728" marR="73152">
                    <a:solidFill>
                      <a:srgbClr val="FFFFFF"/>
                    </a:solidFill>
                  </a:tcPr>
                </a:tc>
                <a:tc>
                  <a:txBody>
                    <a:bodyPr/>
                    <a:lstStyle/>
                    <a:p>
                      <a:r>
                        <a:rPr sz="1250">
                          <a:solidFill>
                            <a:srgbClr val="2EA074"/>
                          </a:solidFill>
                          <a:latin typeface="Segoe UI"/>
                        </a:rPr>
                        <a:t>Schema-on-read, VARIANT + contracts</a:t>
                      </a:r>
                    </a:p>
                  </a:txBody>
                  <a:tcPr anchor="ctr" marL="109728" marR="73152">
                    <a:solidFill>
                      <a:srgbClr val="FFFFFF"/>
                    </a:solidFill>
                  </a:tcPr>
                </a:tc>
              </a:tr>
              <a:tr h="548640">
                <a:tc>
                  <a:txBody>
                    <a:bodyPr/>
                    <a:lstStyle/>
                    <a:p>
                      <a:r>
                        <a:rPr sz="1250" b="1">
                          <a:solidFill>
                            <a:srgbClr val="3B34B8"/>
                          </a:solidFill>
                          <a:latin typeface="Segoe UI"/>
                        </a:rPr>
                        <a:t>Latency</a:t>
                      </a:r>
                    </a:p>
                  </a:txBody>
                  <a:tcPr anchor="ctr" marL="109728" marR="73152">
                    <a:solidFill>
                      <a:srgbClr val="F5F5FC"/>
                    </a:solidFill>
                  </a:tcPr>
                </a:tc>
                <a:tc>
                  <a:txBody>
                    <a:bodyPr/>
                    <a:lstStyle/>
                    <a:p>
                      <a:r>
                        <a:rPr sz="1250">
                          <a:solidFill>
                            <a:srgbClr val="E08A2B"/>
                          </a:solidFill>
                          <a:latin typeface="Segoe UI"/>
                        </a:rPr>
                        <a:t>Scheduled batch</a:t>
                      </a:r>
                    </a:p>
                  </a:txBody>
                  <a:tcPr anchor="ctr" marL="109728" marR="73152">
                    <a:solidFill>
                      <a:srgbClr val="F5F5FC"/>
                    </a:solidFill>
                  </a:tcPr>
                </a:tc>
                <a:tc>
                  <a:txBody>
                    <a:bodyPr/>
                    <a:lstStyle/>
                    <a:p>
                      <a:r>
                        <a:rPr sz="1250">
                          <a:solidFill>
                            <a:srgbClr val="2EA074"/>
                          </a:solidFill>
                          <a:latin typeface="Segoe UI"/>
                        </a:rPr>
                        <a:t>Near-real-time, S3 event → Lambda</a:t>
                      </a:r>
                    </a:p>
                  </a:txBody>
                  <a:tcPr anchor="ctr" marL="109728" marR="73152">
                    <a:solidFill>
                      <a:srgbClr val="F5F5FC"/>
                    </a:solidFill>
                  </a:tcPr>
                </a:tc>
              </a:tr>
              <a:tr h="548640">
                <a:tc>
                  <a:txBody>
                    <a:bodyPr/>
                    <a:lstStyle/>
                    <a:p>
                      <a:r>
                        <a:rPr sz="1250" b="1">
                          <a:solidFill>
                            <a:srgbClr val="3B34B8"/>
                          </a:solidFill>
                          <a:latin typeface="Segoe UI"/>
                        </a:rPr>
                        <a:t>Control</a:t>
                      </a:r>
                    </a:p>
                  </a:txBody>
                  <a:tcPr anchor="ctr" marL="109728" marR="73152">
                    <a:solidFill>
                      <a:srgbClr val="FFFFFF"/>
                    </a:solidFill>
                  </a:tcPr>
                </a:tc>
                <a:tc>
                  <a:txBody>
                    <a:bodyPr/>
                    <a:lstStyle/>
                    <a:p>
                      <a:r>
                        <a:rPr sz="1250">
                          <a:solidFill>
                            <a:srgbClr val="E08A2B"/>
                          </a:solidFill>
                          <a:latin typeface="Segoe UI"/>
                        </a:rPr>
                        <a:t>Low (fully managed)</a:t>
                      </a:r>
                    </a:p>
                  </a:txBody>
                  <a:tcPr anchor="ctr" marL="109728" marR="73152">
                    <a:solidFill>
                      <a:srgbClr val="FFFFFF"/>
                    </a:solidFill>
                  </a:tcPr>
                </a:tc>
                <a:tc>
                  <a:txBody>
                    <a:bodyPr/>
                    <a:lstStyle/>
                    <a:p>
                      <a:r>
                        <a:rPr sz="1250">
                          <a:solidFill>
                            <a:srgbClr val="2EA074"/>
                          </a:solidFill>
                          <a:latin typeface="Segoe UI"/>
                        </a:rPr>
                        <a:t>Full, custom logic &amp; cost tuning</a:t>
                      </a:r>
                    </a:p>
                  </a:txBody>
                  <a:tcPr anchor="ctr" marL="109728" marR="73152">
                    <a:solidFill>
                      <a:srgbClr val="FFFFFF"/>
                    </a:solidFill>
                  </a:tcPr>
                </a:tc>
              </a:tr>
              <a:tr h="548640">
                <a:tc>
                  <a:txBody>
                    <a:bodyPr/>
                    <a:lstStyle/>
                    <a:p>
                      <a:r>
                        <a:rPr sz="1250" b="1">
                          <a:solidFill>
                            <a:srgbClr val="3B34B8"/>
                          </a:solidFill>
                          <a:latin typeface="Segoe UI"/>
                        </a:rPr>
                        <a:t>Cost model</a:t>
                      </a:r>
                    </a:p>
                  </a:txBody>
                  <a:tcPr anchor="ctr" marL="109728" marR="73152">
                    <a:solidFill>
                      <a:srgbClr val="F5F5FC"/>
                    </a:solidFill>
                  </a:tcPr>
                </a:tc>
                <a:tc>
                  <a:txBody>
                    <a:bodyPr/>
                    <a:lstStyle/>
                    <a:p>
                      <a:r>
                        <a:rPr sz="1250">
                          <a:solidFill>
                            <a:srgbClr val="E08A2B"/>
                          </a:solidFill>
                          <a:latin typeface="Segoe UI"/>
                        </a:rPr>
                        <a:t>Per-MAR (rows synced)</a:t>
                      </a:r>
                    </a:p>
                  </a:txBody>
                  <a:tcPr anchor="ctr" marL="109728" marR="73152">
                    <a:solidFill>
                      <a:srgbClr val="F5F5FC"/>
                    </a:solidFill>
                  </a:tcPr>
                </a:tc>
                <a:tc>
                  <a:txBody>
                    <a:bodyPr/>
                    <a:lstStyle/>
                    <a:p>
                      <a:r>
                        <a:rPr sz="1250">
                          <a:solidFill>
                            <a:srgbClr val="2EA074"/>
                          </a:solidFill>
                          <a:latin typeface="Segoe UI"/>
                        </a:rPr>
                        <a:t>Compute, S3 / Lambda / warehouse</a:t>
                      </a:r>
                    </a:p>
                  </a:txBody>
                  <a:tcPr anchor="ctr" marL="109728" marR="73152">
                    <a:solidFill>
                      <a:srgbClr val="F5F5FC"/>
                    </a:solidFill>
                  </a:tcPr>
                </a:tc>
              </a:tr>
            </a:tbl>
          </a:graphicData>
        </a:graphic>
      </p:graphicFrame>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Buy the commodity (SaaS connectors), build the differentiator (telemetry scale, cost, custom logic).</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Schema drift when objects ship via CI/CD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Two schemas, two rules:   </a:t>
            </a:r>
            <a:r>
              <a:rPr sz="1650">
                <a:solidFill>
                  <a:srgbClr val="1B1B33"/>
                </a:solidFill>
                <a:latin typeface="Segoe UI"/>
              </a:rPr>
              <a:t>The upstream source shape is uncontrolled; our deployed objects change only through reviewed PRs.</a:t>
            </a:r>
          </a:p>
          <a:p>
            <a:pPr>
              <a:lnSpc>
                <a:spcPct val="107000"/>
              </a:lnSpc>
              <a:spcAft>
                <a:spcPts val="800"/>
              </a:spcAft>
            </a:pPr>
            <a:r>
              <a:rPr sz="1650">
                <a:solidFill>
                  <a:srgbClr val="4A3FFF"/>
                </a:solidFill>
                <a:latin typeface="Segoe UI"/>
              </a:rPr>
              <a:t>▸  </a:t>
            </a:r>
            <a:r>
              <a:rPr b="1" sz="1650">
                <a:solidFill>
                  <a:srgbClr val="1B1B33"/>
                </a:solidFill>
                <a:latin typeface="Segoe UI"/>
              </a:rPr>
              <a:t>Custom path, schema-on-read:   </a:t>
            </a:r>
            <a:r>
              <a:rPr sz="1650">
                <a:solidFill>
                  <a:srgbClr val="1B1B33"/>
                </a:solidFill>
                <a:latin typeface="Segoe UI"/>
              </a:rPr>
              <a:t>RAW lands each record as a VARIANT; a new source field needs zero DDL, zero deploy, typed at read time in dbt.</a:t>
            </a:r>
          </a:p>
          <a:p>
            <a:pPr>
              <a:lnSpc>
                <a:spcPct val="107000"/>
              </a:lnSpc>
              <a:spcAft>
                <a:spcPts val="800"/>
              </a:spcAft>
            </a:pPr>
            <a:r>
              <a:rPr sz="1650">
                <a:solidFill>
                  <a:srgbClr val="4A3FFF"/>
                </a:solidFill>
                <a:latin typeface="Segoe UI"/>
              </a:rPr>
              <a:t>▸  </a:t>
            </a:r>
            <a:r>
              <a:rPr b="1" sz="1650">
                <a:solidFill>
                  <a:srgbClr val="1B1B33"/>
                </a:solidFill>
                <a:latin typeface="Segoe UI"/>
              </a:rPr>
              <a:t>Detect, don't auto-alter:   </a:t>
            </a:r>
            <a:r>
              <a:rPr sz="1650">
                <a:solidFill>
                  <a:srgbClr val="1B1B33"/>
                </a:solidFill>
                <a:latin typeface="Segoe UI"/>
              </a:rPr>
              <a:t>Compare the payload to a registered contract, additive → log + surface; breaking → alert + quarantine. CI/CD never mutates a live table from drift.</a:t>
            </a:r>
          </a:p>
          <a:p>
            <a:pPr>
              <a:lnSpc>
                <a:spcPct val="107000"/>
              </a:lnSpc>
              <a:spcAft>
                <a:spcPts val="800"/>
              </a:spcAft>
            </a:pPr>
            <a:r>
              <a:rPr sz="1650">
                <a:solidFill>
                  <a:srgbClr val="4A3FFF"/>
                </a:solidFill>
                <a:latin typeface="Segoe UI"/>
              </a:rPr>
              <a:t>▸  </a:t>
            </a:r>
            <a:r>
              <a:rPr b="1" sz="1650">
                <a:solidFill>
                  <a:srgbClr val="1B1B33"/>
                </a:solidFill>
                <a:latin typeface="Segoe UI"/>
              </a:rPr>
              <a:t>Promote a field = a pull request:   </a:t>
            </a:r>
            <a:r>
              <a:rPr sz="1650">
                <a:solidFill>
                  <a:srgbClr val="1B1B33"/>
                </a:solidFill>
                <a:latin typeface="Segoe UI"/>
              </a:rPr>
              <a:t>Expose it by adding one typed column in dbt; CI runs contracts + tests; review + merge deploys it.</a:t>
            </a:r>
          </a:p>
          <a:p>
            <a:pPr>
              <a:lnSpc>
                <a:spcPct val="107000"/>
              </a:lnSpc>
              <a:spcAft>
                <a:spcPts val="800"/>
              </a:spcAft>
            </a:pPr>
            <a:r>
              <a:rPr sz="1650">
                <a:solidFill>
                  <a:srgbClr val="4A3FFF"/>
                </a:solidFill>
                <a:latin typeface="Segoe UI"/>
              </a:rPr>
              <a:t>▸  </a:t>
            </a:r>
            <a:r>
              <a:rPr b="1" sz="1650">
                <a:solidFill>
                  <a:srgbClr val="1B1B33"/>
                </a:solidFill>
                <a:latin typeface="Segoe UI"/>
              </a:rPr>
              <a:t>Fivetran, schema-on-write:   </a:t>
            </a:r>
            <a:r>
              <a:rPr sz="1650">
                <a:solidFill>
                  <a:srgbClr val="1B1B33"/>
                </a:solidFill>
                <a:latin typeface="Segoe UI"/>
              </a:rPr>
              <a:t>It types columns and ALTERs its own RAW tables on drift; the dbt source contract + tests are our CI tripwire one layer down(If needed).</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drift: land loose, type in a PR</a:t>
            </a:r>
          </a:p>
          <a:p>
            <a:pPr>
              <a:lnSpc>
                <a:spcPct val="100000"/>
              </a:lnSpc>
              <a:spcAft>
                <a:spcPts val="100"/>
              </a:spcAft>
            </a:pPr>
            <a:r>
              <a:rPr sz="1000">
                <a:solidFill>
                  <a:srgbClr val="8ED6B0"/>
                </a:solidFill>
                <a:latin typeface="Consolas"/>
              </a:rPr>
              <a:t>-- RAW - schema-on-read (stable DDL)</a:t>
            </a:r>
          </a:p>
          <a:p>
            <a:pPr>
              <a:lnSpc>
                <a:spcPct val="100000"/>
              </a:lnSpc>
              <a:spcAft>
                <a:spcPts val="100"/>
              </a:spcAft>
            </a:pPr>
            <a:r>
              <a:rPr sz="1000">
                <a:solidFill>
                  <a:srgbClr val="E6E9F5"/>
                </a:solidFill>
                <a:latin typeface="Consolas"/>
              </a:rPr>
              <a:t>CREATE OR ALTER TABLE</a:t>
            </a:r>
          </a:p>
          <a:p>
            <a:pPr>
              <a:lnSpc>
                <a:spcPct val="100000"/>
              </a:lnSpc>
              <a:spcAft>
                <a:spcPts val="100"/>
              </a:spcAft>
            </a:pPr>
            <a:r>
              <a:rPr sz="1000">
                <a:solidFill>
                  <a:srgbClr val="E6E9F5"/>
                </a:solidFill>
                <a:latin typeface="Consolas"/>
              </a:rPr>
              <a:t>  raw.product_events.page_views (</a:t>
            </a:r>
          </a:p>
          <a:p>
            <a:pPr>
              <a:lnSpc>
                <a:spcPct val="100000"/>
              </a:lnSpc>
              <a:spcAft>
                <a:spcPts val="100"/>
              </a:spcAft>
            </a:pPr>
            <a:r>
              <a:rPr sz="1000">
                <a:solidFill>
                  <a:srgbClr val="E6E9F5"/>
                </a:solidFill>
                <a:latin typeface="Consolas"/>
              </a:rPr>
              <a:t>  event_id  STRING,   </a:t>
            </a:r>
            <a:r>
              <a:rPr sz="1000">
                <a:solidFill>
                  <a:srgbClr val="8ED6B0"/>
                </a:solidFill>
                <a:latin typeface="Consolas"/>
              </a:rPr>
              <a:t>-- promoted key</a:t>
            </a:r>
          </a:p>
          <a:p>
            <a:pPr>
              <a:lnSpc>
                <a:spcPct val="100000"/>
              </a:lnSpc>
              <a:spcAft>
                <a:spcPts val="100"/>
              </a:spcAft>
            </a:pPr>
            <a:r>
              <a:rPr sz="1000">
                <a:solidFill>
                  <a:srgbClr val="E6E9F5"/>
                </a:solidFill>
                <a:latin typeface="Consolas"/>
              </a:rPr>
              <a:t>  loaded_at TIMESTAMP_NTZ,</a:t>
            </a:r>
          </a:p>
          <a:p>
            <a:pPr>
              <a:lnSpc>
                <a:spcPct val="100000"/>
              </a:lnSpc>
              <a:spcAft>
                <a:spcPts val="100"/>
              </a:spcAft>
            </a:pPr>
            <a:r>
              <a:rPr sz="1000">
                <a:solidFill>
                  <a:srgbClr val="E6E9F5"/>
                </a:solidFill>
                <a:latin typeface="Consolas"/>
              </a:rPr>
              <a:t>  _filename STRING,</a:t>
            </a:r>
          </a:p>
          <a:p>
            <a:pPr>
              <a:lnSpc>
                <a:spcPct val="100000"/>
              </a:lnSpc>
              <a:spcAft>
                <a:spcPts val="100"/>
              </a:spcAft>
            </a:pPr>
            <a:r>
              <a:rPr sz="1000">
                <a:solidFill>
                  <a:srgbClr val="E6E9F5"/>
                </a:solidFill>
                <a:latin typeface="Consolas"/>
              </a:rPr>
              <a:t>  payload   VARIANT   </a:t>
            </a:r>
            <a:r>
              <a:rPr sz="1000">
                <a:solidFill>
                  <a:srgbClr val="8ED6B0"/>
                </a:solidFill>
                <a:latin typeface="Consolas"/>
              </a:rPr>
              <a:t>-- new fields</a:t>
            </a:r>
          </a:p>
          <a:p>
            <a:pPr>
              <a:lnSpc>
                <a:spcPct val="100000"/>
              </a:lnSpc>
              <a:spcAft>
                <a:spcPts val="100"/>
              </a:spcAft>
            </a:pPr>
            <a:r>
              <a:rPr sz="1000">
                <a:solidFill>
                  <a:srgbClr val="E6E9F5"/>
                </a:solidFill>
                <a:latin typeface="Consolas"/>
              </a:rPr>
              <a:t>);                    </a:t>
            </a:r>
            <a:r>
              <a:rPr sz="1000">
                <a:solidFill>
                  <a:srgbClr val="8ED6B0"/>
                </a:solidFill>
                <a:latin typeface="Consolas"/>
              </a:rPr>
              <a:t>-- land here, no PR</a:t>
            </a:r>
          </a:p>
          <a:p>
            <a:pPr>
              <a:lnSpc>
                <a:spcPct val="100000"/>
              </a:lnSpc>
              <a:spcAft>
                <a:spcPts val="100"/>
              </a:spcAft>
            </a:pPr>
          </a:p>
          <a:p>
            <a:pPr>
              <a:lnSpc>
                <a:spcPct val="100000"/>
              </a:lnSpc>
              <a:spcAft>
                <a:spcPts val="100"/>
              </a:spcAft>
            </a:pPr>
            <a:r>
              <a:rPr sz="1000">
                <a:solidFill>
                  <a:srgbClr val="8ED6B0"/>
                </a:solidFill>
                <a:latin typeface="Consolas"/>
              </a:rPr>
              <a:t>-- STAGING (dbt) - type late</a:t>
            </a:r>
          </a:p>
          <a:p>
            <a:pPr>
              <a:lnSpc>
                <a:spcPct val="100000"/>
              </a:lnSpc>
              <a:spcAft>
                <a:spcPts val="100"/>
              </a:spcAft>
            </a:pPr>
            <a:r>
              <a:rPr sz="1000">
                <a:solidFill>
                  <a:srgbClr val="E6E9F5"/>
                </a:solidFill>
                <a:latin typeface="Consolas"/>
              </a:rPr>
              <a:t>SELECT</a:t>
            </a:r>
          </a:p>
          <a:p>
            <a:pPr>
              <a:lnSpc>
                <a:spcPct val="100000"/>
              </a:lnSpc>
              <a:spcAft>
                <a:spcPts val="100"/>
              </a:spcAft>
            </a:pPr>
            <a:r>
              <a:rPr sz="1000">
                <a:solidFill>
                  <a:srgbClr val="E6E9F5"/>
                </a:solidFill>
                <a:latin typeface="Consolas"/>
              </a:rPr>
              <a:t> payload:event_id::string  AS event_id,</a:t>
            </a:r>
          </a:p>
          <a:p>
            <a:pPr>
              <a:lnSpc>
                <a:spcPct val="100000"/>
              </a:lnSpc>
              <a:spcAft>
                <a:spcPts val="100"/>
              </a:spcAft>
            </a:pPr>
            <a:r>
              <a:rPr sz="1000">
                <a:solidFill>
                  <a:srgbClr val="E6E9F5"/>
                </a:solidFill>
                <a:latin typeface="Consolas"/>
              </a:rPr>
              <a:t> payload:properties.duration_ms::int</a:t>
            </a:r>
          </a:p>
          <a:p>
            <a:pPr>
              <a:lnSpc>
                <a:spcPct val="100000"/>
              </a:lnSpc>
              <a:spcAft>
                <a:spcPts val="100"/>
              </a:spcAft>
            </a:pPr>
            <a:r>
              <a:rPr sz="1000">
                <a:solidFill>
                  <a:srgbClr val="E6E9F5"/>
                </a:solidFill>
                <a:latin typeface="Consolas"/>
              </a:rPr>
              <a:t>                           AS duration_ms</a:t>
            </a:r>
          </a:p>
          <a:p>
            <a:pPr>
              <a:lnSpc>
                <a:spcPct val="100000"/>
              </a:lnSpc>
              <a:spcAft>
                <a:spcPts val="100"/>
              </a:spcAft>
            </a:pPr>
            <a:r>
              <a:rPr sz="1000">
                <a:solidFill>
                  <a:srgbClr val="E6E9F5"/>
                </a:solidFill>
                <a:latin typeface="Consolas"/>
              </a:rPr>
              <a:t>FROM {{ source('product_events',</a:t>
            </a:r>
          </a:p>
          <a:p>
            <a:pPr>
              <a:lnSpc>
                <a:spcPct val="100000"/>
              </a:lnSpc>
              <a:spcAft>
                <a:spcPts val="100"/>
              </a:spcAft>
            </a:pPr>
            <a:r>
              <a:rPr sz="1000">
                <a:solidFill>
                  <a:srgbClr val="E6E9F5"/>
                </a:solidFill>
                <a:latin typeface="Consolas"/>
              </a:rPr>
              <a:t>               'page_views') }}</a:t>
            </a:r>
          </a:p>
          <a:p>
            <a:pPr>
              <a:lnSpc>
                <a:spcPct val="100000"/>
              </a:lnSpc>
              <a:spcAft>
                <a:spcPts val="100"/>
              </a:spcAft>
            </a:pPr>
            <a:r>
              <a:rPr sz="1000">
                <a:solidFill>
                  <a:srgbClr val="8ED6B0"/>
                </a:solidFill>
                <a:latin typeface="Consolas"/>
              </a:rPr>
              <a:t>-- expose a field = one line, via PR</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Upstream drift lands safely in VARIANT; the deployed schema changes only through a reviewed, tested PR, drift is a blocking CI signal, not silent breakage.</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Reliable landing in Snowflake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417320"/>
            <a:ext cx="10972800" cy="402336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Partitioned landing zone:   </a:t>
            </a:r>
            <a:r>
              <a:rPr sz="1800">
                <a:solidFill>
                  <a:srgbClr val="1B1B33"/>
                </a:solidFill>
                <a:latin typeface="Segoe UI"/>
              </a:rPr>
              <a:t>S3 keys as source/table/ingest_date=…, immutable, append-only, replayable.</a:t>
            </a:r>
          </a:p>
          <a:p>
            <a:pPr>
              <a:lnSpc>
                <a:spcPct val="107000"/>
              </a:lnSpc>
              <a:spcAft>
                <a:spcPts val="800"/>
              </a:spcAft>
            </a:pPr>
            <a:r>
              <a:rPr sz="1800">
                <a:solidFill>
                  <a:srgbClr val="4A3FFF"/>
                </a:solidFill>
                <a:latin typeface="Segoe UI"/>
              </a:rPr>
              <a:t>▸  </a:t>
            </a:r>
            <a:r>
              <a:rPr b="1" sz="1800">
                <a:solidFill>
                  <a:srgbClr val="1B1B33"/>
                </a:solidFill>
                <a:latin typeface="Segoe UI"/>
              </a:rPr>
              <a:t>File formats:   </a:t>
            </a:r>
            <a:r>
              <a:rPr sz="1800">
                <a:solidFill>
                  <a:srgbClr val="1B1B33"/>
                </a:solidFill>
                <a:latin typeface="Segoe UI"/>
              </a:rPr>
              <a:t>JSON → VARIANT for semi-structured; Parquet for large columnar; compressed; bounded file sizes.</a:t>
            </a:r>
          </a:p>
          <a:p>
            <a:pPr>
              <a:lnSpc>
                <a:spcPct val="107000"/>
              </a:lnSpc>
              <a:spcAft>
                <a:spcPts val="800"/>
              </a:spcAft>
            </a:pPr>
            <a:r>
              <a:rPr sz="1800">
                <a:solidFill>
                  <a:srgbClr val="4A3FFF"/>
                </a:solidFill>
                <a:latin typeface="Segoe UI"/>
              </a:rPr>
              <a:t>▸  </a:t>
            </a:r>
            <a:r>
              <a:rPr b="1" sz="1800">
                <a:solidFill>
                  <a:srgbClr val="1B1B33"/>
                </a:solidFill>
                <a:latin typeface="Segoe UI"/>
              </a:rPr>
              <a:t>Load path:   </a:t>
            </a:r>
            <a:r>
              <a:rPr sz="1800">
                <a:solidFill>
                  <a:srgbClr val="1B1B33"/>
                </a:solidFill>
                <a:latin typeface="Segoe UI"/>
              </a:rPr>
              <a:t>Capture METADATA$FILENAME for lineage.</a:t>
            </a:r>
          </a:p>
          <a:p>
            <a:pPr>
              <a:lnSpc>
                <a:spcPct val="107000"/>
              </a:lnSpc>
              <a:spcAft>
                <a:spcPts val="800"/>
              </a:spcAft>
            </a:pPr>
            <a:r>
              <a:rPr sz="1800">
                <a:solidFill>
                  <a:srgbClr val="4A3FFF"/>
                </a:solidFill>
                <a:latin typeface="Segoe UI"/>
              </a:rPr>
              <a:t>▸  </a:t>
            </a:r>
            <a:r>
              <a:rPr b="1" sz="1800">
                <a:solidFill>
                  <a:srgbClr val="1B1B33"/>
                </a:solidFill>
                <a:latin typeface="Segoe UI"/>
              </a:rPr>
              <a:t>Quality gates at load:   </a:t>
            </a:r>
            <a:r>
              <a:rPr sz="1800">
                <a:solidFill>
                  <a:srgbClr val="1B1B33"/>
                </a:solidFill>
                <a:latin typeface="Segoe UI"/>
              </a:rPr>
              <a:t>Validate required fields; bad rows → _QUARANTINE table; never fail the whole batch on one row.</a:t>
            </a:r>
          </a:p>
          <a:p>
            <a:pPr>
              <a:lnSpc>
                <a:spcPct val="107000"/>
              </a:lnSpc>
              <a:spcAft>
                <a:spcPts val="800"/>
              </a:spcAft>
            </a:pPr>
            <a:r>
              <a:rPr sz="1800">
                <a:solidFill>
                  <a:srgbClr val="4A3FFF"/>
                </a:solidFill>
                <a:latin typeface="Segoe UI"/>
              </a:rPr>
              <a:t>▸  </a:t>
            </a:r>
            <a:r>
              <a:rPr b="1" sz="1800">
                <a:solidFill>
                  <a:srgbClr val="1B1B33"/>
                </a:solidFill>
                <a:latin typeface="Segoe UI"/>
              </a:rPr>
              <a:t>Observability:   </a:t>
            </a:r>
            <a:r>
              <a:rPr sz="1800">
                <a:solidFill>
                  <a:srgbClr val="1B1B33"/>
                </a:solidFill>
                <a:latin typeface="Segoe UI"/>
              </a:rPr>
              <a:t>A _LOAD_LOG row per file, records processed, quarantined, load timestamp.</a:t>
            </a:r>
          </a:p>
          <a:p>
            <a:pPr>
              <a:lnSpc>
                <a:spcPct val="107000"/>
              </a:lnSpc>
              <a:spcAft>
                <a:spcPts val="800"/>
              </a:spcAft>
            </a:pPr>
            <a:r>
              <a:rPr sz="1800">
                <a:solidFill>
                  <a:srgbClr val="4A3FFF"/>
                </a:solidFill>
                <a:latin typeface="Segoe UI"/>
              </a:rPr>
              <a:t>▸  </a:t>
            </a:r>
            <a:r>
              <a:rPr b="1" sz="1800">
                <a:solidFill>
                  <a:srgbClr val="1B1B33"/>
                </a:solidFill>
                <a:latin typeface="Segoe UI"/>
              </a:rPr>
              <a:t>Idempotent:   </a:t>
            </a:r>
            <a:r>
              <a:rPr sz="1800">
                <a:solidFill>
                  <a:srgbClr val="1B1B33"/>
                </a:solidFill>
                <a:latin typeface="Segoe UI"/>
              </a:rPr>
              <a:t>Dedup on natural key so re-loading a file is a no-op.</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RAW is immutable truth, validate and quarantine at the door, log every load.</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Snowflake layer model &amp; environment strategy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Database-per-layer:   </a:t>
            </a:r>
            <a:r>
              <a:rPr sz="1800">
                <a:solidFill>
                  <a:srgbClr val="1B1B33"/>
                </a:solidFill>
                <a:latin typeface="Segoe UI"/>
              </a:rPr>
              <a:t>RAW → STAGING → MARTS → SANDBOX(Ideal); clear ownership and blast-radius per layer.</a:t>
            </a:r>
          </a:p>
          <a:p>
            <a:pPr>
              <a:lnSpc>
                <a:spcPct val="107000"/>
              </a:lnSpc>
              <a:spcAft>
                <a:spcPts val="300"/>
              </a:spcAft>
            </a:pPr>
            <a:r>
              <a:rPr sz="1500">
                <a:solidFill>
                  <a:srgbClr val="5C5B77"/>
                </a:solidFill>
                <a:latin typeface="Segoe UI"/>
              </a:rPr>
              <a:t>        ·  </a:t>
            </a:r>
            <a:r>
              <a:rPr b="1" sz="1500">
                <a:solidFill>
                  <a:srgbClr val="1B1B33"/>
                </a:solidFill>
                <a:latin typeface="Segoe UI"/>
              </a:rPr>
              <a:t>RAW   </a:t>
            </a:r>
            <a:r>
              <a:rPr sz="1500">
                <a:solidFill>
                  <a:srgbClr val="3E3D5C"/>
                </a:solidFill>
                <a:latin typeface="Segoe UI"/>
              </a:rPr>
              <a:t>Loader-owned, immutable, source-system schemas, no business logic.</a:t>
            </a:r>
          </a:p>
          <a:p>
            <a:pPr>
              <a:lnSpc>
                <a:spcPct val="107000"/>
              </a:lnSpc>
              <a:spcAft>
                <a:spcPts val="300"/>
              </a:spcAft>
            </a:pPr>
            <a:r>
              <a:rPr sz="1500">
                <a:solidFill>
                  <a:srgbClr val="5C5B77"/>
                </a:solidFill>
                <a:latin typeface="Segoe UI"/>
              </a:rPr>
              <a:t>        ·  </a:t>
            </a:r>
            <a:r>
              <a:rPr b="1" sz="1500">
                <a:solidFill>
                  <a:srgbClr val="1B1B33"/>
                </a:solidFill>
                <a:latin typeface="Segoe UI"/>
              </a:rPr>
              <a:t>STAGING   </a:t>
            </a:r>
            <a:r>
              <a:rPr sz="1500">
                <a:solidFill>
                  <a:srgbClr val="3E3D5C"/>
                </a:solidFill>
                <a:latin typeface="Segoe UI"/>
              </a:rPr>
              <a:t>dbt-owned; typed, renamed, conformed; light transforms.</a:t>
            </a:r>
          </a:p>
          <a:p>
            <a:pPr>
              <a:lnSpc>
                <a:spcPct val="107000"/>
              </a:lnSpc>
              <a:spcAft>
                <a:spcPts val="300"/>
              </a:spcAft>
            </a:pPr>
            <a:r>
              <a:rPr sz="1500">
                <a:solidFill>
                  <a:srgbClr val="5C5B77"/>
                </a:solidFill>
                <a:latin typeface="Segoe UI"/>
              </a:rPr>
              <a:t>        ·  </a:t>
            </a:r>
            <a:r>
              <a:rPr b="1" sz="1500">
                <a:solidFill>
                  <a:srgbClr val="1B1B33"/>
                </a:solidFill>
                <a:latin typeface="Segoe UI"/>
              </a:rPr>
              <a:t>MARTS   </a:t>
            </a:r>
            <a:r>
              <a:rPr sz="1500">
                <a:solidFill>
                  <a:srgbClr val="3E3D5C"/>
                </a:solidFill>
                <a:latin typeface="Segoe UI"/>
              </a:rPr>
              <a:t>dbt-owned; business-ready, domain schemas, tested &amp; documented.</a:t>
            </a:r>
          </a:p>
          <a:p>
            <a:pPr>
              <a:lnSpc>
                <a:spcPct val="107000"/>
              </a:lnSpc>
              <a:spcAft>
                <a:spcPts val="300"/>
              </a:spcAft>
            </a:pPr>
            <a:r>
              <a:rPr sz="1500">
                <a:solidFill>
                  <a:srgbClr val="5C5B77"/>
                </a:solidFill>
                <a:latin typeface="Segoe UI"/>
              </a:rPr>
              <a:t>        ·  </a:t>
            </a:r>
            <a:r>
              <a:rPr b="1" sz="1500">
                <a:solidFill>
                  <a:srgbClr val="1B1B33"/>
                </a:solidFill>
                <a:latin typeface="Segoe UI"/>
              </a:rPr>
              <a:t>SANDBOX   </a:t>
            </a:r>
            <a:r>
              <a:rPr sz="1500">
                <a:solidFill>
                  <a:srgbClr val="3E3D5C"/>
                </a:solidFill>
                <a:latin typeface="Segoe UI"/>
              </a:rPr>
              <a:t>Analyst-writable scratch; readers &amp; developers read-only, admin full; safe to break, no downstream deps.</a:t>
            </a:r>
          </a:p>
          <a:p>
            <a:pPr>
              <a:lnSpc>
                <a:spcPct val="107000"/>
              </a:lnSpc>
              <a:spcAft>
                <a:spcPts val="800"/>
              </a:spcAft>
            </a:pPr>
            <a:r>
              <a:rPr sz="1800">
                <a:solidFill>
                  <a:srgbClr val="4A3FFF"/>
                </a:solidFill>
                <a:latin typeface="Segoe UI"/>
              </a:rPr>
              <a:t>▸  </a:t>
            </a:r>
            <a:r>
              <a:rPr b="1" sz="1800">
                <a:solidFill>
                  <a:srgbClr val="1B1B33"/>
                </a:solidFill>
                <a:latin typeface="Segoe UI"/>
              </a:rPr>
              <a:t>Warehouse strategy:   </a:t>
            </a:r>
            <a:r>
              <a:rPr sz="1800">
                <a:solidFill>
                  <a:srgbClr val="1B1B33"/>
                </a:solidFill>
                <a:latin typeface="Segoe UI"/>
              </a:rPr>
              <a:t>Separate ingest / transform / BI warehouses; right-sized; auto-suspend for cost.</a:t>
            </a:r>
          </a:p>
          <a:p>
            <a:pPr>
              <a:lnSpc>
                <a:spcPct val="107000"/>
              </a:lnSpc>
              <a:spcAft>
                <a:spcPts val="800"/>
              </a:spcAft>
            </a:pPr>
            <a:r>
              <a:rPr sz="1800">
                <a:solidFill>
                  <a:srgbClr val="4A3FFF"/>
                </a:solidFill>
                <a:latin typeface="Segoe UI"/>
              </a:rPr>
              <a:t>▸  </a:t>
            </a:r>
            <a:r>
              <a:rPr b="1" sz="1800">
                <a:solidFill>
                  <a:srgbClr val="1B1B33"/>
                </a:solidFill>
                <a:latin typeface="Segoe UI"/>
              </a:rPr>
              <a:t>Environments:   </a:t>
            </a:r>
            <a:r>
              <a:rPr sz="1800">
                <a:solidFill>
                  <a:srgbClr val="1B1B33"/>
                </a:solidFill>
                <a:latin typeface="Segoe UI"/>
              </a:rPr>
              <a:t>Dev and prod isolated; promotion through CI, never manual edits in 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Layers give ownership and blast-radius control; warehouses give workload &amp; cost isolation.</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dbt for many domains, without a monolith</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417320"/>
            <a:ext cx="10972800" cy="411480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Layered models:   </a:t>
            </a:r>
            <a:r>
              <a:rPr sz="1800">
                <a:solidFill>
                  <a:srgbClr val="1B1B33"/>
                </a:solidFill>
                <a:latin typeface="Segoe UI"/>
              </a:rPr>
              <a:t>Staging (1:1 with source) → intermediate → marts (by domain).</a:t>
            </a:r>
          </a:p>
          <a:p>
            <a:pPr>
              <a:lnSpc>
                <a:spcPct val="107000"/>
              </a:lnSpc>
              <a:spcAft>
                <a:spcPts val="800"/>
              </a:spcAft>
            </a:pPr>
            <a:r>
              <a:rPr sz="1800">
                <a:solidFill>
                  <a:srgbClr val="4A3FFF"/>
                </a:solidFill>
                <a:latin typeface="Segoe UI"/>
              </a:rPr>
              <a:t>▸  </a:t>
            </a:r>
            <a:r>
              <a:rPr b="1" sz="1800">
                <a:solidFill>
                  <a:srgbClr val="1B1B33"/>
                </a:solidFill>
                <a:latin typeface="Segoe UI"/>
              </a:rPr>
              <a:t>Organize by domain, not by one giant project:   </a:t>
            </a:r>
            <a:r>
              <a:rPr sz="1800">
                <a:solidFill>
                  <a:srgbClr val="1B1B33"/>
                </a:solidFill>
                <a:latin typeface="Segoe UI"/>
              </a:rPr>
              <a:t>Folders + CODEOWNERS per domain (revops, finance, product, hr).</a:t>
            </a:r>
          </a:p>
          <a:p>
            <a:pPr>
              <a:lnSpc>
                <a:spcPct val="107000"/>
              </a:lnSpc>
              <a:spcAft>
                <a:spcPts val="800"/>
              </a:spcAft>
            </a:pPr>
            <a:r>
              <a:rPr sz="1800">
                <a:solidFill>
                  <a:srgbClr val="4A3FFF"/>
                </a:solidFill>
                <a:latin typeface="Segoe UI"/>
              </a:rPr>
              <a:t>▸  </a:t>
            </a:r>
            <a:r>
              <a:rPr b="1" sz="1800">
                <a:solidFill>
                  <a:srgbClr val="1B1B33"/>
                </a:solidFill>
                <a:latin typeface="Segoe UI"/>
              </a:rPr>
              <a:t>dbt Mesh:   </a:t>
            </a:r>
            <a:r>
              <a:rPr sz="1800">
                <a:solidFill>
                  <a:srgbClr val="1B1B33"/>
                </a:solidFill>
                <a:latin typeface="Segoe UI"/>
              </a:rPr>
              <a:t>Each domain exposes PUBLIC models via contracts; consumers depend on stable interfaces, not internals.</a:t>
            </a:r>
          </a:p>
          <a:p>
            <a:pPr>
              <a:lnSpc>
                <a:spcPct val="107000"/>
              </a:lnSpc>
              <a:spcAft>
                <a:spcPts val="800"/>
              </a:spcAft>
            </a:pPr>
            <a:r>
              <a:rPr sz="1800">
                <a:solidFill>
                  <a:srgbClr val="4A3FFF"/>
                </a:solidFill>
                <a:latin typeface="Segoe UI"/>
              </a:rPr>
              <a:t>▸  </a:t>
            </a:r>
            <a:r>
              <a:rPr b="1" sz="1800">
                <a:solidFill>
                  <a:srgbClr val="1B1B33"/>
                </a:solidFill>
                <a:latin typeface="Segoe UI"/>
              </a:rPr>
              <a:t>Quality is code:   </a:t>
            </a:r>
            <a:r>
              <a:rPr sz="1800">
                <a:solidFill>
                  <a:srgbClr val="1B1B33"/>
                </a:solidFill>
                <a:latin typeface="Segoe UI"/>
              </a:rPr>
              <a:t>Generic + singular tests, model contracts, source freshness(ideal), exposures for BI/AI lineage.</a:t>
            </a:r>
          </a:p>
          <a:p>
            <a:pPr>
              <a:lnSpc>
                <a:spcPct val="107000"/>
              </a:lnSpc>
              <a:spcAft>
                <a:spcPts val="800"/>
              </a:spcAft>
            </a:pPr>
            <a:r>
              <a:rPr sz="1800">
                <a:solidFill>
                  <a:srgbClr val="4A3FFF"/>
                </a:solidFill>
                <a:latin typeface="Segoe UI"/>
              </a:rPr>
              <a:t>▸  </a:t>
            </a:r>
            <a:r>
              <a:rPr b="1" sz="1800">
                <a:solidFill>
                  <a:srgbClr val="1B1B33"/>
                </a:solidFill>
                <a:latin typeface="Segoe UI"/>
              </a:rPr>
              <a:t>Incremental vs full-refresh:   </a:t>
            </a:r>
            <a:r>
              <a:rPr sz="1800">
                <a:solidFill>
                  <a:srgbClr val="1B1B33"/>
                </a:solidFill>
                <a:latin typeface="Segoe UI"/>
              </a:rPr>
              <a:t>Incremental for high-volume events (telemetry); full-refresh for small dimensions.</a:t>
            </a:r>
          </a:p>
          <a:p>
            <a:pPr>
              <a:lnSpc>
                <a:spcPct val="107000"/>
              </a:lnSpc>
              <a:spcAft>
                <a:spcPts val="800"/>
              </a:spcAft>
            </a:pPr>
            <a:r>
              <a:rPr sz="1800">
                <a:solidFill>
                  <a:srgbClr val="4A3FFF"/>
                </a:solidFill>
                <a:latin typeface="Segoe UI"/>
              </a:rPr>
              <a:t>▸  </a:t>
            </a:r>
            <a:r>
              <a:rPr b="1" sz="1800">
                <a:solidFill>
                  <a:srgbClr val="1B1B33"/>
                </a:solidFill>
                <a:latin typeface="Segoe UI"/>
              </a:rPr>
              <a:t>Fast CI(Ideal):   </a:t>
            </a:r>
            <a:r>
              <a:rPr sz="1800">
                <a:solidFill>
                  <a:srgbClr val="1B1B33"/>
                </a:solidFill>
                <a:latin typeface="Segoe UI"/>
              </a:rPr>
              <a:t>Slim CI builds only state:modified+, seconds, not full rebuilds.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Contracts + dbt Mesh let domains move independently while consumers stay safe.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SELF-SERVICE</a:t>
            </a:r>
          </a:p>
          <a:p>
            <a:r>
              <a:rPr sz="2600" b="1">
                <a:solidFill>
                  <a:srgbClr val="FFFFFF"/>
                </a:solidFill>
                <a:latin typeface="Segoe UI"/>
              </a:rPr>
              <a:t>Self-service: onboard a domain in a pull request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One Terraform module, domain_workspace:   </a:t>
            </a:r>
            <a:r>
              <a:rPr sz="1800">
                <a:solidFill>
                  <a:srgbClr val="1B1B33"/>
                </a:solidFill>
                <a:latin typeface="Segoe UI"/>
              </a:rPr>
              <a:t>Input a domain name, get a full, governed workspace.</a:t>
            </a:r>
          </a:p>
          <a:p>
            <a:pPr>
              <a:lnSpc>
                <a:spcPct val="107000"/>
              </a:lnSpc>
              <a:spcAft>
                <a:spcPts val="300"/>
              </a:spcAft>
            </a:pPr>
            <a:r>
              <a:rPr sz="1500">
                <a:solidFill>
                  <a:srgbClr val="5C5B77"/>
                </a:solidFill>
                <a:latin typeface="Segoe UI"/>
              </a:rPr>
              <a:t>        ·  </a:t>
            </a:r>
            <a:r>
              <a:rPr b="1" sz="1500">
                <a:solidFill>
                  <a:srgbClr val="1B1B33"/>
                </a:solidFill>
                <a:latin typeface="Segoe UI"/>
              </a:rPr>
              <a:t>Provisions   </a:t>
            </a:r>
            <a:r>
              <a:rPr sz="1500">
                <a:solidFill>
                  <a:srgbClr val="3E3D5C"/>
                </a:solidFill>
                <a:latin typeface="Segoe UI"/>
              </a:rPr>
              <a:t>Schemas (staging / marts / sandbox), functional + access roles, service accounts, a warehouse.</a:t>
            </a:r>
          </a:p>
          <a:p>
            <a:pPr>
              <a:lnSpc>
                <a:spcPct val="107000"/>
              </a:lnSpc>
              <a:spcAft>
                <a:spcPts val="300"/>
              </a:spcAft>
            </a:pPr>
            <a:r>
              <a:rPr sz="1500">
                <a:solidFill>
                  <a:srgbClr val="5C5B77"/>
                </a:solidFill>
                <a:latin typeface="Segoe UI"/>
              </a:rPr>
              <a:t>        ·  </a:t>
            </a:r>
            <a:r>
              <a:rPr b="1" sz="1500">
                <a:solidFill>
                  <a:srgbClr val="1B1B33"/>
                </a:solidFill>
                <a:latin typeface="Segoe UI"/>
              </a:rPr>
              <a:t>Applies   </a:t>
            </a:r>
            <a:r>
              <a:rPr sz="1500">
                <a:solidFill>
                  <a:srgbClr val="3E3D5C"/>
                </a:solidFill>
                <a:latin typeface="Segoe UI"/>
              </a:rPr>
              <a:t>Default grants, PII tags, and naming standards automatically.</a:t>
            </a:r>
          </a:p>
          <a:p>
            <a:pPr>
              <a:lnSpc>
                <a:spcPct val="107000"/>
              </a:lnSpc>
              <a:spcAft>
                <a:spcPts val="800"/>
              </a:spcAft>
            </a:pPr>
            <a:r>
              <a:rPr sz="1800">
                <a:solidFill>
                  <a:srgbClr val="4A3FFF"/>
                </a:solidFill>
                <a:latin typeface="Segoe UI"/>
              </a:rPr>
              <a:t>▸  </a:t>
            </a:r>
            <a:r>
              <a:rPr b="1" sz="1800">
                <a:solidFill>
                  <a:srgbClr val="1B1B33"/>
                </a:solidFill>
                <a:latin typeface="Segoe UI"/>
              </a:rPr>
              <a:t>Golden-path templates:   </a:t>
            </a:r>
            <a:r>
              <a:rPr sz="1800">
                <a:solidFill>
                  <a:srgbClr val="1B1B33"/>
                </a:solidFill>
                <a:latin typeface="Segoe UI"/>
              </a:rPr>
              <a:t>Starter dbt project, connector config, and CI workflow scaffolded for the team.</a:t>
            </a:r>
          </a:p>
          <a:p>
            <a:pPr>
              <a:lnSpc>
                <a:spcPct val="107000"/>
              </a:lnSpc>
              <a:spcAft>
                <a:spcPts val="800"/>
              </a:spcAft>
            </a:pPr>
            <a:r>
              <a:rPr sz="1800">
                <a:solidFill>
                  <a:srgbClr val="4A3FFF"/>
                </a:solidFill>
                <a:latin typeface="Segoe UI"/>
              </a:rPr>
              <a:t>▸  </a:t>
            </a:r>
            <a:r>
              <a:rPr b="1" sz="1800">
                <a:solidFill>
                  <a:srgbClr val="1B1B33"/>
                </a:solidFill>
                <a:latin typeface="Segoe UI"/>
              </a:rPr>
              <a:t>PR-driven:   </a:t>
            </a:r>
            <a:r>
              <a:rPr sz="1800">
                <a:solidFill>
                  <a:srgbClr val="1B1B33"/>
                </a:solidFill>
                <a:latin typeface="Segoe UI"/>
              </a:rPr>
              <a:t>A domain is onboarded by opening a PR, reviewed, planned, applied by CI. No tickets.</a:t>
            </a:r>
          </a:p>
          <a:p>
            <a:pPr>
              <a:lnSpc>
                <a:spcPct val="107000"/>
              </a:lnSpc>
              <a:spcAft>
                <a:spcPts val="800"/>
              </a:spcAft>
            </a:pPr>
            <a:r>
              <a:rPr sz="1800">
                <a:solidFill>
                  <a:srgbClr val="4A3FFF"/>
                </a:solidFill>
                <a:latin typeface="Segoe UI"/>
              </a:rPr>
              <a:t>▸  </a:t>
            </a:r>
            <a:r>
              <a:rPr b="1" sz="1800">
                <a:solidFill>
                  <a:srgbClr val="1B1B33"/>
                </a:solidFill>
                <a:latin typeface="Segoe UI"/>
              </a:rPr>
              <a:t>Outcome:   </a:t>
            </a:r>
            <a:r>
              <a:rPr sz="1800">
                <a:solidFill>
                  <a:srgbClr val="1B1B33"/>
                </a:solidFill>
                <a:latin typeface="Segoe UI"/>
              </a:rPr>
              <a:t>Consistent and governed by construction; hours, not weeks; the platform team doesn't become the bottleneck.</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paved path makes the governed way the easiest way, self-service without losing control.</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TRUST &amp; GOVERNANCE</a:t>
            </a:r>
          </a:p>
          <a:p>
            <a:r>
              <a:rPr sz="2600" b="1">
                <a:solidFill>
                  <a:srgbClr val="FFFFFF"/>
                </a:solidFill>
                <a:latin typeface="Segoe UI"/>
              </a:rPr>
              <a:t>RBAC at scale: functional + access roles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48640" y="1463040"/>
            <a:ext cx="2377440" cy="274320"/>
          </a:xfrm>
          <a:prstGeom prst="rect">
            <a:avLst/>
          </a:prstGeom>
          <a:noFill/>
        </p:spPr>
        <p:txBody>
          <a:bodyPr wrap="square" lIns="36576" rIns="36576" tIns="18288" bIns="18288">
            <a:spAutoFit/>
          </a:bodyPr>
          <a:lstStyle/>
          <a:p>
            <a:pPr algn="ctr"/>
            <a:r>
              <a:rPr sz="1000" b="1">
                <a:solidFill>
                  <a:srgbClr val="3B34B8"/>
                </a:solidFill>
                <a:latin typeface="Segoe UI"/>
              </a:rPr>
              <a:t>USERS</a:t>
            </a:r>
          </a:p>
        </p:txBody>
      </p:sp>
      <p:sp>
        <p:nvSpPr>
          <p:cNvPr id="7" name="Rounded Rectangle 6"/>
          <p:cNvSpPr/>
          <p:nvPr/>
        </p:nvSpPr>
        <p:spPr>
          <a:xfrm>
            <a:off x="548640" y="1920240"/>
            <a:ext cx="237744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OPENGOV_ANALYST</a:t>
            </a:r>
          </a:p>
        </p:txBody>
      </p:sp>
      <p:sp>
        <p:nvSpPr>
          <p:cNvPr id="8" name="Rounded Rectangle 7"/>
          <p:cNvSpPr/>
          <p:nvPr/>
        </p:nvSpPr>
        <p:spPr>
          <a:xfrm>
            <a:off x="548640" y="2651760"/>
            <a:ext cx="2377440" cy="54864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OPENGOV_DBT_SVC</a:t>
            </a:r>
          </a:p>
        </p:txBody>
      </p:sp>
      <p:sp>
        <p:nvSpPr>
          <p:cNvPr id="9" name="Rounded Rectangle 8"/>
          <p:cNvSpPr/>
          <p:nvPr/>
        </p:nvSpPr>
        <p:spPr>
          <a:xfrm>
            <a:off x="548640" y="3383280"/>
            <a:ext cx="2377440" cy="548640"/>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human  vs  service</a:t>
            </a:r>
          </a:p>
        </p:txBody>
      </p:sp>
      <p:sp>
        <p:nvSpPr>
          <p:cNvPr id="10" name="TextBox 9"/>
          <p:cNvSpPr txBox="1"/>
          <p:nvPr/>
        </p:nvSpPr>
        <p:spPr>
          <a:xfrm>
            <a:off x="3429000" y="1463040"/>
            <a:ext cx="2651760" cy="274320"/>
          </a:xfrm>
          <a:prstGeom prst="rect">
            <a:avLst/>
          </a:prstGeom>
          <a:noFill/>
        </p:spPr>
        <p:txBody>
          <a:bodyPr wrap="square" lIns="36576" rIns="36576" tIns="18288" bIns="18288">
            <a:spAutoFit/>
          </a:bodyPr>
          <a:lstStyle/>
          <a:p>
            <a:pPr algn="ctr"/>
            <a:r>
              <a:rPr sz="1000" b="1">
                <a:solidFill>
                  <a:srgbClr val="3B34B8"/>
                </a:solidFill>
                <a:latin typeface="Segoe UI"/>
              </a:rPr>
              <a:t>FUNCTIONAL ROLES (JOB)</a:t>
            </a:r>
          </a:p>
        </p:txBody>
      </p:sp>
      <p:sp>
        <p:nvSpPr>
          <p:cNvPr id="11" name="Rounded Rectangle 10"/>
          <p:cNvSpPr/>
          <p:nvPr/>
        </p:nvSpPr>
        <p:spPr>
          <a:xfrm>
            <a:off x="3429000" y="1828800"/>
            <a:ext cx="265176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REVOPS_ANALYST</a:t>
            </a:r>
          </a:p>
        </p:txBody>
      </p:sp>
      <p:sp>
        <p:nvSpPr>
          <p:cNvPr id="12" name="Rounded Rectangle 11"/>
          <p:cNvSpPr/>
          <p:nvPr/>
        </p:nvSpPr>
        <p:spPr>
          <a:xfrm>
            <a:off x="3429000" y="2560320"/>
            <a:ext cx="265176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REVOPS_DEVELOPER</a:t>
            </a:r>
          </a:p>
        </p:txBody>
      </p:sp>
      <p:sp>
        <p:nvSpPr>
          <p:cNvPr id="13" name="Rounded Rectangle 12"/>
          <p:cNvSpPr/>
          <p:nvPr/>
        </p:nvSpPr>
        <p:spPr>
          <a:xfrm>
            <a:off x="3429000" y="3291839"/>
            <a:ext cx="2651760" cy="54864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REVOPS_ADMIN</a:t>
            </a:r>
          </a:p>
        </p:txBody>
      </p:sp>
      <p:sp>
        <p:nvSpPr>
          <p:cNvPr id="14" name="TextBox 13"/>
          <p:cNvSpPr txBox="1"/>
          <p:nvPr/>
        </p:nvSpPr>
        <p:spPr>
          <a:xfrm>
            <a:off x="6629400" y="1463040"/>
            <a:ext cx="2468880" cy="274320"/>
          </a:xfrm>
          <a:prstGeom prst="rect">
            <a:avLst/>
          </a:prstGeom>
          <a:noFill/>
        </p:spPr>
        <p:txBody>
          <a:bodyPr wrap="square" lIns="36576" rIns="36576" tIns="18288" bIns="18288">
            <a:spAutoFit/>
          </a:bodyPr>
          <a:lstStyle/>
          <a:p>
            <a:pPr algn="ctr"/>
            <a:r>
              <a:rPr sz="1000" b="1">
                <a:solidFill>
                  <a:srgbClr val="3B34B8"/>
                </a:solidFill>
                <a:latin typeface="Segoe UI"/>
              </a:rPr>
              <a:t>ACCESS ROLES (GRANTS)</a:t>
            </a:r>
          </a:p>
        </p:txBody>
      </p:sp>
      <p:sp>
        <p:nvSpPr>
          <p:cNvPr id="15" name="Rounded Rectangle 14"/>
          <p:cNvSpPr/>
          <p:nvPr/>
        </p:nvSpPr>
        <p:spPr>
          <a:xfrm>
            <a:off x="6629400" y="182880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AR_MARTS_R</a:t>
            </a:r>
          </a:p>
        </p:txBody>
      </p:sp>
      <p:sp>
        <p:nvSpPr>
          <p:cNvPr id="16" name="Rounded Rectangle 15"/>
          <p:cNvSpPr/>
          <p:nvPr/>
        </p:nvSpPr>
        <p:spPr>
          <a:xfrm>
            <a:off x="6629400" y="246888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AR_STAGING_R</a:t>
            </a:r>
          </a:p>
        </p:txBody>
      </p:sp>
      <p:sp>
        <p:nvSpPr>
          <p:cNvPr id="17" name="Rounded Rectangle 16"/>
          <p:cNvSpPr/>
          <p:nvPr/>
        </p:nvSpPr>
        <p:spPr>
          <a:xfrm>
            <a:off x="6629400" y="310896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AR_RAW_RW</a:t>
            </a:r>
          </a:p>
        </p:txBody>
      </p:sp>
      <p:sp>
        <p:nvSpPr>
          <p:cNvPr id="18" name="Rounded Rectangle 17"/>
          <p:cNvSpPr/>
          <p:nvPr/>
        </p:nvSpPr>
        <p:spPr>
          <a:xfrm>
            <a:off x="6629400" y="3749039"/>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AR_SANDBOX_RW</a:t>
            </a:r>
          </a:p>
        </p:txBody>
      </p:sp>
      <p:sp>
        <p:nvSpPr>
          <p:cNvPr id="19" name="TextBox 18"/>
          <p:cNvSpPr txBox="1"/>
          <p:nvPr/>
        </p:nvSpPr>
        <p:spPr>
          <a:xfrm>
            <a:off x="9601200" y="1463040"/>
            <a:ext cx="2103120" cy="274320"/>
          </a:xfrm>
          <a:prstGeom prst="rect">
            <a:avLst/>
          </a:prstGeom>
          <a:noFill/>
        </p:spPr>
        <p:txBody>
          <a:bodyPr wrap="square" lIns="36576" rIns="36576" tIns="18288" bIns="18288">
            <a:spAutoFit/>
          </a:bodyPr>
          <a:lstStyle/>
          <a:p>
            <a:pPr algn="ctr"/>
            <a:r>
              <a:rPr sz="1000" b="1">
                <a:solidFill>
                  <a:srgbClr val="3B34B8"/>
                </a:solidFill>
                <a:latin typeface="Segoe UI"/>
              </a:rPr>
              <a:t>OBJECTS</a:t>
            </a:r>
          </a:p>
        </p:txBody>
      </p:sp>
      <p:sp>
        <p:nvSpPr>
          <p:cNvPr id="20" name="Rounded Rectangle 19"/>
          <p:cNvSpPr/>
          <p:nvPr/>
        </p:nvSpPr>
        <p:spPr>
          <a:xfrm>
            <a:off x="9601200" y="182880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MARTS schema</a:t>
            </a:r>
          </a:p>
        </p:txBody>
      </p:sp>
      <p:sp>
        <p:nvSpPr>
          <p:cNvPr id="21" name="Rounded Rectangle 20"/>
          <p:cNvSpPr/>
          <p:nvPr/>
        </p:nvSpPr>
        <p:spPr>
          <a:xfrm>
            <a:off x="9601200" y="246888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STAGING schema</a:t>
            </a:r>
          </a:p>
        </p:txBody>
      </p:sp>
      <p:sp>
        <p:nvSpPr>
          <p:cNvPr id="22" name="Rounded Rectangle 21"/>
          <p:cNvSpPr/>
          <p:nvPr/>
        </p:nvSpPr>
        <p:spPr>
          <a:xfrm>
            <a:off x="9601200" y="310896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RAW schema</a:t>
            </a:r>
          </a:p>
        </p:txBody>
      </p:sp>
      <p:sp>
        <p:nvSpPr>
          <p:cNvPr id="23" name="Rounded Rectangle 22"/>
          <p:cNvSpPr/>
          <p:nvPr/>
        </p:nvSpPr>
        <p:spPr>
          <a:xfrm>
            <a:off x="9601200" y="3749039"/>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SANDBOX schema</a:t>
            </a:r>
          </a:p>
        </p:txBody>
      </p:sp>
      <p:sp>
        <p:nvSpPr>
          <p:cNvPr id="24" name="Right Arrow 23"/>
          <p:cNvSpPr/>
          <p:nvPr/>
        </p:nvSpPr>
        <p:spPr>
          <a:xfrm>
            <a:off x="301752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617220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918972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97680"/>
            <a:ext cx="11064240" cy="457200"/>
          </a:xfrm>
          <a:prstGeom prst="rect">
            <a:avLst/>
          </a:prstGeom>
          <a:noFill/>
        </p:spPr>
        <p:txBody>
          <a:bodyPr wrap="square" lIns="36576" rIns="36576" tIns="18288" bIns="18288">
            <a:spAutoFit/>
          </a:bodyPr>
          <a:lstStyle/>
          <a:p>
            <a:r>
              <a:rPr sz="1100" i="1">
                <a:solidFill>
                  <a:srgbClr val="5C5B77"/>
                </a:solidFill>
                <a:latin typeface="Segoe UI"/>
              </a:rPr>
              <a:t>granted to  ►  users     |     inherit  ►  access roles     |     hold privileges on  ►  objects</a:t>
            </a:r>
          </a:p>
        </p:txBody>
      </p:sp>
      <p:sp>
        <p:nvSpPr>
          <p:cNvPr id="28" name="Rounded Rectangle 27"/>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Access roles are reused building blocks; add a domain = generate a new set, grants never sprawl.  Row-access policies handle multi-tenant isolation.</a:t>
            </a:r>
          </a:p>
        </p:txBody>
      </p:sp>
      <p:sp>
        <p:nvSpPr>
          <p:cNvPr id="31" name="TextBox 30"/>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32" name="TextBox 31"/>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TRUST &amp; GOVERNANCE</a:t>
            </a:r>
          </a:p>
          <a:p>
            <a:r>
              <a:rPr sz="2600" b="1">
                <a:solidFill>
                  <a:srgbClr val="FFFFFF"/>
                </a:solidFill>
                <a:latin typeface="Segoe UI"/>
              </a:rPr>
              <a:t>Observability, what we built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600">
                <a:solidFill>
                  <a:srgbClr val="4A3FFF"/>
                </a:solidFill>
                <a:latin typeface="Segoe UI"/>
              </a:rPr>
              <a:t>▸  </a:t>
            </a:r>
            <a:r>
              <a:rPr b="1" sz="1600">
                <a:solidFill>
                  <a:srgbClr val="1B1B33"/>
                </a:solidFill>
                <a:latin typeface="Segoe UI"/>
              </a:rPr>
              <a:t>Load observability, PAGE_VIEWS_LOAD_LOG:   </a:t>
            </a:r>
            <a:r>
              <a:rPr sz="1600">
                <a:solidFill>
                  <a:srgbClr val="1B1B33"/>
                </a:solidFill>
                <a:latin typeface="Segoe UI"/>
              </a:rPr>
              <a:t>One row per ingestion run (file, records loaded, quarantined, timestamp), a permanent, queryable load audit (unlike COPY's 64-day history, ours never expires).</a:t>
            </a:r>
          </a:p>
          <a:p>
            <a:pPr>
              <a:lnSpc>
                <a:spcPct val="107000"/>
              </a:lnSpc>
              <a:spcAft>
                <a:spcPts val="800"/>
              </a:spcAft>
            </a:pPr>
            <a:r>
              <a:rPr sz="1600">
                <a:solidFill>
                  <a:srgbClr val="4A3FFF"/>
                </a:solidFill>
                <a:latin typeface="Segoe UI"/>
              </a:rPr>
              <a:t>▸  </a:t>
            </a:r>
            <a:r>
              <a:rPr b="1" sz="1600">
                <a:solidFill>
                  <a:srgbClr val="1B1B33"/>
                </a:solidFill>
                <a:latin typeface="Segoe UI"/>
              </a:rPr>
              <a:t>Quarantine as a signal:   </a:t>
            </a:r>
            <a:r>
              <a:rPr sz="1600">
                <a:solidFill>
                  <a:srgbClr val="1B1B33"/>
                </a:solidFill>
                <a:latin typeface="Segoe UI"/>
              </a:rPr>
              <a:t>Bad rows land in PAGE_VIEWS_QUARANTINE, countable per run (PROD: 9 loaded / 5 quarantined), a reject-rate you can alert on.</a:t>
            </a:r>
          </a:p>
          <a:p>
            <a:pPr>
              <a:lnSpc>
                <a:spcPct val="107000"/>
              </a:lnSpc>
              <a:spcAft>
                <a:spcPts val="800"/>
              </a:spcAft>
            </a:pPr>
            <a:r>
              <a:rPr sz="1600">
                <a:solidFill>
                  <a:srgbClr val="4A3FFF"/>
                </a:solidFill>
                <a:latin typeface="Segoe UI"/>
              </a:rPr>
              <a:t>▸  </a:t>
            </a:r>
            <a:r>
              <a:rPr b="1" sz="1600">
                <a:solidFill>
                  <a:srgbClr val="1B1B33"/>
                </a:solidFill>
                <a:latin typeface="Segoe UI"/>
              </a:rPr>
              <a:t>Quality as code, gated in CI:   </a:t>
            </a:r>
            <a:r>
              <a:rPr sz="1600">
                <a:solidFill>
                  <a:srgbClr val="1B1B33"/>
                </a:solidFill>
                <a:latin typeface="Segoe UI"/>
              </a:rPr>
              <a:t>dbt not_null / unique / accepted_values / relationships run on every preprod &amp; prod build, a red test blocks the deploy.</a:t>
            </a:r>
          </a:p>
          <a:p>
            <a:pPr>
              <a:lnSpc>
                <a:spcPct val="107000"/>
              </a:lnSpc>
              <a:spcAft>
                <a:spcPts val="800"/>
              </a:spcAft>
            </a:pPr>
            <a:r>
              <a:rPr sz="1600">
                <a:solidFill>
                  <a:srgbClr val="4A3FFF"/>
                </a:solidFill>
                <a:latin typeface="Segoe UI"/>
              </a:rPr>
              <a:t>▸  </a:t>
            </a:r>
            <a:r>
              <a:rPr b="1" sz="1600">
                <a:solidFill>
                  <a:srgbClr val="1B1B33"/>
                </a:solidFill>
                <a:latin typeface="Segoe UI"/>
              </a:rPr>
              <a:t>Native audit surfaces(SQL):   </a:t>
            </a:r>
            <a:r>
              <a:rPr sz="1600">
                <a:solidFill>
                  <a:srgbClr val="1B1B33"/>
                </a:solidFill>
                <a:latin typeface="Segoe UI"/>
              </a:rPr>
              <a:t>QUERY_HISTORY for the loader's INSERTs, ACCESS_HISTORY (365d) for 'who read ACCOUNT.ARR, when'.</a:t>
            </a:r>
          </a:p>
          <a:p>
            <a:pPr>
              <a:lnSpc>
                <a:spcPct val="107000"/>
              </a:lnSpc>
              <a:spcAft>
                <a:spcPts val="800"/>
              </a:spcAft>
            </a:pPr>
            <a:r>
              <a:rPr sz="1600">
                <a:solidFill>
                  <a:srgbClr val="4A3FFF"/>
                </a:solidFill>
                <a:latin typeface="Segoe UI"/>
              </a:rPr>
              <a:t>▸  </a:t>
            </a:r>
            <a:r>
              <a:rPr b="1" sz="1600">
                <a:solidFill>
                  <a:srgbClr val="1B1B33"/>
                </a:solidFill>
                <a:latin typeface="Segoe UI"/>
              </a:rPr>
              <a:t>Cost attribution:   </a:t>
            </a:r>
            <a:r>
              <a:rPr sz="1600">
                <a:solidFill>
                  <a:srgbClr val="1B1B33"/>
                </a:solidFill>
                <a:latin typeface="Segoe UI"/>
              </a:rPr>
              <a:t>Per-role warehouses (OG_&lt;ENV&gt;_&lt;ROLE&gt;_WH) + auto-suspend, spend is attributable to reader / analyst / dbt / ingestion, not one shared blob.</a:t>
            </a:r>
          </a:p>
          <a:p>
            <a:pPr>
              <a:lnSpc>
                <a:spcPct val="107000"/>
              </a:lnSpc>
              <a:spcAft>
                <a:spcPts val="800"/>
              </a:spcAft>
            </a:pPr>
            <a:r>
              <a:rPr sz="1600">
                <a:solidFill>
                  <a:srgbClr val="4A3FFF"/>
                </a:solidFill>
                <a:latin typeface="Segoe UI"/>
              </a:rPr>
              <a:t>▸  </a:t>
            </a:r>
            <a:r>
              <a:rPr b="1" sz="1600">
                <a:solidFill>
                  <a:srgbClr val="1B1B33"/>
                </a:solidFill>
                <a:latin typeface="Segoe UI"/>
              </a:rPr>
              <a:t>Next step:   </a:t>
            </a:r>
            <a:r>
              <a:rPr sz="1600">
                <a:solidFill>
                  <a:srgbClr val="1B1B33"/>
                </a:solidFill>
                <a:latin typeface="Segoe UI"/>
              </a:rPr>
              <a:t>dbt source freshness + a monitoring model over _LOAD_LOG turn these into published freshness/quality SLAs.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We built the observable primitives, a per-file load log, a quarantine table, CI-gated tests, and native audit views, so 'did the load run and was it clean?' is a query, not a guess.</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DIFFERENTIATING PERSPECTIVE</a:t>
            </a:r>
          </a:p>
          <a:p>
            <a:r>
              <a:rPr sz="2600" b="1">
                <a:solidFill>
                  <a:srgbClr val="FFFFFF"/>
                </a:solidFill>
                <a:latin typeface="Segoe UI"/>
              </a:rPr>
              <a:t>Beyond the brief: making the platform AI-ready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The risk:   </a:t>
            </a:r>
            <a:r>
              <a:rPr sz="1700">
                <a:solidFill>
                  <a:srgbClr val="1B1B33"/>
                </a:solidFill>
                <a:latin typeface="Segoe UI"/>
              </a:rPr>
              <a:t>AI/LLM consumers will happily query ungoverned data and return confident, wrong answers.</a:t>
            </a:r>
          </a:p>
          <a:p>
            <a:pPr>
              <a:lnSpc>
                <a:spcPct val="107000"/>
              </a:lnSpc>
              <a:spcAft>
                <a:spcPts val="800"/>
              </a:spcAft>
            </a:pPr>
            <a:r>
              <a:rPr sz="1700">
                <a:solidFill>
                  <a:srgbClr val="4A3FFF"/>
                </a:solidFill>
                <a:latin typeface="Segoe UI"/>
              </a:rPr>
              <a:t>▸  </a:t>
            </a:r>
            <a:r>
              <a:rPr b="1" sz="1700">
                <a:solidFill>
                  <a:srgbClr val="1B1B33"/>
                </a:solidFill>
                <a:latin typeface="Segoe UI"/>
              </a:rPr>
              <a:t>Governed semantic / metrics layer:   </a:t>
            </a:r>
            <a:r>
              <a:rPr sz="1700">
                <a:solidFill>
                  <a:srgbClr val="1B1B33"/>
                </a:solidFill>
                <a:latin typeface="Segoe UI"/>
              </a:rPr>
              <a:t>Define metrics once (revenue, pipeline, churn) → one source of truth for BI, notebooks, and LLMs.</a:t>
            </a:r>
          </a:p>
          <a:p>
            <a:pPr>
              <a:lnSpc>
                <a:spcPct val="107000"/>
              </a:lnSpc>
              <a:spcAft>
                <a:spcPts val="800"/>
              </a:spcAft>
            </a:pPr>
            <a:r>
              <a:rPr sz="1700">
                <a:solidFill>
                  <a:srgbClr val="4A3FFF"/>
                </a:solidFill>
                <a:latin typeface="Segoe UI"/>
              </a:rPr>
              <a:t>▸  </a:t>
            </a:r>
            <a:r>
              <a:rPr b="1" sz="1700">
                <a:solidFill>
                  <a:srgbClr val="1B1B33"/>
                </a:solidFill>
                <a:latin typeface="Segoe UI"/>
              </a:rPr>
              <a:t>Data contracts:   </a:t>
            </a:r>
            <a:r>
              <a:rPr sz="1700">
                <a:solidFill>
                  <a:srgbClr val="1B1B33"/>
                </a:solidFill>
                <a:latin typeface="Segoe UI"/>
              </a:rPr>
              <a:t>Producers commit to schema + semantics; breaking changes are blocked in CI, trust shifts left.</a:t>
            </a:r>
          </a:p>
          <a:p>
            <a:pPr>
              <a:lnSpc>
                <a:spcPct val="107000"/>
              </a:lnSpc>
              <a:spcAft>
                <a:spcPts val="800"/>
              </a:spcAft>
            </a:pPr>
            <a:r>
              <a:rPr sz="1700">
                <a:solidFill>
                  <a:srgbClr val="4A3FFF"/>
                </a:solidFill>
                <a:latin typeface="Segoe UI"/>
              </a:rPr>
              <a:t>▸  </a:t>
            </a:r>
            <a:r>
              <a:rPr b="1" sz="1700">
                <a:solidFill>
                  <a:srgbClr val="1B1B33"/>
                </a:solidFill>
                <a:latin typeface="Segoe UI"/>
              </a:rPr>
              <a:t>AI consumes products, not raw:   </a:t>
            </a:r>
            <a:r>
              <a:rPr sz="1700">
                <a:solidFill>
                  <a:srgbClr val="1B1B33"/>
                </a:solidFill>
                <a:latin typeface="Segoe UI"/>
              </a:rPr>
              <a:t>RAG and agents read documented, contracted marts + the semantic layer, never RAW.</a:t>
            </a:r>
          </a:p>
          <a:p>
            <a:pPr>
              <a:lnSpc>
                <a:spcPct val="107000"/>
              </a:lnSpc>
              <a:spcAft>
                <a:spcPts val="800"/>
              </a:spcAft>
            </a:pPr>
            <a:r>
              <a:rPr sz="1700">
                <a:solidFill>
                  <a:srgbClr val="4A3FFF"/>
                </a:solidFill>
                <a:latin typeface="Segoe UI"/>
              </a:rPr>
              <a:t>▸  </a:t>
            </a:r>
            <a:r>
              <a:rPr b="1" sz="1700">
                <a:solidFill>
                  <a:srgbClr val="1B1B33"/>
                </a:solidFill>
                <a:latin typeface="Segoe UI"/>
              </a:rPr>
              <a:t>Governance already travels, true in this build:   </a:t>
            </a:r>
            <a:r>
              <a:rPr sz="1700">
                <a:solidFill>
                  <a:srgbClr val="1B1B33"/>
                </a:solidFill>
                <a:latin typeface="Segoe UI"/>
              </a:rPr>
              <a:t>Our tag-masking + RBAC bind to the SESSION, not the tool. An LLM service account holding REVOPS_READER gets NULL for ARR today, exactly like a human reader, there is no AI bypass to build.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Trustworthy AI and trustworthy analytics come from the same governed foundation, the semantic layer is the interface.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Part 2: Hands-On Build</a:t>
            </a:r>
          </a:p>
          <a:p>
            <a:pPr>
              <a:spcBef>
                <a:spcPts val="1000"/>
              </a:spcBef>
            </a:pPr>
            <a:r>
              <a:rPr sz="1700">
                <a:solidFill>
                  <a:srgbClr val="A79FFF"/>
                </a:solidFill>
                <a:latin typeface="Segoe UI"/>
              </a:rPr>
              <a:t>RevOps, built and running. RBAC and masking, ADLS ingestion, dbt marts, and CI/CD, all live in Snowflake.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RevOps onboarded, the four deliverables, live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RBAC &amp; security:   </a:t>
            </a:r>
            <a:r>
              <a:rPr sz="1700">
                <a:solidFill>
                  <a:srgbClr val="1B1B33"/>
                </a:solidFill>
                <a:latin typeface="Segoe UI"/>
              </a:rPr>
              <a:t>6 Functional + per-schema access roles, per-developer composite roles, tag-based ARR/amount masking, Terraform, config-driven.</a:t>
            </a:r>
          </a:p>
          <a:p>
            <a:pPr>
              <a:lnSpc>
                <a:spcPct val="107000"/>
              </a:lnSpc>
              <a:spcAft>
                <a:spcPts val="800"/>
              </a:spcAft>
            </a:pPr>
            <a:r>
              <a:rPr sz="1700">
                <a:solidFill>
                  <a:srgbClr val="4A3FFF"/>
                </a:solidFill>
                <a:latin typeface="Segoe UI"/>
              </a:rPr>
              <a:t>▸  </a:t>
            </a:r>
            <a:r>
              <a:rPr b="1" sz="1700">
                <a:solidFill>
                  <a:srgbClr val="1B1B33"/>
                </a:solidFill>
                <a:latin typeface="Segoe UI"/>
              </a:rPr>
              <a:t>Ingestion:   </a:t>
            </a:r>
            <a:r>
              <a:rPr sz="1700">
                <a:solidFill>
                  <a:srgbClr val="1B1B33"/>
                </a:solidFill>
                <a:latin typeface="Segoe UI"/>
              </a:rPr>
              <a:t>ingest_page_views.py, ADLS → RAW with validate / quarantine / load-log / idempotency / backfill (the intentional null user_id is quarantined).</a:t>
            </a:r>
          </a:p>
          <a:p>
            <a:pPr>
              <a:lnSpc>
                <a:spcPct val="107000"/>
              </a:lnSpc>
              <a:spcAft>
                <a:spcPts val="800"/>
              </a:spcAft>
            </a:pPr>
            <a:r>
              <a:rPr sz="1700">
                <a:solidFill>
                  <a:srgbClr val="4A3FFF"/>
                </a:solidFill>
                <a:latin typeface="Segoe UI"/>
              </a:rPr>
              <a:t>▸  </a:t>
            </a:r>
            <a:r>
              <a:rPr b="1" sz="1700">
                <a:solidFill>
                  <a:srgbClr val="1B1B33"/>
                </a:solidFill>
                <a:latin typeface="Segoe UI"/>
              </a:rPr>
              <a:t>dbt:   </a:t>
            </a:r>
            <a:r>
              <a:rPr sz="1700">
                <a:solidFill>
                  <a:srgbClr val="1B1B33"/>
                </a:solidFill>
                <a:latin typeface="Segoe UI"/>
              </a:rPr>
              <a:t>Incremental+deduped staging → RevOps pipeline mart; tests, clean_string macro, mesh public model, native dbt on Snowflake.</a:t>
            </a:r>
          </a:p>
          <a:p>
            <a:pPr>
              <a:lnSpc>
                <a:spcPct val="107000"/>
              </a:lnSpc>
              <a:spcAft>
                <a:spcPts val="800"/>
              </a:spcAft>
            </a:pPr>
            <a:r>
              <a:rPr sz="1700">
                <a:solidFill>
                  <a:srgbClr val="4A3FFF"/>
                </a:solidFill>
                <a:latin typeface="Segoe UI"/>
              </a:rPr>
              <a:t>▸  </a:t>
            </a:r>
            <a:r>
              <a:rPr b="1" sz="1700">
                <a:solidFill>
                  <a:srgbClr val="1B1B33"/>
                </a:solidFill>
                <a:latin typeface="Segoe UI"/>
              </a:rPr>
              <a:t>CI/CD:   </a:t>
            </a:r>
            <a:r>
              <a:rPr sz="1700">
                <a:solidFill>
                  <a:srgbClr val="1B1B33"/>
                </a:solidFill>
                <a:latin typeface="Segoe UI"/>
              </a:rPr>
              <a:t>Infra (Terraform, remote state) and dbt both deploy through GitHub Actions to DEV &amp; PROD, nothing applied by hand.</a:t>
            </a:r>
          </a:p>
          <a:p>
            <a:pPr>
              <a:lnSpc>
                <a:spcPct val="107000"/>
              </a:lnSpc>
              <a:spcAft>
                <a:spcPts val="800"/>
              </a:spcAft>
            </a:pPr>
            <a:r>
              <a:rPr sz="1700">
                <a:solidFill>
                  <a:srgbClr val="4A3FFF"/>
                </a:solidFill>
                <a:latin typeface="Segoe UI"/>
              </a:rPr>
              <a:t>▸  </a:t>
            </a:r>
            <a:r>
              <a:rPr b="1" sz="1700">
                <a:solidFill>
                  <a:srgbClr val="1B1B33"/>
                </a:solidFill>
                <a:latin typeface="Segoe UI"/>
              </a:rPr>
              <a:t>Two live databases:   </a:t>
            </a:r>
            <a:r>
              <a:rPr sz="1700">
                <a:solidFill>
                  <a:srgbClr val="1B1B33"/>
                </a:solidFill>
                <a:latin typeface="Segoe UI"/>
              </a:rPr>
              <a:t>OG_DEV_DB (dev sandboxes + preprod) and OG_PROD_DB, both seeded, governed, and built end-to-end.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Everything in Part 1's architecture is running in the demo account, provisioned and promoted entirely through code.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RBAC as built, who can touch each layer</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261872"/>
            <a:ext cx="2834640" cy="274320"/>
          </a:xfrm>
          <a:prstGeom prst="rect">
            <a:avLst/>
          </a:prstGeom>
          <a:noFill/>
        </p:spPr>
        <p:txBody>
          <a:bodyPr wrap="square" lIns="36576" rIns="36576" tIns="18288" bIns="18288">
            <a:spAutoFit/>
          </a:bodyPr>
          <a:lstStyle/>
          <a:p>
            <a:pPr algn="ctr"/>
            <a:r>
              <a:rPr sz="1000" b="1">
                <a:solidFill>
                  <a:srgbClr val="3B34B8"/>
                </a:solidFill>
                <a:latin typeface="Segoe UI"/>
              </a:rPr>
              <a:t>LAYER / SCHEMA</a:t>
            </a:r>
          </a:p>
        </p:txBody>
      </p:sp>
      <p:sp>
        <p:nvSpPr>
          <p:cNvPr id="7" name="Rounded Rectangle 6"/>
          <p:cNvSpPr/>
          <p:nvPr/>
        </p:nvSpPr>
        <p:spPr>
          <a:xfrm>
            <a:off x="502920" y="1645920"/>
            <a:ext cx="2834640" cy="56692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SALESFORCE_RAW_FIVETRAN</a:t>
            </a:r>
          </a:p>
        </p:txBody>
      </p:sp>
      <p:sp>
        <p:nvSpPr>
          <p:cNvPr id="8" name="Rounded Rectangle 7"/>
          <p:cNvSpPr/>
          <p:nvPr/>
        </p:nvSpPr>
        <p:spPr>
          <a:xfrm>
            <a:off x="502920" y="2423160"/>
            <a:ext cx="2834640" cy="56692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PRODUCT_EVENTS_RAW_ADLS</a:t>
            </a:r>
          </a:p>
        </p:txBody>
      </p:sp>
      <p:sp>
        <p:nvSpPr>
          <p:cNvPr id="9" name="Rounded Rectangle 8"/>
          <p:cNvSpPr/>
          <p:nvPr/>
        </p:nvSpPr>
        <p:spPr>
          <a:xfrm>
            <a:off x="502920" y="3200400"/>
            <a:ext cx="2834640" cy="56692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STAGING</a:t>
            </a:r>
          </a:p>
        </p:txBody>
      </p:sp>
      <p:sp>
        <p:nvSpPr>
          <p:cNvPr id="10" name="Rounded Rectangle 9"/>
          <p:cNvSpPr/>
          <p:nvPr/>
        </p:nvSpPr>
        <p:spPr>
          <a:xfrm>
            <a:off x="502920" y="3977639"/>
            <a:ext cx="2834640" cy="56692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MARTS_REVOPS</a:t>
            </a:r>
          </a:p>
        </p:txBody>
      </p:sp>
      <p:sp>
        <p:nvSpPr>
          <p:cNvPr id="11" name="Rounded Rectangle 10"/>
          <p:cNvSpPr/>
          <p:nvPr/>
        </p:nvSpPr>
        <p:spPr>
          <a:xfrm>
            <a:off x="502920" y="4754880"/>
            <a:ext cx="2834640" cy="566928"/>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MARTS_&lt;domain&gt;</a:t>
            </a:r>
          </a:p>
        </p:txBody>
      </p:sp>
      <p:sp>
        <p:nvSpPr>
          <p:cNvPr id="12" name="TextBox 11"/>
          <p:cNvSpPr txBox="1"/>
          <p:nvPr/>
        </p:nvSpPr>
        <p:spPr>
          <a:xfrm>
            <a:off x="3977639" y="1261872"/>
            <a:ext cx="3931920" cy="274320"/>
          </a:xfrm>
          <a:prstGeom prst="rect">
            <a:avLst/>
          </a:prstGeom>
          <a:noFill/>
        </p:spPr>
        <p:txBody>
          <a:bodyPr wrap="square" lIns="36576" rIns="36576" tIns="18288" bIns="18288">
            <a:spAutoFit/>
          </a:bodyPr>
          <a:lstStyle/>
          <a:p>
            <a:pPr algn="ctr"/>
            <a:r>
              <a:rPr sz="1000" b="1">
                <a:solidFill>
                  <a:srgbClr val="3B34B8"/>
                </a:solidFill>
                <a:latin typeface="Segoe UI"/>
              </a:rPr>
              <a:t>WRITE ACCESS</a:t>
            </a:r>
          </a:p>
        </p:txBody>
      </p:sp>
      <p:sp>
        <p:nvSpPr>
          <p:cNvPr id="13" name="Rounded Rectangle 12"/>
          <p:cNvSpPr/>
          <p:nvPr/>
        </p:nvSpPr>
        <p:spPr>
          <a:xfrm>
            <a:off x="3977639" y="164592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REVOPS_INGESTION_FIVETRAN  (owns DDL)</a:t>
            </a:r>
          </a:p>
        </p:txBody>
      </p:sp>
      <p:sp>
        <p:nvSpPr>
          <p:cNvPr id="14" name="Rounded Rectangle 13"/>
          <p:cNvSpPr/>
          <p:nvPr/>
        </p:nvSpPr>
        <p:spPr>
          <a:xfrm>
            <a:off x="3977639" y="242316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REVOPS_INGESTION_ADLS  (DML only, contract is deployer-owned)</a:t>
            </a:r>
          </a:p>
        </p:txBody>
      </p:sp>
      <p:sp>
        <p:nvSpPr>
          <p:cNvPr id="15" name="Rounded Rectangle 14"/>
          <p:cNvSpPr/>
          <p:nvPr/>
        </p:nvSpPr>
        <p:spPr>
          <a:xfrm>
            <a:off x="3977639" y="320040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REVOPS_DEVELOPER  (dbt CI, all envs)</a:t>
            </a:r>
          </a:p>
        </p:txBody>
      </p:sp>
      <p:sp>
        <p:nvSpPr>
          <p:cNvPr id="16" name="Rounded Rectangle 15"/>
          <p:cNvSpPr/>
          <p:nvPr/>
        </p:nvSpPr>
        <p:spPr>
          <a:xfrm>
            <a:off x="3977639" y="3977639"/>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REVOPS_DEVELOPER  (dbt CI, all envs)</a:t>
            </a:r>
          </a:p>
        </p:txBody>
      </p:sp>
      <p:sp>
        <p:nvSpPr>
          <p:cNvPr id="17" name="Rounded Rectangle 16"/>
          <p:cNvSpPr/>
          <p:nvPr/>
        </p:nvSpPr>
        <p:spPr>
          <a:xfrm>
            <a:off x="3977639" y="475488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domain developer role (dbt CI)</a:t>
            </a:r>
          </a:p>
        </p:txBody>
      </p:sp>
      <p:sp>
        <p:nvSpPr>
          <p:cNvPr id="18" name="TextBox 17"/>
          <p:cNvSpPr txBox="1"/>
          <p:nvPr/>
        </p:nvSpPr>
        <p:spPr>
          <a:xfrm>
            <a:off x="8229600" y="1261872"/>
            <a:ext cx="3429000" cy="274320"/>
          </a:xfrm>
          <a:prstGeom prst="rect">
            <a:avLst/>
          </a:prstGeom>
          <a:noFill/>
        </p:spPr>
        <p:txBody>
          <a:bodyPr wrap="square" lIns="36576" rIns="36576" tIns="18288" bIns="18288">
            <a:spAutoFit/>
          </a:bodyPr>
          <a:lstStyle/>
          <a:p>
            <a:pPr algn="ctr"/>
            <a:r>
              <a:rPr sz="1000" b="1">
                <a:solidFill>
                  <a:srgbClr val="3B34B8"/>
                </a:solidFill>
                <a:latin typeface="Segoe UI"/>
              </a:rPr>
              <a:t>READ ACCESS</a:t>
            </a:r>
          </a:p>
        </p:txBody>
      </p:sp>
      <p:sp>
        <p:nvSpPr>
          <p:cNvPr id="19" name="Rounded Rectangle 18"/>
          <p:cNvSpPr/>
          <p:nvPr/>
        </p:nvSpPr>
        <p:spPr>
          <a:xfrm>
            <a:off x="8229600" y="164592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ADMIN</a:t>
            </a:r>
          </a:p>
        </p:txBody>
      </p:sp>
      <p:sp>
        <p:nvSpPr>
          <p:cNvPr id="20" name="Rounded Rectangle 19"/>
          <p:cNvSpPr/>
          <p:nvPr/>
        </p:nvSpPr>
        <p:spPr>
          <a:xfrm>
            <a:off x="8229600" y="242316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ADMIN</a:t>
            </a:r>
          </a:p>
        </p:txBody>
      </p:sp>
      <p:sp>
        <p:nvSpPr>
          <p:cNvPr id="21" name="Rounded Rectangle 20"/>
          <p:cNvSpPr/>
          <p:nvPr/>
        </p:nvSpPr>
        <p:spPr>
          <a:xfrm>
            <a:off x="8229600" y="320040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DEVELOPER · ADMIN</a:t>
            </a:r>
          </a:p>
        </p:txBody>
      </p:sp>
      <p:sp>
        <p:nvSpPr>
          <p:cNvPr id="22" name="Rounded Rectangle 21"/>
          <p:cNvSpPr/>
          <p:nvPr/>
        </p:nvSpPr>
        <p:spPr>
          <a:xfrm>
            <a:off x="8229600" y="3977639"/>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REVOPS_ANALYST · READER · ADMIN</a:t>
            </a:r>
          </a:p>
        </p:txBody>
      </p:sp>
      <p:sp>
        <p:nvSpPr>
          <p:cNvPr id="23" name="Rounded Rectangle 22"/>
          <p:cNvSpPr/>
          <p:nvPr/>
        </p:nvSpPr>
        <p:spPr>
          <a:xfrm>
            <a:off x="8229600" y="475488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domain analyst (that domain's marts only)</a:t>
            </a:r>
          </a:p>
        </p:txBody>
      </p:sp>
      <p:sp>
        <p:nvSpPr>
          <p:cNvPr id="24" name="Rounded Rectangle 23"/>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Access roles hold object grants; functional roles compose them; humans hold a composite/functional role, writes to shared+PROD happen only via the dbt CI service role.</a:t>
            </a:r>
          </a:p>
        </p:txBody>
      </p:sp>
      <p:sp>
        <p:nvSpPr>
          <p:cNvPr id="27" name="TextBox 26"/>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28" name="TextBox 27"/>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ARR / amount masking, who sees what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Tag-based:   </a:t>
            </a:r>
            <a:r>
              <a:rPr sz="1650">
                <a:solidFill>
                  <a:srgbClr val="1B1B33"/>
                </a:solidFill>
                <a:latin typeface="Segoe UI"/>
              </a:rPr>
              <a:t>GOVERNANCE.PII_FINANCIAL tag → MASK_PII_FINANCIAL_NUMBER policy; classify ACCOUNT.ARR + OPPORTUNITY.AMOUNT once, protection follows the tag.</a:t>
            </a:r>
          </a:p>
          <a:p>
            <a:pPr>
              <a:lnSpc>
                <a:spcPct val="107000"/>
              </a:lnSpc>
              <a:spcAft>
                <a:spcPts val="800"/>
              </a:spcAft>
            </a:pPr>
            <a:r>
              <a:rPr sz="1650">
                <a:solidFill>
                  <a:srgbClr val="4A3FFF"/>
                </a:solidFill>
                <a:latin typeface="Segoe UI"/>
              </a:rPr>
              <a:t>▸  </a:t>
            </a:r>
            <a:r>
              <a:rPr b="1" sz="1650">
                <a:solidFill>
                  <a:srgbClr val="1B1B33"/>
                </a:solidFill>
                <a:latin typeface="Segoe UI"/>
              </a:rPr>
              <a:t>Exempt (see real values):   </a:t>
            </a:r>
            <a:r>
              <a:rPr sz="1650">
                <a:solidFill>
                  <a:srgbClr val="1B1B33"/>
                </a:solidFill>
                <a:latin typeface="Segoe UI"/>
              </a:rPr>
              <a:t>REVOPS_ADMIN, REVOPS_DEVELOPER, REVOPS_ANALYST, NOT REVOPS_READER.</a:t>
            </a:r>
          </a:p>
          <a:p>
            <a:pPr>
              <a:lnSpc>
                <a:spcPct val="107000"/>
              </a:lnSpc>
              <a:spcAft>
                <a:spcPts val="800"/>
              </a:spcAft>
            </a:pPr>
            <a:r>
              <a:rPr sz="1650">
                <a:solidFill>
                  <a:srgbClr val="4A3FFF"/>
                </a:solidFill>
                <a:latin typeface="Segoe UI"/>
              </a:rPr>
              <a:t>▸  </a:t>
            </a:r>
            <a:r>
              <a:rPr b="1" sz="1650">
                <a:solidFill>
                  <a:srgbClr val="1B1B33"/>
                </a:solidFill>
                <a:latin typeface="Segoe UI"/>
              </a:rPr>
              <a:t>So, in practice:</a:t>
            </a:r>
          </a:p>
          <a:p>
            <a:pPr>
              <a:lnSpc>
                <a:spcPct val="107000"/>
              </a:lnSpc>
              <a:spcAft>
                <a:spcPts val="300"/>
              </a:spcAft>
            </a:pPr>
            <a:r>
              <a:rPr sz="1350">
                <a:solidFill>
                  <a:srgbClr val="5C5B77"/>
                </a:solidFill>
                <a:latin typeface="Segoe UI"/>
              </a:rPr>
              <a:t>        ·  </a:t>
            </a:r>
            <a:r>
              <a:rPr b="1" sz="1350">
                <a:solidFill>
                  <a:srgbClr val="1B1B33"/>
                </a:solidFill>
                <a:latin typeface="Segoe UI"/>
              </a:rPr>
              <a:t>Analyst   </a:t>
            </a:r>
            <a:r>
              <a:rPr sz="1350">
                <a:solidFill>
                  <a:srgbClr val="3E3D5C"/>
                </a:solidFill>
                <a:latin typeface="Segoe UI"/>
              </a:rPr>
              <a:t>Sees amount in the MART (exempt); financials are the point of their job.</a:t>
            </a:r>
          </a:p>
          <a:p>
            <a:pPr>
              <a:lnSpc>
                <a:spcPct val="107000"/>
              </a:lnSpc>
              <a:spcAft>
                <a:spcPts val="300"/>
              </a:spcAft>
            </a:pPr>
            <a:r>
              <a:rPr sz="1350">
                <a:solidFill>
                  <a:srgbClr val="5C5B77"/>
                </a:solidFill>
                <a:latin typeface="Segoe UI"/>
              </a:rPr>
              <a:t>        ·  </a:t>
            </a:r>
            <a:r>
              <a:rPr b="1" sz="1350">
                <a:solidFill>
                  <a:srgbClr val="1B1B33"/>
                </a:solidFill>
                <a:latin typeface="Segoe UI"/>
              </a:rPr>
              <a:t>Reader / a developer in their dev sandbox   </a:t>
            </a:r>
            <a:r>
              <a:rPr sz="1350">
                <a:solidFill>
                  <a:srgbClr val="3E3D5C"/>
                </a:solidFill>
                <a:latin typeface="Segoe UI"/>
              </a:rPr>
              <a:t>Sees NULL in RAW/STAGING (readers aren't exempt).</a:t>
            </a:r>
          </a:p>
          <a:p>
            <a:pPr>
              <a:lnSpc>
                <a:spcPct val="107000"/>
              </a:lnSpc>
              <a:spcAft>
                <a:spcPts val="800"/>
              </a:spcAft>
            </a:pPr>
            <a:r>
              <a:rPr sz="1650">
                <a:solidFill>
                  <a:srgbClr val="4A3FFF"/>
                </a:solidFill>
                <a:latin typeface="Segoe UI"/>
              </a:rPr>
              <a:t>▸  </a:t>
            </a:r>
            <a:r>
              <a:rPr b="1" sz="1650">
                <a:solidFill>
                  <a:srgbClr val="1B1B33"/>
                </a:solidFill>
                <a:latin typeface="Segoe UI"/>
              </a:rPr>
              <a:t>The operational gotcha:   </a:t>
            </a:r>
            <a:r>
              <a:rPr sz="1650">
                <a:solidFill>
                  <a:srgbClr val="1B1B33"/>
                </a:solidFill>
                <a:latin typeface="Segoe UI"/>
              </a:rPr>
              <a:t>The tag→policy binding is not a Terraform resource, every apply drops it, so apply_pii_tags.py re-binds it right after apply (automated in CI).</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Classify a column, not a table, masking scales to every domain through tags, and CI re-establishes the binding on every deploy.</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Telemetry ingestion, ADLS → RAW, built to the brief</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Source:   </a:t>
            </a:r>
            <a:r>
              <a:rPr sz="1650">
                <a:solidFill>
                  <a:srgbClr val="1B1B33"/>
                </a:solidFill>
                <a:latin typeface="Segoe UI"/>
              </a:rPr>
              <a:t>Hourly JSON in ADLS (og-telemetry/&lt;env&gt;/product_events/page_views/dt=/hr=/), read via a keyless external stage (storage integration, no secrets).</a:t>
            </a:r>
          </a:p>
          <a:p>
            <a:pPr>
              <a:lnSpc>
                <a:spcPct val="107000"/>
              </a:lnSpc>
              <a:spcAft>
                <a:spcPts val="800"/>
              </a:spcAft>
            </a:pPr>
            <a:r>
              <a:rPr sz="1650">
                <a:solidFill>
                  <a:srgbClr val="4A3FFF"/>
                </a:solidFill>
                <a:latin typeface="Segoe UI"/>
              </a:rPr>
              <a:t>▸  </a:t>
            </a:r>
            <a:r>
              <a:rPr b="1" sz="1650">
                <a:solidFill>
                  <a:srgbClr val="1B1B33"/>
                </a:solidFill>
                <a:latin typeface="Segoe UI"/>
              </a:rPr>
              <a:t>Validate &amp; quarantine:   </a:t>
            </a:r>
            <a:r>
              <a:rPr sz="1650">
                <a:solidFill>
                  <a:srgbClr val="1B1B33"/>
                </a:solidFill>
                <a:latin typeface="Segoe UI"/>
              </a:rPr>
              <a:t>Rows missing event_id / account_id / event_timestamp → PAGE_VIEWS_QUARANTINE; the good rows land in append-only RAW.</a:t>
            </a:r>
          </a:p>
          <a:p>
            <a:pPr>
              <a:lnSpc>
                <a:spcPct val="107000"/>
              </a:lnSpc>
              <a:spcAft>
                <a:spcPts val="800"/>
              </a:spcAft>
            </a:pPr>
            <a:r>
              <a:rPr sz="1650">
                <a:solidFill>
                  <a:srgbClr val="4A3FFF"/>
                </a:solidFill>
                <a:latin typeface="Segoe UI"/>
              </a:rPr>
              <a:t>▸  </a:t>
            </a:r>
            <a:r>
              <a:rPr b="1" sz="1650">
                <a:solidFill>
                  <a:srgbClr val="1B1B33"/>
                </a:solidFill>
                <a:latin typeface="Segoe UI"/>
              </a:rPr>
              <a:t>Load log:   </a:t>
            </a:r>
            <a:r>
              <a:rPr sz="1650">
                <a:solidFill>
                  <a:srgbClr val="1B1B33"/>
                </a:solidFill>
                <a:latin typeface="Segoe UI"/>
              </a:rPr>
              <a:t>One PAGE_VIEWS_LOAD_LOG row per file, file, records loaded, quarantined, timestamp, a permanent load audit (no COPY-history expiry to manage).</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 backfillable:   </a:t>
            </a:r>
            <a:r>
              <a:rPr sz="1650">
                <a:solidFill>
                  <a:srgbClr val="1B1B33"/>
                </a:solidFill>
                <a:latin typeface="Segoe UI"/>
              </a:rPr>
              <a:t>Per-file dedup on re-run; --path/--backfill for a folder or the full set; event_id dedup deferred to dbt staging.</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RAW is immutable truth: validate at the door, quarantine the bad, log every load, and make re-runs safe.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dbt, staging → RevOps mart, native on Snowflake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Staging (incremental, merge):   </a:t>
            </a:r>
            <a:r>
              <a:rPr sz="1650">
                <a:solidFill>
                  <a:srgbClr val="1B1B33"/>
                </a:solidFill>
                <a:latin typeface="Segoe UI"/>
              </a:rPr>
              <a:t>Typed + snake_case; CDC (_fivetran_synced / _loaded_at); latest-per-PK via QUALIFY; clean_string on stage_name; soft-deletes dropped.</a:t>
            </a:r>
          </a:p>
          <a:p>
            <a:pPr>
              <a:lnSpc>
                <a:spcPct val="107000"/>
              </a:lnSpc>
              <a:spcAft>
                <a:spcPts val="800"/>
              </a:spcAft>
            </a:pPr>
            <a:r>
              <a:rPr sz="1650">
                <a:solidFill>
                  <a:srgbClr val="4A3FFF"/>
                </a:solidFill>
                <a:latin typeface="Segoe UI"/>
              </a:rPr>
              <a:t>▸  </a:t>
            </a:r>
            <a:r>
              <a:rPr b="1" sz="1650">
                <a:solidFill>
                  <a:srgbClr val="1B1B33"/>
                </a:solidFill>
                <a:latin typeface="Segoe UI"/>
              </a:rPr>
              <a:t>Mart, mart_revops__pipeline:   </a:t>
            </a:r>
            <a:r>
              <a:rPr sz="1650">
                <a:solidFill>
                  <a:srgbClr val="1B1B33"/>
                </a:solidFill>
                <a:latin typeface="Segoe UI"/>
              </a:rPr>
              <a:t>Opportunities × accounts + days_to_close, pipeline_stage_bucket, weighted_amount. Public mesh model a spoke consumes.</a:t>
            </a:r>
          </a:p>
          <a:p>
            <a:pPr>
              <a:lnSpc>
                <a:spcPct val="107000"/>
              </a:lnSpc>
              <a:spcAft>
                <a:spcPts val="800"/>
              </a:spcAft>
            </a:pPr>
            <a:r>
              <a:rPr sz="1650">
                <a:solidFill>
                  <a:srgbClr val="4A3FFF"/>
                </a:solidFill>
                <a:latin typeface="Segoe UI"/>
              </a:rPr>
              <a:t>▸  </a:t>
            </a:r>
            <a:r>
              <a:rPr b="1" sz="1650">
                <a:solidFill>
                  <a:srgbClr val="1B1B33"/>
                </a:solidFill>
                <a:latin typeface="Segoe UI"/>
              </a:rPr>
              <a:t>Tests &amp; contracts:   </a:t>
            </a:r>
            <a:r>
              <a:rPr sz="1650">
                <a:solidFill>
                  <a:srgbClr val="1B1B33"/>
                </a:solidFill>
                <a:latin typeface="Segoe UI"/>
              </a:rPr>
              <a:t>not_null + unique PKs, accepted_values on stage_name, relationships opp→account, sources.yml, all green.</a:t>
            </a:r>
          </a:p>
          <a:p>
            <a:pPr>
              <a:lnSpc>
                <a:spcPct val="107000"/>
              </a:lnSpc>
              <a:spcAft>
                <a:spcPts val="800"/>
              </a:spcAft>
            </a:pPr>
            <a:r>
              <a:rPr sz="1650">
                <a:solidFill>
                  <a:srgbClr val="4A3FFF"/>
                </a:solidFill>
                <a:latin typeface="Segoe UI"/>
              </a:rPr>
              <a:t>▸  </a:t>
            </a:r>
            <a:r>
              <a:rPr b="1" sz="1650">
                <a:solidFill>
                  <a:srgbClr val="1B1B33"/>
                </a:solidFill>
                <a:latin typeface="Segoe UI"/>
              </a:rPr>
              <a:t>Three targets:   </a:t>
            </a:r>
            <a:r>
              <a:rPr sz="1650">
                <a:solidFill>
                  <a:srgbClr val="1B1B33"/>
                </a:solidFill>
                <a:latin typeface="Segoe UI"/>
              </a:rPr>
              <a:t>Dev → your sandbox (schema__model) · preprod → OG_DEV_DB real schemas · prod → OG_PROD_DB (alias naming).</a:t>
            </a:r>
          </a:p>
          <a:p>
            <a:pPr>
              <a:lnSpc>
                <a:spcPct val="107000"/>
              </a:lnSpc>
              <a:spcAft>
                <a:spcPts val="800"/>
              </a:spcAft>
            </a:pPr>
            <a:r>
              <a:rPr sz="1650">
                <a:solidFill>
                  <a:srgbClr val="4A3FFF"/>
                </a:solidFill>
                <a:latin typeface="Segoe UI"/>
              </a:rPr>
              <a:t>▸  </a:t>
            </a:r>
            <a:r>
              <a:rPr b="1" sz="1650">
                <a:solidFill>
                  <a:srgbClr val="1B1B33"/>
                </a:solidFill>
                <a:latin typeface="Segoe UI"/>
              </a:rPr>
              <a:t>Governance travels:   </a:t>
            </a:r>
            <a:r>
              <a:rPr sz="1650">
                <a:solidFill>
                  <a:srgbClr val="1B1B33"/>
                </a:solidFill>
                <a:latin typeface="Segoe UI"/>
              </a:rPr>
              <a:t>An apply_column_tags post-hook carries the PII_FINANCIAL tag onto built columns in preprod/prod.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One project, layered + contracted, incremental where volume demands it, mesh-public where consumers depend on it.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CI/CD, how code becomes DEV, QA &amp; PROD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325880"/>
            <a:ext cx="2011680" cy="274320"/>
          </a:xfrm>
          <a:prstGeom prst="rect">
            <a:avLst/>
          </a:prstGeom>
          <a:noFill/>
        </p:spPr>
        <p:txBody>
          <a:bodyPr wrap="square" lIns="36576" rIns="36576" tIns="18288" bIns="18288">
            <a:spAutoFit/>
          </a:bodyPr>
          <a:lstStyle/>
          <a:p>
            <a:pPr algn="ctr"/>
            <a:r>
              <a:rPr sz="1100" b="1">
                <a:solidFill>
                  <a:srgbClr val="4A3FFF"/>
                </a:solidFill>
                <a:latin typeface="Segoe UI"/>
              </a:rPr>
              <a:t>DBT (MODELS)</a:t>
            </a:r>
          </a:p>
        </p:txBody>
      </p:sp>
      <p:sp>
        <p:nvSpPr>
          <p:cNvPr id="7" name="Rounded Rectangle 6"/>
          <p:cNvSpPr/>
          <p:nvPr/>
        </p:nvSpPr>
        <p:spPr>
          <a:xfrm>
            <a:off x="502920" y="1645920"/>
            <a:ext cx="2331720" cy="86868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feature/&lt;you&gt;
→ target dev</a:t>
            </a:r>
          </a:p>
        </p:txBody>
      </p:sp>
      <p:sp>
        <p:nvSpPr>
          <p:cNvPr id="8" name="Right Arrow 7"/>
          <p:cNvSpPr/>
          <p:nvPr/>
        </p:nvSpPr>
        <p:spPr>
          <a:xfrm>
            <a:off x="292608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91840" y="1645920"/>
            <a:ext cx="2743200" cy="86868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your SANDBOX
REVOPS_DEV_&lt;NAME&gt;
(OG_DEV_DB)</a:t>
            </a:r>
          </a:p>
        </p:txBody>
      </p:sp>
      <p:sp>
        <p:nvSpPr>
          <p:cNvPr id="10" name="Right Arrow 9"/>
          <p:cNvSpPr/>
          <p:nvPr/>
        </p:nvSpPr>
        <p:spPr>
          <a:xfrm>
            <a:off x="612648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92240" y="1645920"/>
            <a:ext cx="2377440" cy="86868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FFFFFF"/>
                </a:solidFill>
                <a:latin typeface="Segoe UI"/>
              </a:rPr>
              <a:t>push dev
→ target preprod
(OG_DEV_DB real schemas)</a:t>
            </a:r>
          </a:p>
        </p:txBody>
      </p:sp>
      <p:sp>
        <p:nvSpPr>
          <p:cNvPr id="12" name="Right Arrow 11"/>
          <p:cNvSpPr/>
          <p:nvPr/>
        </p:nvSpPr>
        <p:spPr>
          <a:xfrm>
            <a:off x="896112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326880" y="1645920"/>
            <a:ext cx="2331720" cy="86868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push main
→ target prod
(OG_PROD_DB)</a:t>
            </a:r>
          </a:p>
        </p:txBody>
      </p:sp>
      <p:sp>
        <p:nvSpPr>
          <p:cNvPr id="14" name="TextBox 13"/>
          <p:cNvSpPr txBox="1"/>
          <p:nvPr/>
        </p:nvSpPr>
        <p:spPr>
          <a:xfrm>
            <a:off x="502920" y="2880360"/>
            <a:ext cx="2011680" cy="274320"/>
          </a:xfrm>
          <a:prstGeom prst="rect">
            <a:avLst/>
          </a:prstGeom>
          <a:noFill/>
        </p:spPr>
        <p:txBody>
          <a:bodyPr wrap="square" lIns="36576" rIns="36576" tIns="18288" bIns="18288">
            <a:spAutoFit/>
          </a:bodyPr>
          <a:lstStyle/>
          <a:p>
            <a:pPr algn="ctr"/>
            <a:r>
              <a:rPr sz="1100" b="1">
                <a:solidFill>
                  <a:srgbClr val="4A3FFF"/>
                </a:solidFill>
                <a:latin typeface="Segoe UI"/>
              </a:rPr>
              <a:t>INFRA (RBAC/GOV)</a:t>
            </a:r>
          </a:p>
        </p:txBody>
      </p:sp>
      <p:sp>
        <p:nvSpPr>
          <p:cNvPr id="15" name="Rounded Rectangle 14"/>
          <p:cNvSpPr/>
          <p:nvPr/>
        </p:nvSpPr>
        <p:spPr>
          <a:xfrm>
            <a:off x="502920" y="3200400"/>
            <a:ext cx="2743200" cy="86868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PR to main
→ plan + drift check
(posted as PR comment)</a:t>
            </a:r>
          </a:p>
        </p:txBody>
      </p:sp>
      <p:sp>
        <p:nvSpPr>
          <p:cNvPr id="16" name="Right Arrow 15"/>
          <p:cNvSpPr/>
          <p:nvPr/>
        </p:nvSpPr>
        <p:spPr>
          <a:xfrm>
            <a:off x="3337560" y="352044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200400"/>
            <a:ext cx="3108960" cy="86868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merge main
→ terraform apply
+ apply_pii_tags (per env)</a:t>
            </a:r>
          </a:p>
        </p:txBody>
      </p:sp>
      <p:sp>
        <p:nvSpPr>
          <p:cNvPr id="18" name="Right Arrow 17"/>
          <p:cNvSpPr/>
          <p:nvPr/>
        </p:nvSpPr>
        <p:spPr>
          <a:xfrm>
            <a:off x="6903720" y="352044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69480" y="3200400"/>
            <a:ext cx="4389120" cy="86868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Snowflake OG_DEV_DB + OG_PROD_DB
roles · grants · masking · stages</a:t>
            </a:r>
          </a:p>
        </p:txBody>
      </p:sp>
      <p:sp>
        <p:nvSpPr>
          <p:cNvPr id="20" name="Rounded Rectangle 19"/>
          <p:cNvSpPr/>
          <p:nvPr/>
        </p:nvSpPr>
        <p:spPr>
          <a:xfrm>
            <a:off x="502920" y="4526280"/>
            <a:ext cx="11155680" cy="9144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617720"/>
            <a:ext cx="10789920" cy="777240"/>
          </a:xfrm>
          <a:prstGeom prst="rect">
            <a:avLst/>
          </a:prstGeom>
          <a:noFill/>
        </p:spPr>
        <p:txBody>
          <a:bodyPr wrap="square" lIns="36576" rIns="36576" tIns="18288" bIns="18288">
            <a:spAutoFit/>
          </a:bodyPr>
          <a:lstStyle/>
          <a:p>
            <a:pPr>
              <a:lnSpc>
                <a:spcPct val="105000"/>
              </a:lnSpc>
            </a:pPr>
            <a:r>
              <a:rPr b="1" sz="1100">
                <a:solidFill>
                  <a:srgbClr val="3B34B8"/>
                </a:solidFill>
                <a:latin typeface="Segoe UI"/>
              </a:rPr>
              <a:t>DEV:  </a:t>
            </a:r>
            <a:r>
              <a:rPr sz="1100">
                <a:solidFill>
                  <a:srgbClr val="1B1B33"/>
                </a:solidFill>
                <a:latin typeface="Segoe UI"/>
              </a:rPr>
              <a:t>per-developer sandboxes in OG_DEV_DB; build and iterate freely</a:t>
            </a:r>
          </a:p>
          <a:p>
            <a:pPr>
              <a:lnSpc>
                <a:spcPct val="105000"/>
              </a:lnSpc>
            </a:pPr>
            <a:r>
              <a:rPr b="1" sz="1100">
                <a:solidFill>
                  <a:srgbClr val="3B34B8"/>
                </a:solidFill>
                <a:latin typeface="Segoe UI"/>
              </a:rPr>
              <a:t>QA / preprod:  </a:t>
            </a:r>
            <a:r>
              <a:rPr sz="1100">
                <a:solidFill>
                  <a:srgbClr val="1B1B33"/>
                </a:solidFill>
                <a:latin typeface="Segoe UI"/>
              </a:rPr>
              <a:t>real STAGING/MARTS in OG_DEV_DB; integration build on merge to dev</a:t>
            </a:r>
          </a:p>
          <a:p>
            <a:pPr>
              <a:lnSpc>
                <a:spcPct val="105000"/>
              </a:lnSpc>
            </a:pPr>
            <a:r>
              <a:rPr b="1" sz="1100">
                <a:solidFill>
                  <a:srgbClr val="3B34B8"/>
                </a:solidFill>
                <a:latin typeface="Segoe UI"/>
              </a:rPr>
              <a:t>PROD:  </a:t>
            </a:r>
            <a:r>
              <a:rPr sz="1100">
                <a:solidFill>
                  <a:srgbClr val="1B1B33"/>
                </a:solidFill>
                <a:latin typeface="Segoe UI"/>
              </a:rPr>
              <a:t>OG_PROD_DB; built on merge to main, protected environment + approval</a:t>
            </a:r>
          </a:p>
        </p:txBody>
      </p:sp>
      <p:sp>
        <p:nvSpPr>
          <p:cNvPr id="22" name="TextBox 2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23" name="TextBox 2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Developer self-service, safely isolated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One composite role per developer:   </a:t>
            </a:r>
            <a:r>
              <a:rPr sz="1650">
                <a:solidFill>
                  <a:srgbClr val="1B1B33"/>
                </a:solidFill>
                <a:latin typeface="Segoe UI"/>
              </a:rPr>
              <a:t>DEV_&lt;NAME&gt; = REVOPS_READER (read all) + write to only their own sandbox REVOPS_DEV_&lt;NAME&gt;.</a:t>
            </a:r>
          </a:p>
          <a:p>
            <a:pPr>
              <a:lnSpc>
                <a:spcPct val="107000"/>
              </a:lnSpc>
              <a:spcAft>
                <a:spcPts val="800"/>
              </a:spcAft>
            </a:pPr>
            <a:r>
              <a:rPr sz="1650">
                <a:solidFill>
                  <a:srgbClr val="4A3FFF"/>
                </a:solidFill>
                <a:latin typeface="Segoe UI"/>
              </a:rPr>
              <a:t>▸  </a:t>
            </a:r>
            <a:r>
              <a:rPr b="1" sz="1650">
                <a:solidFill>
                  <a:srgbClr val="1B1B33"/>
                </a:solidFill>
                <a:latin typeface="Segoe UI"/>
              </a:rPr>
              <a:t>Single active role:   </a:t>
            </a:r>
            <a:r>
              <a:rPr sz="1650">
                <a:solidFill>
                  <a:srgbClr val="1B1B33"/>
                </a:solidFill>
                <a:latin typeface="Segoe UI"/>
              </a:rPr>
              <a:t>It's their default role and secondary roles are OFF, every session is exactly one role, so masking checks are unambiguous.</a:t>
            </a:r>
          </a:p>
          <a:p>
            <a:pPr>
              <a:lnSpc>
                <a:spcPct val="107000"/>
              </a:lnSpc>
              <a:spcAft>
                <a:spcPts val="800"/>
              </a:spcAft>
            </a:pPr>
            <a:r>
              <a:rPr sz="1650">
                <a:solidFill>
                  <a:srgbClr val="4A3FFF"/>
                </a:solidFill>
                <a:latin typeface="Segoe UI"/>
              </a:rPr>
              <a:t>▸  </a:t>
            </a:r>
            <a:r>
              <a:rPr b="1" sz="1650">
                <a:solidFill>
                  <a:srgbClr val="1B1B33"/>
                </a:solidFill>
                <a:latin typeface="Segoe UI"/>
              </a:rPr>
              <a:t>Two developers never collide:   </a:t>
            </a:r>
            <a:r>
              <a:rPr sz="1650">
                <a:solidFill>
                  <a:srgbClr val="1B1B33"/>
                </a:solidFill>
                <a:latin typeface="Segoe UI"/>
              </a:rPr>
              <a:t>Separate sandboxes, &lt;schema&gt;__&lt;model&gt; naming; can't touch shared STAGING/MARTS or anything in PROD.</a:t>
            </a:r>
          </a:p>
          <a:p>
            <a:pPr>
              <a:lnSpc>
                <a:spcPct val="107000"/>
              </a:lnSpc>
              <a:spcAft>
                <a:spcPts val="800"/>
              </a:spcAft>
            </a:pPr>
            <a:r>
              <a:rPr sz="1650">
                <a:solidFill>
                  <a:srgbClr val="4A3FFF"/>
                </a:solidFill>
                <a:latin typeface="Segoe UI"/>
              </a:rPr>
              <a:t>▸  </a:t>
            </a:r>
            <a:r>
              <a:rPr b="1" sz="1650">
                <a:solidFill>
                  <a:srgbClr val="1B1B33"/>
                </a:solidFill>
                <a:latin typeface="Segoe UI"/>
              </a:rPr>
              <a:t>Local or Snowsight:   </a:t>
            </a:r>
            <a:r>
              <a:rPr sz="1650">
                <a:solidFill>
                  <a:srgbClr val="1B1B33"/>
                </a:solidFill>
                <a:latin typeface="Segoe UI"/>
              </a:rPr>
              <a:t>dbt-core locally (username+password, build --target dev) or a Snowsight Workspace on a feature branch.</a:t>
            </a:r>
          </a:p>
          <a:p>
            <a:pPr>
              <a:lnSpc>
                <a:spcPct val="107000"/>
              </a:lnSpc>
              <a:spcAft>
                <a:spcPts val="800"/>
              </a:spcAft>
            </a:pPr>
            <a:r>
              <a:rPr sz="1650">
                <a:solidFill>
                  <a:srgbClr val="4A3FFF"/>
                </a:solidFill>
                <a:latin typeface="Segoe UI"/>
              </a:rPr>
              <a:t>▸  </a:t>
            </a:r>
            <a:r>
              <a:rPr b="1" sz="1650">
                <a:solidFill>
                  <a:srgbClr val="1B1B33"/>
                </a:solidFill>
                <a:latin typeface="Segoe UI"/>
              </a:rPr>
              <a:t>Onboard = two CSV rows:   </a:t>
            </a:r>
            <a:r>
              <a:rPr sz="1650">
                <a:solidFill>
                  <a:srgbClr val="1B1B33"/>
                </a:solidFill>
                <a:latin typeface="Segoe UI"/>
              </a:rPr>
              <a:t>Add to environments.csv developers + human_users.csv → composite role + sandbox generated by Terraform in a PR.</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Developers move fast in their own sandbox; the platform guarantees they can't break shared or production data.</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Future Enhancements</a:t>
            </a:r>
          </a:p>
          <a:p>
            <a:pPr>
              <a:spcBef>
                <a:spcPts val="1000"/>
              </a:spcBef>
            </a:pPr>
            <a:r>
              <a:rPr sz="1700">
                <a:solidFill>
                  <a:srgbClr val="A79FFF"/>
                </a:solidFill>
                <a:latin typeface="Segoe UI"/>
              </a:rPr>
              <a:t>Where the platform goes next. Each is an additive step on the foundation, not a rebuild.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ROADMAP</a:t>
            </a:r>
          </a:p>
          <a:p>
            <a:r>
              <a:rPr sz="2600" b="1">
                <a:solidFill>
                  <a:srgbClr val="FFFFFF"/>
                </a:solidFill>
                <a:latin typeface="Segoe UI"/>
              </a:rPr>
              <a:t>Future enhancements: ingestion, dbt &amp; governance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280160"/>
            <a:ext cx="10972800" cy="4526280"/>
          </a:xfrm>
          <a:prstGeom prst="rect">
            <a:avLst/>
          </a:prstGeom>
          <a:noFill/>
        </p:spPr>
        <p:txBody>
          <a:bodyPr wrap="square" lIns="36576" rIns="36576" tIns="18288" bIns="18288">
            <a:spAutoFit/>
          </a:bodyPr>
          <a:lstStyle/>
          <a:p>
            <a:pPr>
              <a:lnSpc>
                <a:spcPct val="107000"/>
              </a:lnSpc>
              <a:spcAft>
                <a:spcPts val="800"/>
              </a:spcAft>
            </a:pPr>
            <a:r>
              <a:rPr sz="1500">
                <a:solidFill>
                  <a:srgbClr val="4A3FFF"/>
                </a:solidFill>
                <a:latin typeface="Segoe UI"/>
              </a:rPr>
              <a:t>▸  </a:t>
            </a:r>
            <a:r>
              <a:rPr b="1" sz="1500">
                <a:solidFill>
                  <a:srgbClr val="1B1B33"/>
                </a:solidFill>
                <a:latin typeface="Segoe UI"/>
              </a:rPr>
              <a:t>Ingestion:</a:t>
            </a:r>
          </a:p>
          <a:p>
            <a:pPr>
              <a:lnSpc>
                <a:spcPct val="107000"/>
              </a:lnSpc>
              <a:spcAft>
                <a:spcPts val="300"/>
              </a:spcAft>
            </a:pPr>
            <a:r>
              <a:rPr sz="1200">
                <a:solidFill>
                  <a:srgbClr val="5C5B77"/>
                </a:solidFill>
                <a:latin typeface="Segoe UI"/>
              </a:rPr>
              <a:t>        ·  </a:t>
            </a:r>
            <a:r>
              <a:rPr b="1" sz="1200">
                <a:solidFill>
                  <a:srgbClr val="1B1B33"/>
                </a:solidFill>
                <a:latin typeface="Segoe UI"/>
              </a:rPr>
              <a:t>Snowpipe auto-ingest   </a:t>
            </a:r>
            <a:r>
              <a:rPr sz="1200">
                <a:solidFill>
                  <a:srgbClr val="3E3D5C"/>
                </a:solidFill>
                <a:latin typeface="Segoe UI"/>
              </a:rPr>
              <a:t>Event-driven per-file load; retires the scheduled COPY + watermark (Event Grid / Lambda on arrival).</a:t>
            </a:r>
          </a:p>
          <a:p>
            <a:pPr>
              <a:lnSpc>
                <a:spcPct val="107000"/>
              </a:lnSpc>
              <a:spcAft>
                <a:spcPts val="300"/>
              </a:spcAft>
            </a:pPr>
            <a:r>
              <a:rPr sz="1200">
                <a:solidFill>
                  <a:srgbClr val="5C5B77"/>
                </a:solidFill>
                <a:latin typeface="Segoe UI"/>
              </a:rPr>
              <a:t>        ·  </a:t>
            </a:r>
            <a:r>
              <a:rPr b="1" sz="1200">
                <a:solidFill>
                  <a:srgbClr val="1B1B33"/>
                </a:solidFill>
                <a:latin typeface="Segoe UI"/>
              </a:rPr>
              <a:t>Config-driven multi-event framework   </a:t>
            </a:r>
            <a:r>
              <a:rPr sz="1200">
                <a:solidFill>
                  <a:srgbClr val="3E3D5C"/>
                </a:solidFill>
                <a:latin typeface="Segoe UI"/>
              </a:rPr>
              <a:t>Onboard a second event type with config, not copy-pasted code.</a:t>
            </a:r>
          </a:p>
          <a:p>
            <a:pPr>
              <a:lnSpc>
                <a:spcPct val="107000"/>
              </a:lnSpc>
              <a:spcAft>
                <a:spcPts val="800"/>
              </a:spcAft>
            </a:pPr>
            <a:r>
              <a:rPr sz="1500">
                <a:solidFill>
                  <a:srgbClr val="4A3FFF"/>
                </a:solidFill>
                <a:latin typeface="Segoe UI"/>
              </a:rPr>
              <a:t>▸  </a:t>
            </a:r>
            <a:r>
              <a:rPr b="1" sz="1500">
                <a:solidFill>
                  <a:srgbClr val="1B1B33"/>
                </a:solidFill>
                <a:latin typeface="Segoe UI"/>
              </a:rPr>
              <a:t>dbt / transforms:</a:t>
            </a:r>
          </a:p>
          <a:p>
            <a:pPr>
              <a:lnSpc>
                <a:spcPct val="107000"/>
              </a:lnSpc>
              <a:spcAft>
                <a:spcPts val="300"/>
              </a:spcAft>
            </a:pPr>
            <a:r>
              <a:rPr sz="1200">
                <a:solidFill>
                  <a:srgbClr val="5C5B77"/>
                </a:solidFill>
                <a:latin typeface="Segoe UI"/>
              </a:rPr>
              <a:t>        ·  </a:t>
            </a:r>
            <a:r>
              <a:rPr b="1" sz="1200">
                <a:solidFill>
                  <a:srgbClr val="1B1B33"/>
                </a:solidFill>
                <a:latin typeface="Segoe UI"/>
              </a:rPr>
              <a:t>Slim CI (state:modified)   </a:t>
            </a:r>
            <a:r>
              <a:rPr sz="1200">
                <a:solidFill>
                  <a:srgbClr val="3E3D5C"/>
                </a:solidFill>
                <a:latin typeface="Segoe UI"/>
              </a:rPr>
              <a:t>Build only what changed; contracts on staging models; exposures for BI/AI lineage.</a:t>
            </a:r>
          </a:p>
          <a:p>
            <a:pPr>
              <a:lnSpc>
                <a:spcPct val="107000"/>
              </a:lnSpc>
              <a:spcAft>
                <a:spcPts val="300"/>
              </a:spcAft>
            </a:pPr>
            <a:r>
              <a:rPr sz="1200">
                <a:solidFill>
                  <a:srgbClr val="5C5B77"/>
                </a:solidFill>
                <a:latin typeface="Segoe UI"/>
              </a:rPr>
              <a:t>        ·  </a:t>
            </a:r>
            <a:r>
              <a:rPr b="1" sz="1200">
                <a:solidFill>
                  <a:srgbClr val="1B1B33"/>
                </a:solidFill>
                <a:latin typeface="Segoe UI"/>
              </a:rPr>
              <a:t>Domain spoke repos   </a:t>
            </a:r>
            <a:r>
              <a:rPr sz="1200">
                <a:solidFill>
                  <a:srgbClr val="3E3D5C"/>
                </a:solidFill>
                <a:latin typeface="Segoe UI"/>
              </a:rPr>
              <a:t>Consume the hub's public mart cross-project (full dbt Mesh).</a:t>
            </a:r>
          </a:p>
          <a:p>
            <a:pPr>
              <a:lnSpc>
                <a:spcPct val="107000"/>
              </a:lnSpc>
              <a:spcAft>
                <a:spcPts val="800"/>
              </a:spcAft>
            </a:pPr>
            <a:r>
              <a:rPr sz="1500">
                <a:solidFill>
                  <a:srgbClr val="4A3FFF"/>
                </a:solidFill>
                <a:latin typeface="Segoe UI"/>
              </a:rPr>
              <a:t>▸  </a:t>
            </a:r>
            <a:r>
              <a:rPr b="1" sz="1500">
                <a:solidFill>
                  <a:srgbClr val="1B1B33"/>
                </a:solidFill>
                <a:latin typeface="Segoe UI"/>
              </a:rPr>
              <a:t>Governance &amp; security:</a:t>
            </a:r>
          </a:p>
          <a:p>
            <a:pPr>
              <a:lnSpc>
                <a:spcPct val="107000"/>
              </a:lnSpc>
              <a:spcAft>
                <a:spcPts val="300"/>
              </a:spcAft>
            </a:pPr>
            <a:r>
              <a:rPr sz="1200">
                <a:solidFill>
                  <a:srgbClr val="5C5B77"/>
                </a:solidFill>
                <a:latin typeface="Segoe UI"/>
              </a:rPr>
              <a:t>        ·  </a:t>
            </a:r>
            <a:r>
              <a:rPr b="1" sz="1200">
                <a:solidFill>
                  <a:srgbClr val="1B1B33"/>
                </a:solidFill>
                <a:latin typeface="Segoe UI"/>
              </a:rPr>
              <a:t>Row-access policies   </a:t>
            </a:r>
            <a:r>
              <a:rPr sz="1200">
                <a:solidFill>
                  <a:srgbClr val="3E3D5C"/>
                </a:solidFill>
                <a:latin typeface="Segoe UI"/>
              </a:rPr>
              <a:t>Tenant / region isolation on shared tables.</a:t>
            </a:r>
          </a:p>
          <a:p>
            <a:pPr>
              <a:lnSpc>
                <a:spcPct val="107000"/>
              </a:lnSpc>
              <a:spcAft>
                <a:spcPts val="300"/>
              </a:spcAft>
            </a:pPr>
            <a:r>
              <a:rPr sz="1200">
                <a:solidFill>
                  <a:srgbClr val="5C5B77"/>
                </a:solidFill>
                <a:latin typeface="Segoe UI"/>
              </a:rPr>
              <a:t>        ·  </a:t>
            </a:r>
            <a:r>
              <a:rPr b="1" sz="1200">
                <a:solidFill>
                  <a:srgbClr val="1B1B33"/>
                </a:solidFill>
                <a:latin typeface="Segoe UI"/>
              </a:rPr>
              <a:t>Database-per-layer + dedicated SANDBOX   </a:t>
            </a:r>
            <a:r>
              <a:rPr sz="1200">
                <a:solidFill>
                  <a:srgbClr val="3E3D5C"/>
                </a:solidFill>
                <a:latin typeface="Segoe UI"/>
              </a:rPr>
              <a:t>RAW / STAGING / MARTS / SANDBOX as separate databases (today: schema-per-layer, one DB per env).</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foundation is built; each of these is an additive step on top of it, not a rebuild.</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ROADMAP</a:t>
            </a:r>
          </a:p>
          <a:p>
            <a:r>
              <a:rPr sz="2600" b="1">
                <a:solidFill>
                  <a:srgbClr val="FFFFFF"/>
                </a:solidFill>
                <a:latin typeface="Segoe UI"/>
              </a:rPr>
              <a:t>Future enhancements: observability, cost &amp; AI</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25880"/>
            <a:ext cx="10972800" cy="4434840"/>
          </a:xfrm>
          <a:prstGeom prst="rect">
            <a:avLst/>
          </a:prstGeom>
          <a:noFill/>
        </p:spPr>
        <p:txBody>
          <a:bodyPr wrap="square" lIns="36576" rIns="36576" tIns="18288" bIns="18288">
            <a:spAutoFit/>
          </a:bodyPr>
          <a:lstStyle/>
          <a:p>
            <a:pPr>
              <a:lnSpc>
                <a:spcPct val="107000"/>
              </a:lnSpc>
              <a:spcAft>
                <a:spcPts val="800"/>
              </a:spcAft>
            </a:pPr>
            <a:r>
              <a:rPr sz="1550">
                <a:solidFill>
                  <a:srgbClr val="4A3FFF"/>
                </a:solidFill>
                <a:latin typeface="Segoe UI"/>
              </a:rPr>
              <a:t>▸  </a:t>
            </a:r>
            <a:r>
              <a:rPr b="1" sz="1550">
                <a:solidFill>
                  <a:srgbClr val="1B1B33"/>
                </a:solidFill>
                <a:latin typeface="Segoe UI"/>
              </a:rPr>
              <a:t>Observability &amp; SLAs:</a:t>
            </a:r>
          </a:p>
          <a:p>
            <a:pPr>
              <a:lnSpc>
                <a:spcPct val="107000"/>
              </a:lnSpc>
              <a:spcAft>
                <a:spcPts val="300"/>
              </a:spcAft>
            </a:pPr>
            <a:r>
              <a:rPr sz="1250">
                <a:solidFill>
                  <a:srgbClr val="5C5B77"/>
                </a:solidFill>
                <a:latin typeface="Segoe UI"/>
              </a:rPr>
              <a:t>        ·  </a:t>
            </a:r>
            <a:r>
              <a:rPr b="1" sz="1250">
                <a:solidFill>
                  <a:srgbClr val="1B1B33"/>
                </a:solidFill>
                <a:latin typeface="Segoe UI"/>
              </a:rPr>
              <a:t>Published data SLAs   </a:t>
            </a:r>
            <a:r>
              <a:rPr sz="1250">
                <a:solidFill>
                  <a:srgbClr val="3E3D5C"/>
                </a:solidFill>
                <a:latin typeface="Segoe UI"/>
              </a:rPr>
              <a:t>dbt source freshness + a monitoring model over _LOAD_LOG; freshness / quality targets we measure.</a:t>
            </a:r>
          </a:p>
          <a:p>
            <a:pPr>
              <a:lnSpc>
                <a:spcPct val="107000"/>
              </a:lnSpc>
              <a:spcAft>
                <a:spcPts val="300"/>
              </a:spcAft>
            </a:pPr>
            <a:r>
              <a:rPr sz="1250">
                <a:solidFill>
                  <a:srgbClr val="5C5B77"/>
                </a:solidFill>
                <a:latin typeface="Segoe UI"/>
              </a:rPr>
              <a:t>        ·  </a:t>
            </a:r>
            <a:r>
              <a:rPr b="1" sz="1250">
                <a:solidFill>
                  <a:srgbClr val="1B1B33"/>
                </a:solidFill>
                <a:latin typeface="Segoe UI"/>
              </a:rPr>
              <a:t>Alerting   </a:t>
            </a:r>
            <a:r>
              <a:rPr sz="1250">
                <a:solidFill>
                  <a:srgbClr val="3E3D5C"/>
                </a:solidFill>
                <a:latin typeface="Segoe UI"/>
              </a:rPr>
              <a:t>Test &amp; freshness breaches routed to Slack / on-call.</a:t>
            </a:r>
          </a:p>
          <a:p>
            <a:pPr>
              <a:lnSpc>
                <a:spcPct val="107000"/>
              </a:lnSpc>
              <a:spcAft>
                <a:spcPts val="800"/>
              </a:spcAft>
            </a:pPr>
            <a:r>
              <a:rPr sz="1550">
                <a:solidFill>
                  <a:srgbClr val="4A3FFF"/>
                </a:solidFill>
                <a:latin typeface="Segoe UI"/>
              </a:rPr>
              <a:t>▸  </a:t>
            </a:r>
            <a:r>
              <a:rPr b="1" sz="1550">
                <a:solidFill>
                  <a:srgbClr val="1B1B33"/>
                </a:solidFill>
                <a:latin typeface="Segoe UI"/>
              </a:rPr>
              <a:t>Cost / FinOps:</a:t>
            </a:r>
          </a:p>
          <a:p>
            <a:pPr>
              <a:lnSpc>
                <a:spcPct val="107000"/>
              </a:lnSpc>
              <a:spcAft>
                <a:spcPts val="300"/>
              </a:spcAft>
            </a:pPr>
            <a:r>
              <a:rPr sz="1250">
                <a:solidFill>
                  <a:srgbClr val="5C5B77"/>
                </a:solidFill>
                <a:latin typeface="Segoe UI"/>
              </a:rPr>
              <a:t>        ·  </a:t>
            </a:r>
            <a:r>
              <a:rPr b="1" sz="1250">
                <a:solidFill>
                  <a:srgbClr val="1B1B33"/>
                </a:solidFill>
                <a:latin typeface="Segoe UI"/>
              </a:rPr>
              <a:t>Per-domain cost dashboards   </a:t>
            </a:r>
            <a:r>
              <a:rPr sz="1250">
                <a:solidFill>
                  <a:srgbClr val="3E3D5C"/>
                </a:solidFill>
                <a:latin typeface="Segoe UI"/>
              </a:rPr>
              <a:t>Resource monitors + query budgets on the per-role warehouses.</a:t>
            </a:r>
          </a:p>
          <a:p>
            <a:pPr>
              <a:lnSpc>
                <a:spcPct val="107000"/>
              </a:lnSpc>
              <a:spcAft>
                <a:spcPts val="800"/>
              </a:spcAft>
            </a:pPr>
            <a:r>
              <a:rPr sz="1550">
                <a:solidFill>
                  <a:srgbClr val="4A3FFF"/>
                </a:solidFill>
                <a:latin typeface="Segoe UI"/>
              </a:rPr>
              <a:t>▸  </a:t>
            </a:r>
            <a:r>
              <a:rPr b="1" sz="1550">
                <a:solidFill>
                  <a:srgbClr val="1B1B33"/>
                </a:solidFill>
                <a:latin typeface="Segoe UI"/>
              </a:rPr>
              <a:t>AI-readiness:</a:t>
            </a:r>
          </a:p>
          <a:p>
            <a:pPr>
              <a:lnSpc>
                <a:spcPct val="107000"/>
              </a:lnSpc>
              <a:spcAft>
                <a:spcPts val="300"/>
              </a:spcAft>
            </a:pPr>
            <a:r>
              <a:rPr sz="1250">
                <a:solidFill>
                  <a:srgbClr val="5C5B77"/>
                </a:solidFill>
                <a:latin typeface="Segoe UI"/>
              </a:rPr>
              <a:t>        ·  </a:t>
            </a:r>
            <a:r>
              <a:rPr b="1" sz="1250">
                <a:solidFill>
                  <a:srgbClr val="1B1B33"/>
                </a:solidFill>
                <a:latin typeface="Segoe UI"/>
              </a:rPr>
              <a:t>Governed semantic / metrics layer   </a:t>
            </a:r>
            <a:r>
              <a:rPr sz="1250">
                <a:solidFill>
                  <a:srgbClr val="3E3D5C"/>
                </a:solidFill>
                <a:latin typeface="Segoe UI"/>
              </a:rPr>
              <a:t>One metric definition for BI, notebooks and LLMs; no more confidently-wrong AI.</a:t>
            </a:r>
          </a:p>
          <a:p>
            <a:pPr>
              <a:lnSpc>
                <a:spcPct val="107000"/>
              </a:lnSpc>
              <a:spcAft>
                <a:spcPts val="300"/>
              </a:spcAft>
            </a:pPr>
            <a:r>
              <a:rPr sz="1250">
                <a:solidFill>
                  <a:srgbClr val="5C5B77"/>
                </a:solidFill>
                <a:latin typeface="Segoe UI"/>
              </a:rPr>
              <a:t>        ·  </a:t>
            </a:r>
            <a:r>
              <a:rPr b="1" sz="1250">
                <a:solidFill>
                  <a:srgbClr val="1B1B33"/>
                </a:solidFill>
                <a:latin typeface="Segoe UI"/>
              </a:rPr>
              <a:t>AI reads products, not raw   </a:t>
            </a:r>
            <a:r>
              <a:rPr sz="1250">
                <a:solidFill>
                  <a:srgbClr val="3E3D5C"/>
                </a:solidFill>
                <a:latin typeface="Segoe UI"/>
              </a:rPr>
              <a:t>RAG / agents on contracted marts; masking already applies to an LLM service account.</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Trustworthy AI and trustworthy analytics come from the same governed foundation; the semantic layer is the next interface.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WRAP-UP</a:t>
            </a:r>
          </a:p>
          <a:p>
            <a:r>
              <a:rPr sz="2600" b="1">
                <a:solidFill>
                  <a:srgbClr val="FFFFFF"/>
                </a:solidFill>
                <a:latin typeface="Segoe UI"/>
              </a:rPr>
              <a:t>Close: one governed foundation, analytics &amp; AI on top</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Foundation → pipelines → self-service → trust:   </a:t>
            </a:r>
            <a:r>
              <a:rPr sz="1700">
                <a:solidFill>
                  <a:srgbClr val="1B1B33"/>
                </a:solidFill>
                <a:latin typeface="Segoe UI"/>
              </a:rPr>
              <a:t>One IaC-first, governed platform, and it's running, not just drawn.</a:t>
            </a:r>
          </a:p>
          <a:p>
            <a:pPr>
              <a:lnSpc>
                <a:spcPct val="107000"/>
              </a:lnSpc>
              <a:spcAft>
                <a:spcPts val="800"/>
              </a:spcAft>
            </a:pPr>
            <a:r>
              <a:rPr sz="1700">
                <a:solidFill>
                  <a:srgbClr val="4A3FFF"/>
                </a:solidFill>
                <a:latin typeface="Segoe UI"/>
              </a:rPr>
              <a:t>▸  </a:t>
            </a:r>
            <a:r>
              <a:rPr b="1" sz="1700">
                <a:solidFill>
                  <a:srgbClr val="1B1B33"/>
                </a:solidFill>
                <a:latin typeface="Segoe UI"/>
              </a:rPr>
              <a:t>Buy the commodity, build the differentiator:   </a:t>
            </a:r>
            <a:r>
              <a:rPr sz="1700">
                <a:solidFill>
                  <a:srgbClr val="1B1B33"/>
                </a:solidFill>
                <a:latin typeface="Segoe UI"/>
              </a:rPr>
              <a:t>Fivetran for SaaS; custom Python for telemetry; native dbt for transforms.</a:t>
            </a:r>
          </a:p>
          <a:p>
            <a:pPr>
              <a:lnSpc>
                <a:spcPct val="107000"/>
              </a:lnSpc>
              <a:spcAft>
                <a:spcPts val="800"/>
              </a:spcAft>
            </a:pPr>
            <a:r>
              <a:rPr sz="1700">
                <a:solidFill>
                  <a:srgbClr val="4A3FFF"/>
                </a:solidFill>
                <a:latin typeface="Segoe UI"/>
              </a:rPr>
              <a:t>▸  </a:t>
            </a:r>
            <a:r>
              <a:rPr b="1" sz="1700">
                <a:solidFill>
                  <a:srgbClr val="1B1B33"/>
                </a:solidFill>
                <a:latin typeface="Segoe UI"/>
              </a:rPr>
              <a:t>Guardrails as paved paths:   </a:t>
            </a:r>
            <a:r>
              <a:rPr sz="1700">
                <a:solidFill>
                  <a:srgbClr val="1B1B33"/>
                </a:solidFill>
                <a:latin typeface="Segoe UI"/>
              </a:rPr>
              <a:t>Config-driven RBAC + tag masking, per-developer sandboxes, CI/CD to DEV &amp; PROD.</a:t>
            </a:r>
          </a:p>
          <a:p>
            <a:pPr>
              <a:lnSpc>
                <a:spcPct val="107000"/>
              </a:lnSpc>
              <a:spcAft>
                <a:spcPts val="800"/>
              </a:spcAft>
            </a:pPr>
            <a:r>
              <a:rPr sz="1700">
                <a:solidFill>
                  <a:srgbClr val="4A3FFF"/>
                </a:solidFill>
                <a:latin typeface="Segoe UI"/>
              </a:rPr>
              <a:t>▸  </a:t>
            </a:r>
            <a:r>
              <a:rPr b="1" sz="1700">
                <a:solidFill>
                  <a:srgbClr val="1B1B33"/>
                </a:solidFill>
                <a:latin typeface="Segoe UI"/>
              </a:rPr>
              <a:t>Scales by construction:   </a:t>
            </a:r>
            <a:r>
              <a:rPr sz="1700">
                <a:solidFill>
                  <a:srgbClr val="1B1B33"/>
                </a:solidFill>
                <a:latin typeface="Segoe UI"/>
              </a:rPr>
              <a:t>A 10th domain is the same CSV rows + module, roles, masking, and CI all generated.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measure of the platform: how fast a federated team ships something trustworthy on top of it, safely, and on their own.</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Technical Appendix</a:t>
            </a:r>
          </a:p>
          <a:p>
            <a:pPr>
              <a:spcBef>
                <a:spcPts val="1000"/>
              </a:spcBef>
            </a:pPr>
            <a:r>
              <a:rPr sz="1700">
                <a:solidFill>
                  <a:srgbClr val="A79FFF"/>
                </a:solidFill>
                <a:latin typeface="Segoe UI"/>
              </a:rPr>
              <a:t>Deep dives for the panel's probes. Pull these up on demand.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GOVERNANCE</a:t>
            </a:r>
          </a:p>
          <a:p>
            <a:r>
              <a:rPr sz="2600" b="1">
                <a:solidFill>
                  <a:srgbClr val="FFFFFF"/>
                </a:solidFill>
                <a:latin typeface="Segoe UI"/>
              </a:rPr>
              <a:t>Scaling RBAC to 10 domains, least privilege by construction</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Access roles are reusable primitives:   </a:t>
            </a:r>
            <a:r>
              <a:rPr sz="1650">
                <a:solidFill>
                  <a:srgbClr val="1B1B33"/>
                </a:solidFill>
                <a:latin typeface="Segoe UI"/>
              </a:rPr>
              <a:t>AR_&lt;ENV&gt;_&lt;SCHEMA&gt;_R/W hold the grants; a new domain = a generated set, never bespoke grant spaghetti.</a:t>
            </a:r>
          </a:p>
          <a:p>
            <a:pPr>
              <a:lnSpc>
                <a:spcPct val="107000"/>
              </a:lnSpc>
              <a:spcAft>
                <a:spcPts val="800"/>
              </a:spcAft>
            </a:pPr>
            <a:r>
              <a:rPr sz="1650">
                <a:solidFill>
                  <a:srgbClr val="4A3FFF"/>
                </a:solidFill>
                <a:latin typeface="Segoe UI"/>
              </a:rPr>
              <a:t>▸  </a:t>
            </a:r>
            <a:r>
              <a:rPr b="1" sz="1650">
                <a:solidFill>
                  <a:srgbClr val="1B1B33"/>
                </a:solidFill>
                <a:latin typeface="Segoe UI"/>
              </a:rPr>
              <a:t>Domain-scoped analysts:   </a:t>
            </a:r>
            <a:r>
              <a:rPr sz="1650">
                <a:solidFill>
                  <a:srgbClr val="1B1B33"/>
                </a:solidFill>
                <a:latin typeface="Segoe UI"/>
              </a:rPr>
              <a:t>REVOPS_ANALYST reads MARTS_* (all marts); FINANCE_ANALYST reads MARTS_FINANCE ONLY, an exact-schema grant, not the wildcard.</a:t>
            </a:r>
          </a:p>
          <a:p>
            <a:pPr>
              <a:lnSpc>
                <a:spcPct val="107000"/>
              </a:lnSpc>
              <a:spcAft>
                <a:spcPts val="800"/>
              </a:spcAft>
            </a:pPr>
            <a:r>
              <a:rPr sz="1650">
                <a:solidFill>
                  <a:srgbClr val="4A3FFF"/>
                </a:solidFill>
                <a:latin typeface="Segoe UI"/>
              </a:rPr>
              <a:t>▸  </a:t>
            </a:r>
            <a:r>
              <a:rPr b="1" sz="1650">
                <a:solidFill>
                  <a:srgbClr val="1B1B33"/>
                </a:solidFill>
                <a:latin typeface="Segoe UI"/>
              </a:rPr>
              <a:t>Proven live:   </a:t>
            </a:r>
            <a:r>
              <a:rPr sz="1650">
                <a:solidFill>
                  <a:srgbClr val="1B1B33"/>
                </a:solidFill>
                <a:latin typeface="Segoe UI"/>
              </a:rPr>
              <a:t>FINANCE_ANALYST sees only MARTS_FINANCE and is DENIED MARTS_REVOPS; the RevOps analyst still sees both.</a:t>
            </a:r>
          </a:p>
          <a:p>
            <a:pPr>
              <a:lnSpc>
                <a:spcPct val="107000"/>
              </a:lnSpc>
              <a:spcAft>
                <a:spcPts val="800"/>
              </a:spcAft>
            </a:pPr>
            <a:r>
              <a:rPr sz="1650">
                <a:solidFill>
                  <a:srgbClr val="4A3FFF"/>
                </a:solidFill>
                <a:latin typeface="Segoe UI"/>
              </a:rPr>
              <a:t>▸  </a:t>
            </a:r>
            <a:r>
              <a:rPr b="1" sz="1650">
                <a:solidFill>
                  <a:srgbClr val="1B1B33"/>
                </a:solidFill>
                <a:latin typeface="Segoe UI"/>
              </a:rPr>
              <a:t>Service vs human:   </a:t>
            </a:r>
            <a:r>
              <a:rPr sz="1650">
                <a:solidFill>
                  <a:srgbClr val="1B1B33"/>
                </a:solidFill>
                <a:latin typeface="Segoe UI"/>
              </a:rPr>
              <a:t>REVOPS_DEVELOPER (write, incl PROD) is service-only, sync_config.py rejects granting it to a human; humans get read + their own sandbox.</a:t>
            </a:r>
          </a:p>
          <a:p>
            <a:pPr>
              <a:lnSpc>
                <a:spcPct val="107000"/>
              </a:lnSpc>
              <a:spcAft>
                <a:spcPts val="800"/>
              </a:spcAft>
            </a:pPr>
            <a:r>
              <a:rPr sz="1650">
                <a:solidFill>
                  <a:srgbClr val="4A3FFF"/>
                </a:solidFill>
                <a:latin typeface="Segoe UI"/>
              </a:rPr>
              <a:t>▸  </a:t>
            </a:r>
            <a:r>
              <a:rPr b="1" sz="1650">
                <a:solidFill>
                  <a:srgbClr val="1B1B33"/>
                </a:solidFill>
                <a:latin typeface="Segoe UI"/>
              </a:rPr>
              <a:t>Audit:   </a:t>
            </a:r>
            <a:r>
              <a:rPr sz="1650">
                <a:solidFill>
                  <a:srgbClr val="1B1B33"/>
                </a:solidFill>
                <a:latin typeface="Segoe UI"/>
              </a:rPr>
              <a:t>ACCESS_HISTORY answers 'who read ACCOUNT.ARR and when'; POLICY_REFERENCES proves the mask was attached at read time.</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Least privilege scales because it's generated from config, each domain analyst is confined to that domain's marts by an exact grant.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DBT</a:t>
            </a:r>
          </a:p>
          <a:p>
            <a:r>
              <a:rPr sz="2600" b="1">
                <a:solidFill>
                  <a:srgbClr val="FFFFFF"/>
                </a:solidFill>
                <a:latin typeface="Segoe UI"/>
              </a:rPr>
              <a:t>Incremental vs full-refresh, and fixing incrementals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Incremental (merge):   </a:t>
            </a:r>
            <a:r>
              <a:rPr sz="1650">
                <a:solidFill>
                  <a:srgbClr val="1B1B33"/>
                </a:solidFill>
                <a:latin typeface="Segoe UI"/>
              </a:rPr>
              <a:t>High-volume/append sources (telemetry, CDC tables), build only rows since the last watermark; cheap, fast.</a:t>
            </a:r>
          </a:p>
          <a:p>
            <a:pPr>
              <a:lnSpc>
                <a:spcPct val="107000"/>
              </a:lnSpc>
              <a:spcAft>
                <a:spcPts val="800"/>
              </a:spcAft>
            </a:pPr>
            <a:r>
              <a:rPr sz="1650">
                <a:solidFill>
                  <a:srgbClr val="4A3FFF"/>
                </a:solidFill>
                <a:latin typeface="Segoe UI"/>
              </a:rPr>
              <a:t>▸  </a:t>
            </a:r>
            <a:r>
              <a:rPr b="1" sz="1650">
                <a:solidFill>
                  <a:srgbClr val="1B1B33"/>
                </a:solidFill>
                <a:latin typeface="Segoe UI"/>
              </a:rPr>
              <a:t>Full-refresh:   </a:t>
            </a:r>
            <a:r>
              <a:rPr sz="1650">
                <a:solidFill>
                  <a:srgbClr val="1B1B33"/>
                </a:solidFill>
                <a:latin typeface="Segoe UI"/>
              </a:rPr>
              <a:t>Small dimensions, or after a logic change, rebuild from scratch.</a:t>
            </a:r>
          </a:p>
          <a:p>
            <a:pPr>
              <a:lnSpc>
                <a:spcPct val="107000"/>
              </a:lnSpc>
              <a:spcAft>
                <a:spcPts val="800"/>
              </a:spcAft>
            </a:pPr>
            <a:r>
              <a:rPr sz="1650">
                <a:solidFill>
                  <a:srgbClr val="4A3FFF"/>
                </a:solidFill>
                <a:latin typeface="Segoe UI"/>
              </a:rPr>
              <a:t>▸  </a:t>
            </a:r>
            <a:r>
              <a:rPr b="1" sz="1650">
                <a:solidFill>
                  <a:srgbClr val="1B1B33"/>
                </a:solidFill>
                <a:latin typeface="Segoe UI"/>
              </a:rPr>
              <a:t>The trap:   </a:t>
            </a:r>
            <a:r>
              <a:rPr sz="1650">
                <a:solidFill>
                  <a:srgbClr val="1B1B33"/>
                </a:solidFill>
                <a:latin typeface="Segoe UI"/>
              </a:rPr>
              <a:t>A normal build only merges NEW rows, so a logic fix to an incremental model never re-cleans already-materialized rows.</a:t>
            </a:r>
          </a:p>
          <a:p>
            <a:pPr>
              <a:lnSpc>
                <a:spcPct val="107000"/>
              </a:lnSpc>
              <a:spcAft>
                <a:spcPts val="800"/>
              </a:spcAft>
            </a:pPr>
            <a:r>
              <a:rPr sz="1650">
                <a:solidFill>
                  <a:srgbClr val="4A3FFF"/>
                </a:solidFill>
                <a:latin typeface="Segoe UI"/>
              </a:rPr>
              <a:t>▸  </a:t>
            </a:r>
            <a:r>
              <a:rPr b="1" sz="1650">
                <a:solidFill>
                  <a:srgbClr val="1B1B33"/>
                </a:solidFill>
                <a:latin typeface="Segoe UI"/>
              </a:rPr>
              <a:t>The fix, as a button:   </a:t>
            </a:r>
            <a:r>
              <a:rPr sz="1650">
                <a:solidFill>
                  <a:srgbClr val="1B1B33"/>
                </a:solidFill>
                <a:latin typeface="Segoe UI"/>
              </a:rPr>
              <a:t>A manual full-refresh workflow, branch (dev→preprod / main→prod) × scope (all | only models changed in the last commit).</a:t>
            </a:r>
          </a:p>
          <a:p>
            <a:pPr>
              <a:lnSpc>
                <a:spcPct val="107000"/>
              </a:lnSpc>
              <a:spcAft>
                <a:spcPts val="800"/>
              </a:spcAft>
            </a:pPr>
            <a:r>
              <a:rPr sz="1650">
                <a:solidFill>
                  <a:srgbClr val="4A3FFF"/>
                </a:solidFill>
                <a:latin typeface="Segoe UI"/>
              </a:rPr>
              <a:t>▸  </a:t>
            </a:r>
            <a:r>
              <a:rPr b="1" sz="1650">
                <a:solidFill>
                  <a:srgbClr val="1B1B33"/>
                </a:solidFill>
                <a:latin typeface="Segoe UI"/>
              </a:rPr>
              <a:t>Real example:   </a:t>
            </a:r>
            <a:r>
              <a:rPr sz="1650">
                <a:solidFill>
                  <a:srgbClr val="1B1B33"/>
                </a:solidFill>
                <a:latin typeface="Segoe UI"/>
              </a:rPr>
              <a:t>The page_views user_id VARIANT-null fix needed a full-refresh to purge 2 historical bad rows from 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Pick incremental for volume, full-refresh for correctness, and make the full-refresh a one-click, scoped workflow.</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DELIVERY</a:t>
            </a:r>
          </a:p>
          <a:p>
            <a:r>
              <a:rPr sz="2600" b="1">
                <a:solidFill>
                  <a:srgbClr val="FFFFFF"/>
                </a:solidFill>
                <a:latin typeface="Segoe UI"/>
              </a:rPr>
              <a:t>CI/CD security, idempotency &amp; standards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No static secrets:   </a:t>
            </a:r>
            <a:r>
              <a:rPr sz="1650">
                <a:solidFill>
                  <a:srgbClr val="1B1B33"/>
                </a:solidFill>
                <a:latin typeface="Segoe UI"/>
              </a:rPr>
              <a:t>Key-pair (JWT) for Snowflake, storage key for the TF backend, all GitHub secrets; the private key touches only a temp file in the job.</a:t>
            </a:r>
          </a:p>
          <a:p>
            <a:pPr>
              <a:lnSpc>
                <a:spcPct val="107000"/>
              </a:lnSpc>
              <a:spcAft>
                <a:spcPts val="800"/>
              </a:spcAft>
            </a:pPr>
            <a:r>
              <a:rPr sz="1650">
                <a:solidFill>
                  <a:srgbClr val="4A3FFF"/>
                </a:solidFill>
                <a:latin typeface="Segoe UI"/>
              </a:rPr>
              <a:t>▸  </a:t>
            </a:r>
            <a:r>
              <a:rPr b="1" sz="1650">
                <a:solidFill>
                  <a:srgbClr val="1B1B33"/>
                </a:solidFill>
                <a:latin typeface="Segoe UI"/>
              </a:rPr>
              <a:t>Malicious-PR safe:   </a:t>
            </a:r>
            <a:r>
              <a:rPr sz="1650">
                <a:solidFill>
                  <a:srgbClr val="1B1B33"/>
                </a:solidFill>
                <a:latin typeface="Segoe UI"/>
              </a:rPr>
              <a:t>Secrets are exposed only to post-merge apply jobs; PR-triggered plan never sees them; PROD gated by a protected Environment + approval.</a:t>
            </a:r>
          </a:p>
          <a:p>
            <a:pPr>
              <a:lnSpc>
                <a:spcPct val="107000"/>
              </a:lnSpc>
              <a:spcAft>
                <a:spcPts val="800"/>
              </a:spcAft>
            </a:pPr>
            <a:r>
              <a:rPr sz="1650">
                <a:solidFill>
                  <a:srgbClr val="4A3FFF"/>
                </a:solidFill>
                <a:latin typeface="Segoe UI"/>
              </a:rPr>
              <a:t>▸  </a:t>
            </a:r>
            <a:r>
              <a:rPr b="1" sz="1650">
                <a:solidFill>
                  <a:srgbClr val="1B1B33"/>
                </a:solidFill>
                <a:latin typeface="Segoe UI"/>
              </a:rPr>
              <a:t>Remote state:   </a:t>
            </a:r>
            <a:r>
              <a:rPr sz="1650">
                <a:solidFill>
                  <a:srgbClr val="1B1B33"/>
                </a:solidFill>
                <a:latin typeface="Segoe UI"/>
              </a:rPr>
              <a:t>Terraform state in an azurerm backend (ADLS), so CI and local share one source of truth, no drift, no local state to lose.</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&amp; half-failure safe:   </a:t>
            </a:r>
            <a:r>
              <a:rPr sz="1650">
                <a:solidFill>
                  <a:srgbClr val="1B1B33"/>
                </a:solidFill>
                <a:latin typeface="Segoe UI"/>
              </a:rPr>
              <a:t>config→JSON→for_each reruns cleanly; a drift check fails the PR if CSVs and generated JSON disagree; apply_pii_tags skips absent objects.</a:t>
            </a:r>
          </a:p>
          <a:p>
            <a:pPr>
              <a:lnSpc>
                <a:spcPct val="107000"/>
              </a:lnSpc>
              <a:spcAft>
                <a:spcPts val="800"/>
              </a:spcAft>
            </a:pPr>
            <a:r>
              <a:rPr sz="1650">
                <a:solidFill>
                  <a:srgbClr val="4A3FFF"/>
                </a:solidFill>
                <a:latin typeface="Segoe UI"/>
              </a:rPr>
              <a:t>▸  </a:t>
            </a:r>
            <a:r>
              <a:rPr b="1" sz="1650">
                <a:solidFill>
                  <a:srgbClr val="1B1B33"/>
                </a:solidFill>
                <a:latin typeface="Segoe UI"/>
              </a:rPr>
              <a:t>Standards enforced:   </a:t>
            </a:r>
            <a:r>
              <a:rPr sz="1650">
                <a:solidFill>
                  <a:srgbClr val="1B1B33"/>
                </a:solidFill>
                <a:latin typeface="Segoe UI"/>
              </a:rPr>
              <a:t>sync_config.py validates every reference (unknown role/schema/env) and rejects a service-only role reaching a human, the linter is the reviewer.</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pipeline is the control plane: reviewed, idempotent, secret-safe, and standards-enforcing, provisioning you can trust.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Why VARIANT stays fast at scale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Not a text blob:   </a:t>
            </a:r>
            <a:r>
              <a:rPr sz="1650">
                <a:solidFill>
                  <a:srgbClr val="1B1B33"/>
                </a:solidFill>
                <a:latin typeface="Segoe UI"/>
              </a:rPr>
              <a:t>Each micro-partition shreds consistent JSON paths into typed, compressed sub-columns with min/max stats, native-column treatment.</a:t>
            </a:r>
          </a:p>
          <a:p>
            <a:pPr>
              <a:lnSpc>
                <a:spcPct val="107000"/>
              </a:lnSpc>
              <a:spcAft>
                <a:spcPts val="800"/>
              </a:spcAft>
            </a:pPr>
            <a:r>
              <a:rPr sz="1650">
                <a:solidFill>
                  <a:srgbClr val="4A3FFF"/>
                </a:solidFill>
                <a:latin typeface="Segoe UI"/>
              </a:rPr>
              <a:t>▸  </a:t>
            </a:r>
            <a:r>
              <a:rPr b="1" sz="1650">
                <a:solidFill>
                  <a:srgbClr val="1B1B33"/>
                </a:solidFill>
                <a:latin typeface="Segoe UI"/>
              </a:rPr>
              <a:t>Projection works:   </a:t>
            </a:r>
            <a:r>
              <a:rPr sz="1650">
                <a:solidFill>
                  <a:srgbClr val="1B1B33"/>
                </a:solidFill>
                <a:latin typeface="Segoe UI"/>
              </a:rPr>
              <a:t>Selecting payload:properties.duration_ms reads only that sub-column off disk, never the whole document.</a:t>
            </a:r>
          </a:p>
          <a:p>
            <a:pPr>
              <a:lnSpc>
                <a:spcPct val="107000"/>
              </a:lnSpc>
              <a:spcAft>
                <a:spcPts val="800"/>
              </a:spcAft>
            </a:pPr>
            <a:r>
              <a:rPr sz="1650">
                <a:solidFill>
                  <a:srgbClr val="4A3FFF"/>
                </a:solidFill>
                <a:latin typeface="Segoe UI"/>
              </a:rPr>
              <a:t>▸  </a:t>
            </a:r>
            <a:r>
              <a:rPr b="1" sz="1650">
                <a:solidFill>
                  <a:srgbClr val="1B1B33"/>
                </a:solidFill>
                <a:latin typeface="Segoe UI"/>
              </a:rPr>
              <a:t>Pruning works:   </a:t>
            </a:r>
            <a:r>
              <a:rPr sz="1650">
                <a:solidFill>
                  <a:srgbClr val="1B1B33"/>
                </a:solidFill>
                <a:latin typeface="Segoe UI"/>
              </a:rPr>
              <a:t>Filters on extracted paths skip whole micro-partitions via metadata, scan cost tracks the answer, not the table.</a:t>
            </a:r>
          </a:p>
          <a:p>
            <a:pPr>
              <a:lnSpc>
                <a:spcPct val="107000"/>
              </a:lnSpc>
              <a:spcAft>
                <a:spcPts val="800"/>
              </a:spcAft>
            </a:pPr>
            <a:r>
              <a:rPr sz="1650">
                <a:solidFill>
                  <a:srgbClr val="4A3FFF"/>
                </a:solidFill>
                <a:latin typeface="Segoe UI"/>
              </a:rPr>
              <a:t>▸  </a:t>
            </a:r>
            <a:r>
              <a:rPr b="1" sz="1650">
                <a:solidFill>
                  <a:srgbClr val="1B1B33"/>
                </a:solidFill>
                <a:latin typeface="Segoe UI"/>
              </a:rPr>
              <a:t>When it degrades:   </a:t>
            </a:r>
            <a:r>
              <a:rPr sz="1650">
                <a:solidFill>
                  <a:srgbClr val="1B1B33"/>
                </a:solidFill>
                <a:latin typeface="Segoe UI"/>
              </a:rPr>
              <a:t>Wildly heterogeneous keys defeat sub-columnarization, promote hot filter / dedup keys to real columns (event_id).</a:t>
            </a:r>
          </a:p>
          <a:p>
            <a:pPr>
              <a:lnSpc>
                <a:spcPct val="107000"/>
              </a:lnSpc>
              <a:spcAft>
                <a:spcPts val="800"/>
              </a:spcAft>
            </a:pPr>
            <a:r>
              <a:rPr sz="1650">
                <a:solidFill>
                  <a:srgbClr val="4A3FFF"/>
                </a:solidFill>
                <a:latin typeface="Segoe UI"/>
              </a:rPr>
              <a:t>▸  </a:t>
            </a:r>
            <a:r>
              <a:rPr b="1" sz="1650">
                <a:solidFill>
                  <a:srgbClr val="1B1B33"/>
                </a:solidFill>
                <a:latin typeface="Segoe UI"/>
              </a:rPr>
              <a:t>Discipline &amp; limits:   </a:t>
            </a:r>
            <a:r>
              <a:rPr sz="1650">
                <a:solidFill>
                  <a:srgbClr val="1B1B33"/>
                </a:solidFill>
                <a:latin typeface="Segoe UI"/>
              </a:rPr>
              <a:t>16 MB per value (events are KBs); missing key → NULL, never an error; TRY_CAST + tests absorb type drift; marts never read payload.</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VARIANT internals (sketch)</a:t>
            </a:r>
          </a:p>
          <a:p>
            <a:pPr>
              <a:lnSpc>
                <a:spcPct val="100000"/>
              </a:lnSpc>
              <a:spcAft>
                <a:spcPts val="100"/>
              </a:spcAft>
            </a:pPr>
            <a:r>
              <a:rPr sz="1000">
                <a:solidFill>
                  <a:srgbClr val="8ED6B0"/>
                </a:solidFill>
                <a:latin typeface="Consolas"/>
              </a:rPr>
              <a:t>-- inside one micro-partition,</a:t>
            </a:r>
          </a:p>
          <a:p>
            <a:pPr>
              <a:lnSpc>
                <a:spcPct val="100000"/>
              </a:lnSpc>
              <a:spcAft>
                <a:spcPts val="100"/>
              </a:spcAft>
            </a:pPr>
            <a:r>
              <a:rPr sz="1000">
                <a:solidFill>
                  <a:srgbClr val="8ED6B0"/>
                </a:solidFill>
                <a:latin typeface="Consolas"/>
              </a:rPr>
              <a:t>-- payload VARIANT is stored as:</a:t>
            </a:r>
          </a:p>
          <a:p>
            <a:pPr>
              <a:lnSpc>
                <a:spcPct val="100000"/>
              </a:lnSpc>
              <a:spcAft>
                <a:spcPts val="100"/>
              </a:spcAft>
            </a:pPr>
            <a:r>
              <a:rPr sz="1000">
                <a:solidFill>
                  <a:srgbClr val="8ED6B0"/>
                </a:solidFill>
                <a:latin typeface="Consolas"/>
              </a:rPr>
              <a:t>--  :event_id            -&gt; sub-col</a:t>
            </a:r>
          </a:p>
          <a:p>
            <a:pPr>
              <a:lnSpc>
                <a:spcPct val="100000"/>
              </a:lnSpc>
              <a:spcAft>
                <a:spcPts val="100"/>
              </a:spcAft>
            </a:pPr>
            <a:r>
              <a:rPr sz="1000">
                <a:solidFill>
                  <a:srgbClr val="8ED6B0"/>
                </a:solidFill>
                <a:latin typeface="Consolas"/>
              </a:rPr>
              <a:t>--  :account_id          -&gt; sub-col</a:t>
            </a:r>
          </a:p>
          <a:p>
            <a:pPr>
              <a:lnSpc>
                <a:spcPct val="100000"/>
              </a:lnSpc>
              <a:spcAft>
                <a:spcPts val="100"/>
              </a:spcAft>
            </a:pPr>
            <a:r>
              <a:rPr sz="1000">
                <a:solidFill>
                  <a:srgbClr val="8ED6B0"/>
                </a:solidFill>
                <a:latin typeface="Consolas"/>
              </a:rPr>
              <a:t>--  :properties.duration_ms -&gt; sub-col</a:t>
            </a:r>
          </a:p>
          <a:p>
            <a:pPr>
              <a:lnSpc>
                <a:spcPct val="100000"/>
              </a:lnSpc>
              <a:spcAft>
                <a:spcPts val="100"/>
              </a:spcAft>
            </a:pPr>
            <a:r>
              <a:rPr sz="1000">
                <a:solidFill>
                  <a:srgbClr val="8ED6B0"/>
                </a:solidFill>
                <a:latin typeface="Consolas"/>
              </a:rPr>
              <a:t>--  ...each with min/max stats</a:t>
            </a:r>
          </a:p>
          <a:p>
            <a:pPr>
              <a:lnSpc>
                <a:spcPct val="100000"/>
              </a:lnSpc>
              <a:spcAft>
                <a:spcPts val="100"/>
              </a:spcAft>
            </a:pPr>
          </a:p>
          <a:p>
            <a:pPr>
              <a:lnSpc>
                <a:spcPct val="100000"/>
              </a:lnSpc>
              <a:spcAft>
                <a:spcPts val="100"/>
              </a:spcAft>
            </a:pPr>
            <a:r>
              <a:rPr sz="1000">
                <a:solidFill>
                  <a:srgbClr val="8ED6B0"/>
                </a:solidFill>
                <a:latin typeface="Consolas"/>
              </a:rPr>
              <a:t>-- projection: reads ONE sub-column</a:t>
            </a:r>
          </a:p>
          <a:p>
            <a:pPr>
              <a:lnSpc>
                <a:spcPct val="100000"/>
              </a:lnSpc>
              <a:spcAft>
                <a:spcPts val="100"/>
              </a:spcAft>
            </a:pPr>
            <a:r>
              <a:rPr sz="1000">
                <a:solidFill>
                  <a:srgbClr val="E6E9F5"/>
                </a:solidFill>
                <a:latin typeface="Consolas"/>
              </a:rPr>
              <a:t>SELECT payload:properties.duration_ms</a:t>
            </a:r>
          </a:p>
          <a:p>
            <a:pPr>
              <a:lnSpc>
                <a:spcPct val="100000"/>
              </a:lnSpc>
              <a:spcAft>
                <a:spcPts val="100"/>
              </a:spcAft>
            </a:pPr>
            <a:r>
              <a:rPr sz="1000">
                <a:solidFill>
                  <a:srgbClr val="E6E9F5"/>
                </a:solidFill>
                <a:latin typeface="Consolas"/>
              </a:rPr>
              <a:t>FROM raw.product_events.page_views</a:t>
            </a:r>
          </a:p>
          <a:p>
            <a:pPr>
              <a:lnSpc>
                <a:spcPct val="100000"/>
              </a:lnSpc>
              <a:spcAft>
                <a:spcPts val="100"/>
              </a:spcAft>
            </a:pPr>
          </a:p>
          <a:p>
            <a:pPr>
              <a:lnSpc>
                <a:spcPct val="100000"/>
              </a:lnSpc>
              <a:spcAft>
                <a:spcPts val="100"/>
              </a:spcAft>
            </a:pPr>
            <a:r>
              <a:rPr sz="1000">
                <a:solidFill>
                  <a:srgbClr val="8ED6B0"/>
                </a:solidFill>
                <a:latin typeface="Consolas"/>
              </a:rPr>
              <a:t>-- pruning: skips micro-partitions</a:t>
            </a:r>
          </a:p>
          <a:p>
            <a:pPr>
              <a:lnSpc>
                <a:spcPct val="100000"/>
              </a:lnSpc>
              <a:spcAft>
                <a:spcPts val="100"/>
              </a:spcAft>
            </a:pPr>
            <a:r>
              <a:rPr sz="1000">
                <a:solidFill>
                  <a:srgbClr val="E6E9F5"/>
                </a:solidFill>
                <a:latin typeface="Consolas"/>
              </a:rPr>
              <a:t>WHERE payload:event_timestamp</a:t>
            </a:r>
          </a:p>
          <a:p>
            <a:pPr>
              <a:lnSpc>
                <a:spcPct val="100000"/>
              </a:lnSpc>
              <a:spcAft>
                <a:spcPts val="100"/>
              </a:spcAft>
            </a:pPr>
            <a:r>
              <a:rPr sz="1000">
                <a:solidFill>
                  <a:srgbClr val="E6E9F5"/>
                </a:solidFill>
                <a:latin typeface="Consolas"/>
              </a:rPr>
              <a:t>      ::timestamp_ntz &gt;= '2026-07-01'</a:t>
            </a:r>
          </a:p>
          <a:p>
            <a:pPr>
              <a:lnSpc>
                <a:spcPct val="100000"/>
              </a:lnSpc>
              <a:spcAft>
                <a:spcPts val="100"/>
              </a:spcAft>
            </a:pPr>
          </a:p>
          <a:p>
            <a:pPr>
              <a:lnSpc>
                <a:spcPct val="100000"/>
              </a:lnSpc>
              <a:spcAft>
                <a:spcPts val="100"/>
              </a:spcAft>
            </a:pPr>
            <a:r>
              <a:rPr sz="1000">
                <a:solidFill>
                  <a:srgbClr val="8ED6B0"/>
                </a:solidFill>
                <a:latin typeface="Consolas"/>
              </a:rPr>
              <a:t>-- drift-safe typing in staging</a:t>
            </a:r>
          </a:p>
          <a:p>
            <a:pPr>
              <a:lnSpc>
                <a:spcPct val="100000"/>
              </a:lnSpc>
              <a:spcAft>
                <a:spcPts val="100"/>
              </a:spcAft>
            </a:pPr>
            <a:r>
              <a:rPr sz="1000">
                <a:solidFill>
                  <a:srgbClr val="E6E9F5"/>
                </a:solidFill>
                <a:latin typeface="Consolas"/>
              </a:rPr>
              <a:t>TRY_CAST(payload:properties.duration_ms</a:t>
            </a:r>
          </a:p>
          <a:p>
            <a:pPr>
              <a:lnSpc>
                <a:spcPct val="100000"/>
              </a:lnSpc>
              <a:spcAft>
                <a:spcPts val="100"/>
              </a:spcAft>
            </a:pPr>
            <a:r>
              <a:rPr sz="1000">
                <a:solidFill>
                  <a:srgbClr val="E6E9F5"/>
                </a:solidFill>
                <a:latin typeface="Consolas"/>
              </a:rPr>
              <a:t>         AS INT)  </a:t>
            </a:r>
            <a:r>
              <a:rPr sz="1000">
                <a:solidFill>
                  <a:srgbClr val="8ED6B0"/>
                </a:solidFill>
                <a:latin typeface="Consolas"/>
              </a:rPr>
              <a:t>-- bad value -&gt; NULL</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Schema-on-read is nearly free at query time, consistent paths are columnarized on write; type once in staging, downstream never parses JSON.</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ADLS layout &amp; hourly loads, append-only RAW</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00">
                <a:solidFill>
                  <a:srgbClr val="4A3FFF"/>
                </a:solidFill>
                <a:latin typeface="Segoe UI"/>
              </a:rPr>
              <a:t>▸  </a:t>
            </a:r>
            <a:r>
              <a:rPr b="1" sz="1600">
                <a:solidFill>
                  <a:srgbClr val="1B1B33"/>
                </a:solidFill>
                <a:latin typeface="Segoe UI"/>
              </a:rPr>
              <a:t>Read the stage, INSERT to RAW:   </a:t>
            </a:r>
            <a:r>
              <a:rPr sz="1600">
                <a:solidFill>
                  <a:srgbClr val="1B1B33"/>
                </a:solidFill>
                <a:latin typeface="Segoe UI"/>
              </a:rPr>
              <a:t>SELECT $1 through the keyless external stage → validate each row in Python → append-only INSERT, not COPY INTO, because the per-row branch to _QUARANTINE needs code between read and write.</a:t>
            </a:r>
          </a:p>
          <a:p>
            <a:pPr>
              <a:lnSpc>
                <a:spcPct val="107000"/>
              </a:lnSpc>
              <a:spcAft>
                <a:spcPts val="800"/>
              </a:spcAft>
            </a:pPr>
            <a:r>
              <a:rPr sz="1600">
                <a:solidFill>
                  <a:srgbClr val="4A3FFF"/>
                </a:solidFill>
                <a:latin typeface="Segoe UI"/>
              </a:rPr>
              <a:t>▸  </a:t>
            </a:r>
            <a:r>
              <a:rPr b="1" sz="1600">
                <a:solidFill>
                  <a:srgbClr val="1B1B33"/>
                </a:solidFill>
                <a:latin typeface="Segoe UI"/>
              </a:rPr>
              <a:t>One prefix per source object:   </a:t>
            </a:r>
            <a:r>
              <a:rPr sz="1600">
                <a:solidFill>
                  <a:srgbClr val="1B1B33"/>
                </a:solidFill>
                <a:latin typeface="Segoe UI"/>
              </a:rPr>
              <a:t>Source/object/dt=YYYY-MM-DD/hr=HH/, the window scan lists only its day-folders and re-scans a trailing 48h for late files; --prefill for older, --backfill for all, --path for one folder.</a:t>
            </a:r>
          </a:p>
          <a:p>
            <a:pPr>
              <a:lnSpc>
                <a:spcPct val="107000"/>
              </a:lnSpc>
              <a:spcAft>
                <a:spcPts val="800"/>
              </a:spcAft>
            </a:pPr>
            <a:r>
              <a:rPr sz="1600">
                <a:solidFill>
                  <a:srgbClr val="4A3FFF"/>
                </a:solidFill>
                <a:latin typeface="Segoe UI"/>
              </a:rPr>
              <a:t>▸  </a:t>
            </a:r>
            <a:r>
              <a:rPr b="1" sz="1600">
                <a:solidFill>
                  <a:srgbClr val="1B1B33"/>
                </a:solidFill>
                <a:latin typeface="Segoe UI"/>
              </a:rPr>
              <a:t>Append new files, never replace:   </a:t>
            </a:r>
            <a:r>
              <a:rPr sz="1600">
                <a:solidFill>
                  <a:srgbClr val="1B1B33"/>
                </a:solidFill>
                <a:latin typeface="Segoe UI"/>
              </a:rPr>
              <a:t>RAW is an immutable log, not a mirror, 'latest' is which files we read this run, not what we keep.</a:t>
            </a:r>
          </a:p>
          <a:p>
            <a:pPr>
              <a:lnSpc>
                <a:spcPct val="107000"/>
              </a:lnSpc>
              <a:spcAft>
                <a:spcPts val="800"/>
              </a:spcAft>
            </a:pPr>
            <a:r>
              <a:rPr sz="1600">
                <a:solidFill>
                  <a:srgbClr val="4A3FFF"/>
                </a:solidFill>
                <a:latin typeface="Segoe UI"/>
              </a:rPr>
              <a:t>▸  </a:t>
            </a:r>
            <a:r>
              <a:rPr b="1" sz="1600">
                <a:solidFill>
                  <a:srgbClr val="1B1B33"/>
                </a:solidFill>
                <a:latin typeface="Segoe UI"/>
              </a:rPr>
              <a:t>Idempotent in two layers:   </a:t>
            </a:r>
            <a:r>
              <a:rPr sz="1600">
                <a:solidFill>
                  <a:srgbClr val="1B1B33"/>
                </a:solidFill>
                <a:latin typeface="Segoe UI"/>
              </a:rPr>
              <a:t>File-level, the loader skips any file already in _LOAD_LOG (re-run loads zero); row-level, event_id dedup in dbt staging, which also catches a producer resend in a different file.</a:t>
            </a:r>
          </a:p>
          <a:p>
            <a:pPr>
              <a:lnSpc>
                <a:spcPct val="107000"/>
              </a:lnSpc>
              <a:spcAft>
                <a:spcPts val="800"/>
              </a:spcAft>
            </a:pPr>
            <a:r>
              <a:rPr sz="1600">
                <a:solidFill>
                  <a:srgbClr val="4A3FFF"/>
                </a:solidFill>
                <a:latin typeface="Segoe UI"/>
              </a:rPr>
              <a:t>▸  </a:t>
            </a:r>
            <a:r>
              <a:rPr b="1" sz="1600">
                <a:solidFill>
                  <a:srgbClr val="1B1B33"/>
                </a:solidFill>
                <a:latin typeface="Segoe UI"/>
              </a:rPr>
              <a:t>Reprocess &amp; what's next:   </a:t>
            </a:r>
            <a:r>
              <a:rPr sz="1600">
                <a:solidFill>
                  <a:srgbClr val="1B1B33"/>
                </a:solidFill>
                <a:latin typeface="Segoe UI"/>
              </a:rPr>
              <a:t>Reprocess on purpose with --force-insert (dups collapse in staging); production evolution is Event Grid → Snowpipe auto-ingest per file, no scheduler.</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stage-read → validate → append</a:t>
            </a:r>
          </a:p>
          <a:p>
            <a:pPr>
              <a:lnSpc>
                <a:spcPct val="100000"/>
              </a:lnSpc>
              <a:spcAft>
                <a:spcPts val="100"/>
              </a:spcAft>
            </a:pPr>
            <a:r>
              <a:rPr sz="1000">
                <a:solidFill>
                  <a:srgbClr val="E6E9F5"/>
                </a:solidFill>
                <a:latin typeface="Consolas"/>
              </a:rPr>
              <a:t>azure://snowopssa.blob.core.windows.net/</a:t>
            </a:r>
          </a:p>
          <a:p>
            <a:pPr>
              <a:lnSpc>
                <a:spcPct val="100000"/>
              </a:lnSpc>
              <a:spcAft>
                <a:spcPts val="100"/>
              </a:spcAft>
            </a:pPr>
            <a:r>
              <a:rPr sz="1000">
                <a:solidFill>
                  <a:srgbClr val="E6E9F5"/>
                </a:solidFill>
                <a:latin typeface="Consolas"/>
              </a:rPr>
              <a:t>  og-telemetry/prod/product_events/</a:t>
            </a:r>
          </a:p>
          <a:p>
            <a:pPr>
              <a:lnSpc>
                <a:spcPct val="100000"/>
              </a:lnSpc>
              <a:spcAft>
                <a:spcPts val="100"/>
              </a:spcAft>
            </a:pPr>
            <a:r>
              <a:rPr sz="1000">
                <a:solidFill>
                  <a:srgbClr val="E6E9F5"/>
                </a:solidFill>
                <a:latin typeface="Consolas"/>
              </a:rPr>
              <a:t>    page_views/dt=2026-07-12/hr=14/</a:t>
            </a:r>
          </a:p>
          <a:p>
            <a:pPr>
              <a:lnSpc>
                <a:spcPct val="100000"/>
              </a:lnSpc>
              <a:spcAft>
                <a:spcPts val="100"/>
              </a:spcAft>
            </a:pPr>
            <a:r>
              <a:rPr sz="1000">
                <a:solidFill>
                  <a:srgbClr val="E6E9F5"/>
                </a:solidFill>
                <a:latin typeface="Consolas"/>
              </a:rPr>
              <a:t>      page_views_2026-07-12_14.json</a:t>
            </a:r>
          </a:p>
          <a:p>
            <a:pPr>
              <a:lnSpc>
                <a:spcPct val="100000"/>
              </a:lnSpc>
              <a:spcAft>
                <a:spcPts val="100"/>
              </a:spcAft>
            </a:pPr>
          </a:p>
          <a:p>
            <a:pPr>
              <a:lnSpc>
                <a:spcPct val="100000"/>
              </a:lnSpc>
              <a:spcAft>
                <a:spcPts val="100"/>
              </a:spcAft>
            </a:pPr>
            <a:r>
              <a:rPr sz="1000">
                <a:solidFill>
                  <a:srgbClr val="8ED6B0"/>
                </a:solidFill>
                <a:latin typeface="Consolas"/>
              </a:rPr>
              <a:t>-- 1) read THROUGH the stage (not COPY)</a:t>
            </a:r>
          </a:p>
          <a:p>
            <a:pPr>
              <a:lnSpc>
                <a:spcPct val="100000"/>
              </a:lnSpc>
              <a:spcAft>
                <a:spcPts val="100"/>
              </a:spcAft>
            </a:pPr>
            <a:r>
              <a:rPr sz="1000">
                <a:solidFill>
                  <a:srgbClr val="E6E9F5"/>
                </a:solidFill>
                <a:latin typeface="Consolas"/>
              </a:rPr>
              <a:t>SELECT $1, METADATA$FILENAME</a:t>
            </a:r>
          </a:p>
          <a:p>
            <a:pPr>
              <a:lnSpc>
                <a:spcPct val="100000"/>
              </a:lnSpc>
              <a:spcAft>
                <a:spcPts val="100"/>
              </a:spcAft>
            </a:pPr>
            <a:r>
              <a:rPr sz="1000">
                <a:solidFill>
                  <a:srgbClr val="E6E9F5"/>
                </a:solidFill>
                <a:latin typeface="Consolas"/>
              </a:rPr>
              <a:t>FROM @page_views_stage/dt=2026-07-12/</a:t>
            </a:r>
          </a:p>
          <a:p>
            <a:pPr>
              <a:lnSpc>
                <a:spcPct val="100000"/>
              </a:lnSpc>
              <a:spcAft>
                <a:spcPts val="100"/>
              </a:spcAft>
            </a:pPr>
            <a:r>
              <a:rPr sz="1000">
                <a:solidFill>
                  <a:srgbClr val="E6E9F5"/>
                </a:solidFill>
                <a:latin typeface="Consolas"/>
              </a:rPr>
              <a:t>  (FILE_FORMAT =&gt; 'ff_json');</a:t>
            </a:r>
          </a:p>
          <a:p>
            <a:pPr>
              <a:lnSpc>
                <a:spcPct val="100000"/>
              </a:lnSpc>
              <a:spcAft>
                <a:spcPts val="100"/>
              </a:spcAft>
            </a:pPr>
            <a:r>
              <a:rPr sz="1000">
                <a:solidFill>
                  <a:srgbClr val="8ED6B0"/>
                </a:solidFill>
                <a:latin typeface="Consolas"/>
              </a:rPr>
              <a:t>-- validate each row in Python, then:</a:t>
            </a:r>
          </a:p>
          <a:p>
            <a:pPr>
              <a:lnSpc>
                <a:spcPct val="100000"/>
              </a:lnSpc>
              <a:spcAft>
                <a:spcPts val="100"/>
              </a:spcAft>
            </a:pPr>
            <a:r>
              <a:rPr sz="1000">
                <a:solidFill>
                  <a:srgbClr val="8ED6B0"/>
                </a:solidFill>
                <a:latin typeface="Consolas"/>
              </a:rPr>
              <a:t>-- 2) append-only INSERT to RAW</a:t>
            </a:r>
          </a:p>
          <a:p>
            <a:pPr>
              <a:lnSpc>
                <a:spcPct val="100000"/>
              </a:lnSpc>
              <a:spcAft>
                <a:spcPts val="100"/>
              </a:spcAft>
            </a:pPr>
            <a:r>
              <a:rPr sz="1000">
                <a:solidFill>
                  <a:srgbClr val="E6E9F5"/>
                </a:solidFill>
                <a:latin typeface="Consolas"/>
              </a:rPr>
              <a:t>INSERT INTO ...page_views</a:t>
            </a:r>
          </a:p>
          <a:p>
            <a:pPr>
              <a:lnSpc>
                <a:spcPct val="100000"/>
              </a:lnSpc>
              <a:spcAft>
                <a:spcPts val="100"/>
              </a:spcAft>
            </a:pPr>
            <a:r>
              <a:rPr sz="1000">
                <a:solidFill>
                  <a:srgbClr val="E6E9F5"/>
                </a:solidFill>
                <a:latin typeface="Consolas"/>
              </a:rPr>
              <a:t>  SELECT ... FROM VALUES (?, ...);</a:t>
            </a:r>
          </a:p>
          <a:p>
            <a:pPr>
              <a:lnSpc>
                <a:spcPct val="100000"/>
              </a:lnSpc>
              <a:spcAft>
                <a:spcPts val="100"/>
              </a:spcAft>
            </a:pPr>
            <a:r>
              <a:rPr sz="1000">
                <a:solidFill>
                  <a:srgbClr val="8ED6B0"/>
                </a:solidFill>
                <a:latin typeface="Consolas"/>
              </a:rPr>
              <a:t>-- file already in _LOAD_LOG -&gt; skip</a:t>
            </a:r>
          </a:p>
          <a:p>
            <a:pPr>
              <a:lnSpc>
                <a:spcPct val="100000"/>
              </a:lnSpc>
              <a:spcAft>
                <a:spcPts val="100"/>
              </a:spcAft>
            </a:pPr>
          </a:p>
          <a:p>
            <a:pPr>
              <a:lnSpc>
                <a:spcPct val="100000"/>
              </a:lnSpc>
              <a:spcAft>
                <a:spcPts val="100"/>
              </a:spcAft>
            </a:pPr>
            <a:r>
              <a:rPr sz="1000">
                <a:solidFill>
                  <a:srgbClr val="8ED6B0"/>
                </a:solidFill>
                <a:latin typeface="Consolas"/>
              </a:rPr>
              <a:t>-- staging dedup: resend -&gt; 1 row</a:t>
            </a:r>
          </a:p>
          <a:p>
            <a:pPr>
              <a:lnSpc>
                <a:spcPct val="100000"/>
              </a:lnSpc>
              <a:spcAft>
                <a:spcPts val="100"/>
              </a:spcAft>
            </a:pPr>
            <a:r>
              <a:rPr sz="1000">
                <a:solidFill>
                  <a:srgbClr val="E6E9F5"/>
                </a:solidFill>
                <a:latin typeface="Consolas"/>
              </a:rPr>
              <a:t>QUALIFY ROW_NUMBER() OVER (PARTITION</a:t>
            </a:r>
          </a:p>
          <a:p>
            <a:pPr>
              <a:lnSpc>
                <a:spcPct val="100000"/>
              </a:lnSpc>
              <a:spcAft>
                <a:spcPts val="100"/>
              </a:spcAft>
            </a:pPr>
            <a:r>
              <a:rPr sz="1000">
                <a:solidFill>
                  <a:srgbClr val="E6E9F5"/>
                </a:solidFill>
                <a:latin typeface="Consolas"/>
              </a:rPr>
              <a:t>  BY event_id ORDER BY _loaded_at) = 1</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Read only the latest files, keep every row, append-only RAW plus an explicit _LOAD_LOG skip and event_id dedup make any re-run or backfill safe.</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Load logging &amp; idempotency, our _LOAD_LOG, not COPY history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00">
                <a:solidFill>
                  <a:srgbClr val="4A3FFF"/>
                </a:solidFill>
                <a:latin typeface="Segoe UI"/>
              </a:rPr>
              <a:t>▸  </a:t>
            </a:r>
            <a:r>
              <a:rPr b="1" sz="1600">
                <a:solidFill>
                  <a:srgbClr val="1B1B33"/>
                </a:solidFill>
                <a:latin typeface="Segoe UI"/>
              </a:rPr>
              <a:t>One _LOAD_LOG row per file:   </a:t>
            </a:r>
            <a:r>
              <a:rPr sz="1600">
                <a:solidFill>
                  <a:srgbClr val="1B1B33"/>
                </a:solidFill>
                <a:latin typeface="Segoe UI"/>
              </a:rPr>
              <a:t>The loader writes file_name, records_processed, records_quarantined, load timestamp in the SAME transaction as the RAW + quarantine inserts, the load history lives in a queryable table that never expires.</a:t>
            </a:r>
          </a:p>
          <a:p>
            <a:pPr>
              <a:lnSpc>
                <a:spcPct val="107000"/>
              </a:lnSpc>
              <a:spcAft>
                <a:spcPts val="800"/>
              </a:spcAft>
            </a:pPr>
            <a:r>
              <a:rPr sz="1600">
                <a:solidFill>
                  <a:srgbClr val="4A3FFF"/>
                </a:solidFill>
                <a:latin typeface="Segoe UI"/>
              </a:rPr>
              <a:t>▸  </a:t>
            </a:r>
            <a:r>
              <a:rPr b="1" sz="1600">
                <a:solidFill>
                  <a:srgbClr val="1B1B33"/>
                </a:solidFill>
                <a:latin typeface="Segoe UI"/>
              </a:rPr>
              <a:t>Idempotency is explicit, not implicit:   </a:t>
            </a:r>
            <a:r>
              <a:rPr sz="1600">
                <a:solidFill>
                  <a:srgbClr val="1B1B33"/>
                </a:solidFill>
                <a:latin typeface="Segoe UI"/>
              </a:rPr>
              <a:t>Each run does SELECT DISTINCT file_name FROM _LOAD_LOG and skips anything already there, re-run loads zero, and the authority is our own log, not opaque engine metadata.</a:t>
            </a:r>
          </a:p>
          <a:p>
            <a:pPr>
              <a:lnSpc>
                <a:spcPct val="107000"/>
              </a:lnSpc>
              <a:spcAft>
                <a:spcPts val="800"/>
              </a:spcAft>
            </a:pPr>
            <a:r>
              <a:rPr sz="1600">
                <a:solidFill>
                  <a:srgbClr val="4A3FFF"/>
                </a:solidFill>
                <a:latin typeface="Segoe UI"/>
              </a:rPr>
              <a:t>▸  </a:t>
            </a:r>
            <a:r>
              <a:rPr b="1" sz="1600">
                <a:solidFill>
                  <a:srgbClr val="1B1B33"/>
                </a:solidFill>
                <a:latin typeface="Segoe UI"/>
              </a:rPr>
              <a:t>Why not COPY INTO:   </a:t>
            </a:r>
            <a:r>
              <a:rPr sz="1600">
                <a:solidFill>
                  <a:srgbClr val="1B1B33"/>
                </a:solidFill>
                <a:latin typeface="Segoe UI"/>
              </a:rPr>
              <a:t>Per-row validation + a quarantine reason need Python between read and write, COPY can't branch per row; reading the stage and INSERTing keeps that logic in code.</a:t>
            </a:r>
          </a:p>
          <a:p>
            <a:pPr>
              <a:lnSpc>
                <a:spcPct val="107000"/>
              </a:lnSpc>
              <a:spcAft>
                <a:spcPts val="800"/>
              </a:spcAft>
            </a:pPr>
            <a:r>
              <a:rPr sz="1600">
                <a:solidFill>
                  <a:srgbClr val="4A3FFF"/>
                </a:solidFill>
                <a:latin typeface="Segoe UI"/>
              </a:rPr>
              <a:t>▸  </a:t>
            </a:r>
            <a:r>
              <a:rPr b="1" sz="1600">
                <a:solidFill>
                  <a:srgbClr val="1B1B33"/>
                </a:solidFill>
                <a:latin typeface="Segoe UI"/>
              </a:rPr>
              <a:t>The COPY contrast:   </a:t>
            </a:r>
            <a:r>
              <a:rPr sz="1600">
                <a:solidFill>
                  <a:srgbClr val="1B1B33"/>
                </a:solidFill>
                <a:latin typeface="Segoe UI"/>
              </a:rPr>
              <a:t>COPY's own file-dedup metadata expires after 64 days (beyond it, files are silently skipped, a gap not dups), owning _LOAD_LOG sidesteps that horizon entirely.</a:t>
            </a:r>
          </a:p>
          <a:p>
            <a:pPr>
              <a:lnSpc>
                <a:spcPct val="107000"/>
              </a:lnSpc>
              <a:spcAft>
                <a:spcPts val="800"/>
              </a:spcAft>
            </a:pPr>
            <a:r>
              <a:rPr sz="1600">
                <a:solidFill>
                  <a:srgbClr val="4A3FFF"/>
                </a:solidFill>
                <a:latin typeface="Segoe UI"/>
              </a:rPr>
              <a:t>▸  </a:t>
            </a:r>
            <a:r>
              <a:rPr b="1" sz="1600">
                <a:solidFill>
                  <a:srgbClr val="1B1B33"/>
                </a:solidFill>
                <a:latin typeface="Segoe UI"/>
              </a:rPr>
              <a:t>Native audit still applies:   </a:t>
            </a:r>
            <a:r>
              <a:rPr sz="1600">
                <a:solidFill>
                  <a:srgbClr val="1B1B33"/>
                </a:solidFill>
                <a:latin typeface="Segoe UI"/>
              </a:rPr>
              <a:t>QUERY_HISTORY + ACCESS_HISTORY (365 days) show who loaded and who later read ARR; COPY_HISTORY only records real COPY loads, so it's not the surface for this path.</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load history that never expires</a:t>
            </a:r>
          </a:p>
          <a:p>
            <a:pPr>
              <a:lnSpc>
                <a:spcPct val="100000"/>
              </a:lnSpc>
              <a:spcAft>
                <a:spcPts val="100"/>
              </a:spcAft>
            </a:pPr>
            <a:r>
              <a:rPr sz="1000">
                <a:solidFill>
                  <a:srgbClr val="8ED6B0"/>
                </a:solidFill>
                <a:latin typeface="Consolas"/>
              </a:rPr>
              <a:t>-- one row per file, SAME transaction</a:t>
            </a:r>
          </a:p>
          <a:p>
            <a:pPr>
              <a:lnSpc>
                <a:spcPct val="100000"/>
              </a:lnSpc>
              <a:spcAft>
                <a:spcPts val="100"/>
              </a:spcAft>
            </a:pPr>
            <a:r>
              <a:rPr sz="1000">
                <a:solidFill>
                  <a:srgbClr val="E6E9F5"/>
                </a:solidFill>
                <a:latin typeface="Consolas"/>
              </a:rPr>
              <a:t>INSERT INTO ...page_views_load_log</a:t>
            </a:r>
          </a:p>
          <a:p>
            <a:pPr>
              <a:lnSpc>
                <a:spcPct val="100000"/>
              </a:lnSpc>
              <a:spcAft>
                <a:spcPts val="100"/>
              </a:spcAft>
            </a:pPr>
            <a:r>
              <a:rPr sz="1000">
                <a:solidFill>
                  <a:srgbClr val="E6E9F5"/>
                </a:solidFill>
                <a:latin typeface="Consolas"/>
              </a:rPr>
              <a:t>  (file_name, records_processed,</a:t>
            </a:r>
          </a:p>
          <a:p>
            <a:pPr>
              <a:lnSpc>
                <a:spcPct val="100000"/>
              </a:lnSpc>
              <a:spcAft>
                <a:spcPts val="100"/>
              </a:spcAft>
            </a:pPr>
            <a:r>
              <a:rPr sz="1000">
                <a:solidFill>
                  <a:srgbClr val="E6E9F5"/>
                </a:solidFill>
                <a:latin typeface="Consolas"/>
              </a:rPr>
              <a:t>   records_quarantined)</a:t>
            </a:r>
          </a:p>
          <a:p>
            <a:pPr>
              <a:lnSpc>
                <a:spcPct val="100000"/>
              </a:lnSpc>
              <a:spcAft>
                <a:spcPts val="100"/>
              </a:spcAft>
            </a:pPr>
            <a:r>
              <a:rPr sz="1000">
                <a:solidFill>
                  <a:srgbClr val="E6E9F5"/>
                </a:solidFill>
                <a:latin typeface="Consolas"/>
              </a:rPr>
              <a:t>VALUES (?, ?, ?);</a:t>
            </a:r>
          </a:p>
          <a:p>
            <a:pPr>
              <a:lnSpc>
                <a:spcPct val="100000"/>
              </a:lnSpc>
              <a:spcAft>
                <a:spcPts val="100"/>
              </a:spcAft>
            </a:pPr>
          </a:p>
          <a:p>
            <a:pPr>
              <a:lnSpc>
                <a:spcPct val="100000"/>
              </a:lnSpc>
              <a:spcAft>
                <a:spcPts val="100"/>
              </a:spcAft>
            </a:pPr>
            <a:r>
              <a:rPr sz="1000">
                <a:solidFill>
                  <a:srgbClr val="8ED6B0"/>
                </a:solidFill>
                <a:latin typeface="Consolas"/>
              </a:rPr>
              <a:t>-- idempotency: skip already-loaded</a:t>
            </a:r>
          </a:p>
          <a:p>
            <a:pPr>
              <a:lnSpc>
                <a:spcPct val="100000"/>
              </a:lnSpc>
              <a:spcAft>
                <a:spcPts val="100"/>
              </a:spcAft>
            </a:pPr>
            <a:r>
              <a:rPr sz="1000">
                <a:solidFill>
                  <a:srgbClr val="E6E9F5"/>
                </a:solidFill>
                <a:latin typeface="Consolas"/>
              </a:rPr>
              <a:t>SELECT DISTINCT file_name</a:t>
            </a:r>
          </a:p>
          <a:p>
            <a:pPr>
              <a:lnSpc>
                <a:spcPct val="100000"/>
              </a:lnSpc>
              <a:spcAft>
                <a:spcPts val="100"/>
              </a:spcAft>
            </a:pPr>
            <a:r>
              <a:rPr sz="1000">
                <a:solidFill>
                  <a:srgbClr val="E6E9F5"/>
                </a:solidFill>
                <a:latin typeface="Consolas"/>
              </a:rPr>
              <a:t>FROM ...page_views_load_log;</a:t>
            </a:r>
          </a:p>
          <a:p>
            <a:pPr>
              <a:lnSpc>
                <a:spcPct val="100000"/>
              </a:lnSpc>
              <a:spcAft>
                <a:spcPts val="100"/>
              </a:spcAft>
            </a:pPr>
            <a:r>
              <a:rPr sz="1000">
                <a:solidFill>
                  <a:srgbClr val="8ED6B0"/>
                </a:solidFill>
                <a:latin typeface="Consolas"/>
              </a:rPr>
              <a:t>--  -&gt; re-run loads 0 rows</a:t>
            </a:r>
          </a:p>
          <a:p>
            <a:pPr>
              <a:lnSpc>
                <a:spcPct val="100000"/>
              </a:lnSpc>
              <a:spcAft>
                <a:spcPts val="100"/>
              </a:spcAft>
            </a:pPr>
          </a:p>
          <a:p>
            <a:pPr>
              <a:lnSpc>
                <a:spcPct val="100000"/>
              </a:lnSpc>
              <a:spcAft>
                <a:spcPts val="100"/>
              </a:spcAft>
            </a:pPr>
            <a:r>
              <a:rPr sz="1000">
                <a:solidFill>
                  <a:srgbClr val="8ED6B0"/>
                </a:solidFill>
                <a:latin typeface="Consolas"/>
              </a:rPr>
              <a:t>-- audit: who read ARR, 365 days</a:t>
            </a:r>
          </a:p>
          <a:p>
            <a:pPr>
              <a:lnSpc>
                <a:spcPct val="100000"/>
              </a:lnSpc>
              <a:spcAft>
                <a:spcPts val="100"/>
              </a:spcAft>
            </a:pPr>
            <a:r>
              <a:rPr sz="1000">
                <a:solidFill>
                  <a:srgbClr val="E6E9F5"/>
                </a:solidFill>
                <a:latin typeface="Consolas"/>
              </a:rPr>
              <a:t>SELECT user_name, query_start_time</a:t>
            </a:r>
          </a:p>
          <a:p>
            <a:pPr>
              <a:lnSpc>
                <a:spcPct val="100000"/>
              </a:lnSpc>
              <a:spcAft>
                <a:spcPts val="100"/>
              </a:spcAft>
            </a:pPr>
            <a:r>
              <a:rPr sz="1000">
                <a:solidFill>
                  <a:srgbClr val="E6E9F5"/>
                </a:solidFill>
                <a:latin typeface="Consolas"/>
              </a:rPr>
              <a:t>FROM snowflake.account_usage</a:t>
            </a:r>
          </a:p>
          <a:p>
            <a:pPr>
              <a:lnSpc>
                <a:spcPct val="100000"/>
              </a:lnSpc>
              <a:spcAft>
                <a:spcPts val="100"/>
              </a:spcAft>
            </a:pPr>
            <a:r>
              <a:rPr sz="1000">
                <a:solidFill>
                  <a:srgbClr val="E6E9F5"/>
                </a:solidFill>
                <a:latin typeface="Consolas"/>
              </a:rPr>
              <a:t>  .access_history</a:t>
            </a:r>
          </a:p>
          <a:p>
            <a:pPr>
              <a:lnSpc>
                <a:spcPct val="100000"/>
              </a:lnSpc>
              <a:spcAft>
                <a:spcPts val="100"/>
              </a:spcAft>
            </a:pPr>
            <a:r>
              <a:rPr sz="1000">
                <a:solidFill>
                  <a:srgbClr val="E6E9F5"/>
                </a:solidFill>
                <a:latin typeface="Consolas"/>
              </a:rPr>
              <a:t>WHERE objectName ILIKE '%ACCOUNT'</a:t>
            </a:r>
          </a:p>
          <a:p>
            <a:pPr>
              <a:lnSpc>
                <a:spcPct val="100000"/>
              </a:lnSpc>
              <a:spcAft>
                <a:spcPts val="100"/>
              </a:spcAft>
            </a:pPr>
            <a:r>
              <a:rPr sz="1000">
                <a:solidFill>
                  <a:srgbClr val="E6E9F5"/>
                </a:solidFill>
                <a:latin typeface="Consolas"/>
              </a:rPr>
              <a:t>  AND column_name = 'ARR';</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Tracking filenames ourselves makes idempotency a queryable fact and the load history permanent, no 64-day COPY horizon, and per-row validation stays in code.</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